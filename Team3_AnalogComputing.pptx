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Lst>
  <p:notesMasterIdLst>
    <p:notesMasterId r:id="rId31"/>
  </p:notesMasterIdLst>
  <p:sldIdLst>
    <p:sldId id="256" r:id="rId3"/>
    <p:sldId id="257" r:id="rId4"/>
    <p:sldId id="278" r:id="rId5"/>
    <p:sldId id="279" r:id="rId6"/>
    <p:sldId id="280" r:id="rId7"/>
    <p:sldId id="283" r:id="rId8"/>
    <p:sldId id="286" r:id="rId9"/>
    <p:sldId id="287" r:id="rId10"/>
    <p:sldId id="297" r:id="rId11"/>
    <p:sldId id="298" r:id="rId12"/>
    <p:sldId id="299" r:id="rId13"/>
    <p:sldId id="300" r:id="rId14"/>
    <p:sldId id="301" r:id="rId15"/>
    <p:sldId id="303" r:id="rId16"/>
    <p:sldId id="302" r:id="rId17"/>
    <p:sldId id="304" r:id="rId18"/>
    <p:sldId id="305" r:id="rId19"/>
    <p:sldId id="306" r:id="rId20"/>
    <p:sldId id="307" r:id="rId21"/>
    <p:sldId id="308" r:id="rId22"/>
    <p:sldId id="309" r:id="rId23"/>
    <p:sldId id="310" r:id="rId24"/>
    <p:sldId id="288" r:id="rId25"/>
    <p:sldId id="291" r:id="rId26"/>
    <p:sldId id="293" r:id="rId27"/>
    <p:sldId id="294" r:id="rId28"/>
    <p:sldId id="295" r:id="rId29"/>
    <p:sldId id="277"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253FC08-6036-4D9B-80AD-CE7E6E94AC41}">
  <a:tblStyle styleId="{2253FC08-6036-4D9B-80AD-CE7E6E94AC4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9"/>
        <p:cNvGrpSpPr/>
        <p:nvPr/>
      </p:nvGrpSpPr>
      <p:grpSpPr>
        <a:xfrm>
          <a:off x="0" y="0"/>
          <a:ext cx="0" cy="0"/>
          <a:chOff x="0" y="0"/>
          <a:chExt cx="0" cy="0"/>
        </a:xfrm>
      </p:grpSpPr>
      <p:sp>
        <p:nvSpPr>
          <p:cNvPr id="20" name="Google Shape;20;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21" name="Google Shape;21;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AFB12152-DC57-B2B0-4C77-CFE227807FDA}"/>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2BDFA6BE-E00B-7759-F410-7A42F0361D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CED0A89C-4CC4-9983-90D0-0E7B67C733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87763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AA6F0D16-E13B-40FB-AE3F-1932512C650E}"/>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A94AD13C-0759-092A-5AAC-30A46C5E2A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E1FF1B86-252F-6264-4B39-7582F3C06B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61920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511803C2-49F2-05D1-885B-98A75436C03E}"/>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CA689DE1-DFD4-250D-3067-1303B41732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C2AF305A-C8FF-9AA0-BCAD-273B3B7F7E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44676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0F755B5D-7B6B-7A05-AAA5-93E124813ACB}"/>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559412D4-6AB7-C3C6-6572-089FE6B4D6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75E66563-AA50-72A2-76D7-C5E5ABF907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97102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DAA7667B-A10F-EB46-27A9-32613BC13F69}"/>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BB1FCD28-D828-9223-991C-A338AB2896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2AABA500-C627-4AF6-F72A-44BC8D3B19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9933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0F3851BA-D95F-E377-39CA-F41F2373FB81}"/>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07885D08-9DE8-D4FD-25B2-FF3F8CBCAE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41D065C9-7324-3162-66F9-C08430314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71366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8D3F9056-91CB-093D-B03B-C12B6B0B8632}"/>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C91E5C8F-1E63-4732-EB7D-5560A83218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0C617815-1CB5-C2AE-C3D5-765CA39496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42847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E5A4A761-9A6B-1EE1-B5DA-C2B96B4B776C}"/>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4A6F23DC-0B8A-D41D-E4F7-22581DC392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BBA616E9-94B5-F9DF-8815-46A1B0666B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4815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06636E16-9716-9209-CFE7-794699013797}"/>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4CD88768-4AB7-CFF3-25D0-539FCA4A3B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990EF66A-D141-84D6-6250-4DB75C17E4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08036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C7E632FF-2FD6-C26C-3AA8-2B29164A35B0}"/>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428D58D3-F700-98FA-7DB7-81CD2F907C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E2A3D155-9609-9106-F52D-4267801B8C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697665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D6B5953B-2CA0-F336-B291-C82BFC497743}"/>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D399D351-1022-886C-78B6-40E1935CD4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15267351-A657-194E-0A0C-A7A7A85619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64628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E16599AF-E8E6-A552-988D-97AD847EEC6E}"/>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049FF8DF-7FB7-5152-D828-ECEE1761B7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2631406A-B9FC-7EA8-D967-C8A727805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54918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67C1874E-A764-575C-977C-BBAC1281D6C4}"/>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FC37A426-7728-F7DF-FE86-BCC0515C66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58A54776-1FB0-7CDC-8956-7CFA4484CE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67653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3C641551-D4AF-3835-1B8F-D6B7A753AD25}"/>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C79F20BB-3523-DEFE-C51C-04A9606BD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834C1292-9D8E-1276-9907-E73AFAA584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52122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1C8BC553-04C1-19CB-18DD-9251D70AD842}"/>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7985A7E7-9AE9-3362-7842-B03B34ECCC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0120266A-51EB-4863-8D96-DE81952B6E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4713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DCF2E294-10A8-5BEC-36E1-3C63DA4F386E}"/>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2375F243-A0CB-87ED-11B3-2F36E86805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984F87FE-F19F-5541-A73A-CCF96E0619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676726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264B875D-C53D-D2CE-17D7-CED30065B07F}"/>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D03D871A-9314-3ED0-D576-4D1A89DEF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81971D36-AC8F-6922-EE6E-7A94AE107B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71964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830FD10A-9EDD-E7A3-9643-F9BD7D75C086}"/>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F8E095FE-872C-C511-9619-AB17322254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E860D8BB-CCAC-A094-67BF-6D94DC461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963923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995C83FB-EF10-FC47-4A34-F6615FF65DBB}"/>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B618A7F9-6D30-6A90-EB43-56328AC969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658B9CCC-D2B7-F9D2-1CC3-716B7DBC97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086454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30B10A02-DF8F-118B-D10A-53F607E5F8DB}"/>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3260C619-D6DA-02ED-5D57-CB6BC1BFF1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A9EAF15E-388F-B272-2626-E5E4858258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267591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A0D28D2D-4D3B-C133-BE13-79CBE78FC618}"/>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AE848D78-1482-5816-121B-4D03F9B784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A38AFFA1-253C-0053-6653-2FA55FF5CA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27076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7D103BDA-A613-F09A-9435-CAD66F81910D}"/>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478101D0-EEA0-5D89-6FC5-C3F4B39AF1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1244E85A-7C92-2BBE-7470-39FE948485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08870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A1C27B96-9B74-2764-7894-E420787F11DF}"/>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89130797-DA78-7314-49B8-C3150478A6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FFEB5E74-B4E0-9DFA-3B59-977C84E54E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64064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4820FC75-5754-3171-5BB2-6A870F3D2EE4}"/>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A6E73740-1A77-C2D9-1F2D-E6030B3421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226C9396-C6DE-8718-3C91-AB776DC7A0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25722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5518C905-8F31-E4FA-D773-4BCE159736EC}"/>
            </a:ext>
          </a:extLst>
        </p:cNvPr>
        <p:cNvGrpSpPr/>
        <p:nvPr/>
      </p:nvGrpSpPr>
      <p:grpSpPr>
        <a:xfrm>
          <a:off x="0" y="0"/>
          <a:ext cx="0" cy="0"/>
          <a:chOff x="0" y="0"/>
          <a:chExt cx="0" cy="0"/>
        </a:xfrm>
      </p:grpSpPr>
      <p:sp>
        <p:nvSpPr>
          <p:cNvPr id="128" name="Google Shape;128;p2:notes">
            <a:extLst>
              <a:ext uri="{FF2B5EF4-FFF2-40B4-BE49-F238E27FC236}">
                <a16:creationId xmlns:a16="http://schemas.microsoft.com/office/drawing/2014/main" id="{E5659AF9-8AA7-C941-B339-0EB950BA2B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2:notes">
            <a:extLst>
              <a:ext uri="{FF2B5EF4-FFF2-40B4-BE49-F238E27FC236}">
                <a16:creationId xmlns:a16="http://schemas.microsoft.com/office/drawing/2014/main" id="{C798FC70-DCBF-565B-17E4-282EEFA659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7790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 name="Google Shape;30;p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1" name="Google Shape;31;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 name="Google Shape;32;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lay"/>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6" name="Google Shape;36;p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37" name="Google Shape;37;p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8" name="Google Shape;38;p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9" name="Google Shape;39;p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lay"/>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2" name="Google Shape;42;p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757575"/>
              </a:buClr>
              <a:buSzPts val="2400"/>
              <a:buNone/>
              <a:defRPr sz="2400">
                <a:solidFill>
                  <a:srgbClr val="757575"/>
                </a:solidFill>
              </a:defRPr>
            </a:lvl1pPr>
            <a:lvl2pPr marL="914400" lvl="1" indent="-228600" algn="l" rtl="0">
              <a:lnSpc>
                <a:spcPct val="90000"/>
              </a:lnSpc>
              <a:spcBef>
                <a:spcPts val="500"/>
              </a:spcBef>
              <a:spcAft>
                <a:spcPts val="0"/>
              </a:spcAft>
              <a:buClr>
                <a:srgbClr val="757575"/>
              </a:buClr>
              <a:buSzPts val="2000"/>
              <a:buNone/>
              <a:defRPr sz="2000">
                <a:solidFill>
                  <a:srgbClr val="757575"/>
                </a:solidFill>
              </a:defRPr>
            </a:lvl2pPr>
            <a:lvl3pPr marL="1371600" lvl="2" indent="-228600" algn="l" rtl="0">
              <a:lnSpc>
                <a:spcPct val="90000"/>
              </a:lnSpc>
              <a:spcBef>
                <a:spcPts val="500"/>
              </a:spcBef>
              <a:spcAft>
                <a:spcPts val="0"/>
              </a:spcAft>
              <a:buClr>
                <a:srgbClr val="757575"/>
              </a:buClr>
              <a:buSzPts val="1800"/>
              <a:buNone/>
              <a:defRPr sz="1800">
                <a:solidFill>
                  <a:srgbClr val="757575"/>
                </a:solidFill>
              </a:defRPr>
            </a:lvl3pPr>
            <a:lvl4pPr marL="1828800" lvl="3" indent="-228600" algn="l" rtl="0">
              <a:lnSpc>
                <a:spcPct val="90000"/>
              </a:lnSpc>
              <a:spcBef>
                <a:spcPts val="500"/>
              </a:spcBef>
              <a:spcAft>
                <a:spcPts val="0"/>
              </a:spcAft>
              <a:buClr>
                <a:srgbClr val="757575"/>
              </a:buClr>
              <a:buSzPts val="1600"/>
              <a:buNone/>
              <a:defRPr sz="1600">
                <a:solidFill>
                  <a:srgbClr val="757575"/>
                </a:solidFill>
              </a:defRPr>
            </a:lvl4pPr>
            <a:lvl5pPr marL="2286000" lvl="4" indent="-228600" algn="l" rtl="0">
              <a:lnSpc>
                <a:spcPct val="90000"/>
              </a:lnSpc>
              <a:spcBef>
                <a:spcPts val="500"/>
              </a:spcBef>
              <a:spcAft>
                <a:spcPts val="0"/>
              </a:spcAft>
              <a:buClr>
                <a:srgbClr val="757575"/>
              </a:buClr>
              <a:buSzPts val="1600"/>
              <a:buNone/>
              <a:defRPr sz="1600">
                <a:solidFill>
                  <a:srgbClr val="757575"/>
                </a:solidFill>
              </a:defRPr>
            </a:lvl5pPr>
            <a:lvl6pPr marL="2743200" lvl="5" indent="-228600" algn="l" rtl="0">
              <a:lnSpc>
                <a:spcPct val="90000"/>
              </a:lnSpc>
              <a:spcBef>
                <a:spcPts val="500"/>
              </a:spcBef>
              <a:spcAft>
                <a:spcPts val="0"/>
              </a:spcAft>
              <a:buClr>
                <a:srgbClr val="757575"/>
              </a:buClr>
              <a:buSzPts val="1600"/>
              <a:buNone/>
              <a:defRPr sz="1600">
                <a:solidFill>
                  <a:srgbClr val="757575"/>
                </a:solidFill>
              </a:defRPr>
            </a:lvl6pPr>
            <a:lvl7pPr marL="3200400" lvl="6" indent="-228600" algn="l" rtl="0">
              <a:lnSpc>
                <a:spcPct val="90000"/>
              </a:lnSpc>
              <a:spcBef>
                <a:spcPts val="500"/>
              </a:spcBef>
              <a:spcAft>
                <a:spcPts val="0"/>
              </a:spcAft>
              <a:buClr>
                <a:srgbClr val="757575"/>
              </a:buClr>
              <a:buSzPts val="1600"/>
              <a:buNone/>
              <a:defRPr sz="1600">
                <a:solidFill>
                  <a:srgbClr val="757575"/>
                </a:solidFill>
              </a:defRPr>
            </a:lvl7pPr>
            <a:lvl8pPr marL="3657600" lvl="7" indent="-228600" algn="l" rtl="0">
              <a:lnSpc>
                <a:spcPct val="90000"/>
              </a:lnSpc>
              <a:spcBef>
                <a:spcPts val="500"/>
              </a:spcBef>
              <a:spcAft>
                <a:spcPts val="0"/>
              </a:spcAft>
              <a:buClr>
                <a:srgbClr val="757575"/>
              </a:buClr>
              <a:buSzPts val="1600"/>
              <a:buNone/>
              <a:defRPr sz="1600">
                <a:solidFill>
                  <a:srgbClr val="757575"/>
                </a:solidFill>
              </a:defRPr>
            </a:lvl8pPr>
            <a:lvl9pPr marL="4114800" lvl="8" indent="-228600" algn="l" rtl="0">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3" name="Google Shape;43;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 name="Google Shape;44;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 name="Google Shape;48;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9" name="Google Shape;49;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0" name="Google Shape;50;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 name="Google Shape;55;p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56" name="Google Shape;56;p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7" name="Google Shape;57;p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58" name="Google Shape;58;p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59" name="Google Shape;59;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0" name="Google Shape;60;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1" name="Google Shape;61;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 name="Google Shape;64;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lay"/>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9"/>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74" name="Google Shape;74;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75" name="Google Shape;75;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 name="Google Shape;77;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lay"/>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 name="Google Shape;80;p10"/>
          <p:cNvSpPr>
            <a:spLocks noGrp="1"/>
          </p:cNvSpPr>
          <p:nvPr>
            <p:ph type="pic" idx="2"/>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81" name="Google Shape;81;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2" name="Google Shape;82;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3" name="Google Shape;83;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 name="Google Shape;87;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8" name="Google Shape;88;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 name="Google Shape;89;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 name="Google Shape;90;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12"/>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3" name="Google Shape;93;p12"/>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4" name="Google Shape;94;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 name="Google Shape;95;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 name="Google Shape;96;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420369" y="261302"/>
            <a:ext cx="8143800" cy="5175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3200" b="0" i="0">
                <a:solidFill>
                  <a:srgbClr val="A3123E"/>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7" name="Google Shape;107;p14"/>
          <p:cNvSpPr txBox="1">
            <a:spLocks noGrp="1"/>
          </p:cNvSpPr>
          <p:nvPr>
            <p:ph type="ftr" idx="11"/>
          </p:nvPr>
        </p:nvSpPr>
        <p:spPr>
          <a:xfrm>
            <a:off x="4145280" y="6377940"/>
            <a:ext cx="3901500" cy="3429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8" name="Google Shape;108;p14"/>
          <p:cNvSpPr txBox="1">
            <a:spLocks noGrp="1"/>
          </p:cNvSpPr>
          <p:nvPr>
            <p:ph type="dt" idx="10"/>
          </p:nvPr>
        </p:nvSpPr>
        <p:spPr>
          <a:xfrm>
            <a:off x="609600" y="6377940"/>
            <a:ext cx="2804100" cy="3429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9" name="Google Shape;109;p14"/>
          <p:cNvSpPr txBox="1">
            <a:spLocks noGrp="1"/>
          </p:cNvSpPr>
          <p:nvPr>
            <p:ph type="sldNum" idx="12"/>
          </p:nvPr>
        </p:nvSpPr>
        <p:spPr>
          <a:xfrm>
            <a:off x="563562" y="6535799"/>
            <a:ext cx="273000" cy="2706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550" b="0" i="0">
                <a:solidFill>
                  <a:schemeClr val="lt1"/>
                </a:solidFill>
                <a:latin typeface="Calibri"/>
                <a:ea typeface="Calibri"/>
                <a:cs typeface="Calibri"/>
                <a:sym typeface="Calibri"/>
              </a:defRPr>
            </a:lvl1pPr>
            <a:lvl2pPr marL="12700" marR="0" lvl="1" indent="0" algn="l" rtl="0">
              <a:lnSpc>
                <a:spcPct val="100000"/>
              </a:lnSpc>
              <a:spcBef>
                <a:spcPts val="0"/>
              </a:spcBef>
              <a:buNone/>
              <a:defRPr sz="1550" b="0" i="0">
                <a:solidFill>
                  <a:schemeClr val="lt1"/>
                </a:solidFill>
                <a:latin typeface="Calibri"/>
                <a:ea typeface="Calibri"/>
                <a:cs typeface="Calibri"/>
                <a:sym typeface="Calibri"/>
              </a:defRPr>
            </a:lvl2pPr>
            <a:lvl3pPr marL="12700" marR="0" lvl="2" indent="0" algn="l" rtl="0">
              <a:lnSpc>
                <a:spcPct val="100000"/>
              </a:lnSpc>
              <a:spcBef>
                <a:spcPts val="0"/>
              </a:spcBef>
              <a:buNone/>
              <a:defRPr sz="1550" b="0" i="0">
                <a:solidFill>
                  <a:schemeClr val="lt1"/>
                </a:solidFill>
                <a:latin typeface="Calibri"/>
                <a:ea typeface="Calibri"/>
                <a:cs typeface="Calibri"/>
                <a:sym typeface="Calibri"/>
              </a:defRPr>
            </a:lvl3pPr>
            <a:lvl4pPr marL="12700" marR="0" lvl="3" indent="0" algn="l" rtl="0">
              <a:lnSpc>
                <a:spcPct val="100000"/>
              </a:lnSpc>
              <a:spcBef>
                <a:spcPts val="0"/>
              </a:spcBef>
              <a:buNone/>
              <a:defRPr sz="1550" b="0" i="0">
                <a:solidFill>
                  <a:schemeClr val="lt1"/>
                </a:solidFill>
                <a:latin typeface="Calibri"/>
                <a:ea typeface="Calibri"/>
                <a:cs typeface="Calibri"/>
                <a:sym typeface="Calibri"/>
              </a:defRPr>
            </a:lvl4pPr>
            <a:lvl5pPr marL="12700" marR="0" lvl="4" indent="0" algn="l" rtl="0">
              <a:lnSpc>
                <a:spcPct val="100000"/>
              </a:lnSpc>
              <a:spcBef>
                <a:spcPts val="0"/>
              </a:spcBef>
              <a:buNone/>
              <a:defRPr sz="1550" b="0" i="0">
                <a:solidFill>
                  <a:schemeClr val="lt1"/>
                </a:solidFill>
                <a:latin typeface="Calibri"/>
                <a:ea typeface="Calibri"/>
                <a:cs typeface="Calibri"/>
                <a:sym typeface="Calibri"/>
              </a:defRPr>
            </a:lvl5pPr>
            <a:lvl6pPr marL="12700" marR="0" lvl="5" indent="0" algn="l" rtl="0">
              <a:lnSpc>
                <a:spcPct val="100000"/>
              </a:lnSpc>
              <a:spcBef>
                <a:spcPts val="0"/>
              </a:spcBef>
              <a:buNone/>
              <a:defRPr sz="1550" b="0" i="0">
                <a:solidFill>
                  <a:schemeClr val="lt1"/>
                </a:solidFill>
                <a:latin typeface="Calibri"/>
                <a:ea typeface="Calibri"/>
                <a:cs typeface="Calibri"/>
                <a:sym typeface="Calibri"/>
              </a:defRPr>
            </a:lvl6pPr>
            <a:lvl7pPr marL="12700" marR="0" lvl="6" indent="0" algn="l" rtl="0">
              <a:lnSpc>
                <a:spcPct val="100000"/>
              </a:lnSpc>
              <a:spcBef>
                <a:spcPts val="0"/>
              </a:spcBef>
              <a:buNone/>
              <a:defRPr sz="1550" b="0" i="0">
                <a:solidFill>
                  <a:schemeClr val="lt1"/>
                </a:solidFill>
                <a:latin typeface="Calibri"/>
                <a:ea typeface="Calibri"/>
                <a:cs typeface="Calibri"/>
                <a:sym typeface="Calibri"/>
              </a:defRPr>
            </a:lvl7pPr>
            <a:lvl8pPr marL="12700" marR="0" lvl="7" indent="0" algn="l" rtl="0">
              <a:lnSpc>
                <a:spcPct val="100000"/>
              </a:lnSpc>
              <a:spcBef>
                <a:spcPts val="0"/>
              </a:spcBef>
              <a:buNone/>
              <a:defRPr sz="1550" b="0" i="0">
                <a:solidFill>
                  <a:schemeClr val="lt1"/>
                </a:solidFill>
                <a:latin typeface="Calibri"/>
                <a:ea typeface="Calibri"/>
                <a:cs typeface="Calibri"/>
                <a:sym typeface="Calibri"/>
              </a:defRPr>
            </a:lvl8pPr>
            <a:lvl9pPr marL="12700" marR="0" lvl="8" indent="0" algn="l" rtl="0">
              <a:lnSpc>
                <a:spcPct val="100000"/>
              </a:lnSpc>
              <a:spcBef>
                <a:spcPts val="0"/>
              </a:spcBef>
              <a:buNone/>
              <a:defRPr sz="1550" b="0" i="0">
                <a:solidFill>
                  <a:schemeClr val="lt1"/>
                </a:solidFill>
                <a:latin typeface="Calibri"/>
                <a:ea typeface="Calibri"/>
                <a:cs typeface="Calibri"/>
                <a:sym typeface="Calibri"/>
              </a:defRPr>
            </a:lvl9pPr>
          </a:lstStyle>
          <a:p>
            <a:pPr marL="127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sp>
        <p:nvSpPr>
          <p:cNvPr id="23" name="Google Shape;23;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4" name="Google Shape;2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 name="Google Shape;25;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6" name="Google Shape;26;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 name="Google Shape;27;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
        <p:cNvGrpSpPr/>
        <p:nvPr/>
      </p:nvGrpSpPr>
      <p:grpSpPr>
        <a:xfrm>
          <a:off x="0" y="0"/>
          <a:ext cx="0" cy="0"/>
          <a:chOff x="0" y="0"/>
          <a:chExt cx="0" cy="0"/>
        </a:xfrm>
      </p:grpSpPr>
      <p:pic>
        <p:nvPicPr>
          <p:cNvPr id="98" name="Google Shape;98;p13"/>
          <p:cNvPicPr preferRelativeResize="0"/>
          <p:nvPr/>
        </p:nvPicPr>
        <p:blipFill rotWithShape="1">
          <a:blip r:embed="rId3">
            <a:alphaModFix/>
          </a:blip>
          <a:srcRect/>
          <a:stretch/>
        </p:blipFill>
        <p:spPr>
          <a:xfrm>
            <a:off x="0" y="6410324"/>
            <a:ext cx="12192002" cy="447675"/>
          </a:xfrm>
          <a:prstGeom prst="rect">
            <a:avLst/>
          </a:prstGeom>
          <a:noFill/>
          <a:ln>
            <a:noFill/>
          </a:ln>
        </p:spPr>
      </p:pic>
      <p:pic>
        <p:nvPicPr>
          <p:cNvPr id="99" name="Google Shape;99;p13"/>
          <p:cNvPicPr preferRelativeResize="0"/>
          <p:nvPr/>
        </p:nvPicPr>
        <p:blipFill rotWithShape="1">
          <a:blip r:embed="rId4">
            <a:alphaModFix/>
          </a:blip>
          <a:srcRect/>
          <a:stretch/>
        </p:blipFill>
        <p:spPr>
          <a:xfrm>
            <a:off x="10648950" y="6524623"/>
            <a:ext cx="1257300" cy="276225"/>
          </a:xfrm>
          <a:prstGeom prst="rect">
            <a:avLst/>
          </a:prstGeom>
          <a:noFill/>
          <a:ln>
            <a:noFill/>
          </a:ln>
        </p:spPr>
      </p:pic>
      <p:sp>
        <p:nvSpPr>
          <p:cNvPr id="100" name="Google Shape;100;p13"/>
          <p:cNvSpPr txBox="1">
            <a:spLocks noGrp="1"/>
          </p:cNvSpPr>
          <p:nvPr>
            <p:ph type="title"/>
          </p:nvPr>
        </p:nvSpPr>
        <p:spPr>
          <a:xfrm>
            <a:off x="420369" y="261302"/>
            <a:ext cx="8143800" cy="5175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rgbClr val="A3123E"/>
                </a:solidFill>
                <a:latin typeface="Times New Roman"/>
                <a:ea typeface="Times New Roman"/>
                <a:cs typeface="Times New Roman"/>
                <a:sym typeface="Times New Roman"/>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01" name="Google Shape;101;p13"/>
          <p:cNvSpPr txBox="1">
            <a:spLocks noGrp="1"/>
          </p:cNvSpPr>
          <p:nvPr>
            <p:ph type="body" idx="1"/>
          </p:nvPr>
        </p:nvSpPr>
        <p:spPr>
          <a:xfrm>
            <a:off x="2382901" y="2479039"/>
            <a:ext cx="5618400" cy="22155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36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2" name="Google Shape;102;p13"/>
          <p:cNvSpPr txBox="1">
            <a:spLocks noGrp="1"/>
          </p:cNvSpPr>
          <p:nvPr>
            <p:ph type="ftr" idx="11"/>
          </p:nvPr>
        </p:nvSpPr>
        <p:spPr>
          <a:xfrm>
            <a:off x="4145280" y="6377940"/>
            <a:ext cx="3901500" cy="34290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13"/>
          <p:cNvSpPr txBox="1">
            <a:spLocks noGrp="1"/>
          </p:cNvSpPr>
          <p:nvPr>
            <p:ph type="dt" idx="10"/>
          </p:nvPr>
        </p:nvSpPr>
        <p:spPr>
          <a:xfrm>
            <a:off x="609600" y="6377940"/>
            <a:ext cx="280410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13"/>
          <p:cNvSpPr txBox="1">
            <a:spLocks noGrp="1"/>
          </p:cNvSpPr>
          <p:nvPr>
            <p:ph type="sldNum" idx="12"/>
          </p:nvPr>
        </p:nvSpPr>
        <p:spPr>
          <a:xfrm>
            <a:off x="563562" y="6535799"/>
            <a:ext cx="273000" cy="270600"/>
          </a:xfrm>
          <a:prstGeom prst="rect">
            <a:avLst/>
          </a:prstGeom>
          <a:noFill/>
          <a:ln>
            <a:noFill/>
          </a:ln>
        </p:spPr>
        <p:txBody>
          <a:bodyPr spcFirstLastPara="1" wrap="square" lIns="0" tIns="0" rIns="0" bIns="0" anchor="t" anchorCtr="0">
            <a:spAutoFit/>
          </a:bodyPr>
          <a:lstStyle>
            <a:lvl1pPr marL="12700" marR="0" lvl="0" indent="0" algn="l" rtl="0">
              <a:lnSpc>
                <a:spcPct val="100000"/>
              </a:lnSpc>
              <a:spcBef>
                <a:spcPts val="0"/>
              </a:spcBef>
              <a:buNone/>
              <a:defRPr sz="1550" b="0" i="0">
                <a:solidFill>
                  <a:schemeClr val="lt1"/>
                </a:solidFill>
                <a:latin typeface="Calibri"/>
                <a:ea typeface="Calibri"/>
                <a:cs typeface="Calibri"/>
                <a:sym typeface="Calibri"/>
              </a:defRPr>
            </a:lvl1pPr>
            <a:lvl2pPr marL="12700" marR="0" lvl="1" indent="0" algn="l" rtl="0">
              <a:lnSpc>
                <a:spcPct val="100000"/>
              </a:lnSpc>
              <a:spcBef>
                <a:spcPts val="0"/>
              </a:spcBef>
              <a:buNone/>
              <a:defRPr sz="1550" b="0" i="0">
                <a:solidFill>
                  <a:schemeClr val="lt1"/>
                </a:solidFill>
                <a:latin typeface="Calibri"/>
                <a:ea typeface="Calibri"/>
                <a:cs typeface="Calibri"/>
                <a:sym typeface="Calibri"/>
              </a:defRPr>
            </a:lvl2pPr>
            <a:lvl3pPr marL="12700" marR="0" lvl="2" indent="0" algn="l" rtl="0">
              <a:lnSpc>
                <a:spcPct val="100000"/>
              </a:lnSpc>
              <a:spcBef>
                <a:spcPts val="0"/>
              </a:spcBef>
              <a:buNone/>
              <a:defRPr sz="1550" b="0" i="0">
                <a:solidFill>
                  <a:schemeClr val="lt1"/>
                </a:solidFill>
                <a:latin typeface="Calibri"/>
                <a:ea typeface="Calibri"/>
                <a:cs typeface="Calibri"/>
                <a:sym typeface="Calibri"/>
              </a:defRPr>
            </a:lvl3pPr>
            <a:lvl4pPr marL="12700" marR="0" lvl="3" indent="0" algn="l" rtl="0">
              <a:lnSpc>
                <a:spcPct val="100000"/>
              </a:lnSpc>
              <a:spcBef>
                <a:spcPts val="0"/>
              </a:spcBef>
              <a:buNone/>
              <a:defRPr sz="1550" b="0" i="0">
                <a:solidFill>
                  <a:schemeClr val="lt1"/>
                </a:solidFill>
                <a:latin typeface="Calibri"/>
                <a:ea typeface="Calibri"/>
                <a:cs typeface="Calibri"/>
                <a:sym typeface="Calibri"/>
              </a:defRPr>
            </a:lvl4pPr>
            <a:lvl5pPr marL="12700" marR="0" lvl="4" indent="0" algn="l" rtl="0">
              <a:lnSpc>
                <a:spcPct val="100000"/>
              </a:lnSpc>
              <a:spcBef>
                <a:spcPts val="0"/>
              </a:spcBef>
              <a:buNone/>
              <a:defRPr sz="1550" b="0" i="0">
                <a:solidFill>
                  <a:schemeClr val="lt1"/>
                </a:solidFill>
                <a:latin typeface="Calibri"/>
                <a:ea typeface="Calibri"/>
                <a:cs typeface="Calibri"/>
                <a:sym typeface="Calibri"/>
              </a:defRPr>
            </a:lvl5pPr>
            <a:lvl6pPr marL="12700" marR="0" lvl="5" indent="0" algn="l" rtl="0">
              <a:lnSpc>
                <a:spcPct val="100000"/>
              </a:lnSpc>
              <a:spcBef>
                <a:spcPts val="0"/>
              </a:spcBef>
              <a:buNone/>
              <a:defRPr sz="1550" b="0" i="0">
                <a:solidFill>
                  <a:schemeClr val="lt1"/>
                </a:solidFill>
                <a:latin typeface="Calibri"/>
                <a:ea typeface="Calibri"/>
                <a:cs typeface="Calibri"/>
                <a:sym typeface="Calibri"/>
              </a:defRPr>
            </a:lvl6pPr>
            <a:lvl7pPr marL="12700" marR="0" lvl="6" indent="0" algn="l" rtl="0">
              <a:lnSpc>
                <a:spcPct val="100000"/>
              </a:lnSpc>
              <a:spcBef>
                <a:spcPts val="0"/>
              </a:spcBef>
              <a:buNone/>
              <a:defRPr sz="1550" b="0" i="0">
                <a:solidFill>
                  <a:schemeClr val="lt1"/>
                </a:solidFill>
                <a:latin typeface="Calibri"/>
                <a:ea typeface="Calibri"/>
                <a:cs typeface="Calibri"/>
                <a:sym typeface="Calibri"/>
              </a:defRPr>
            </a:lvl7pPr>
            <a:lvl8pPr marL="12700" marR="0" lvl="7" indent="0" algn="l" rtl="0">
              <a:lnSpc>
                <a:spcPct val="100000"/>
              </a:lnSpc>
              <a:spcBef>
                <a:spcPts val="0"/>
              </a:spcBef>
              <a:buNone/>
              <a:defRPr sz="1550" b="0" i="0">
                <a:solidFill>
                  <a:schemeClr val="lt1"/>
                </a:solidFill>
                <a:latin typeface="Calibri"/>
                <a:ea typeface="Calibri"/>
                <a:cs typeface="Calibri"/>
                <a:sym typeface="Calibri"/>
              </a:defRPr>
            </a:lvl8pPr>
            <a:lvl9pPr marL="12700" marR="0" lvl="8" indent="0" algn="l" rtl="0">
              <a:lnSpc>
                <a:spcPct val="100000"/>
              </a:lnSpc>
              <a:spcBef>
                <a:spcPts val="0"/>
              </a:spcBef>
              <a:buNone/>
              <a:defRPr sz="1550" b="0" i="0">
                <a:solidFill>
                  <a:schemeClr val="lt1"/>
                </a:solidFill>
                <a:latin typeface="Calibri"/>
                <a:ea typeface="Calibri"/>
                <a:cs typeface="Calibri"/>
                <a:sym typeface="Calibri"/>
              </a:defRPr>
            </a:lvl9pPr>
          </a:lstStyle>
          <a:p>
            <a:pPr marL="127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6"/>
          <p:cNvSpPr/>
          <p:nvPr/>
        </p:nvSpPr>
        <p:spPr>
          <a:xfrm>
            <a:off x="0" y="-37290"/>
            <a:ext cx="12192000" cy="6858000"/>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rgbClr val="B8114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pic>
        <p:nvPicPr>
          <p:cNvPr id="121" name="Google Shape;121;p16"/>
          <p:cNvPicPr preferRelativeResize="0"/>
          <p:nvPr/>
        </p:nvPicPr>
        <p:blipFill rotWithShape="1">
          <a:blip r:embed="rId3">
            <a:alphaModFix/>
          </a:blip>
          <a:srcRect/>
          <a:stretch/>
        </p:blipFill>
        <p:spPr>
          <a:xfrm>
            <a:off x="1924564" y="5028307"/>
            <a:ext cx="4591050" cy="1476375"/>
          </a:xfrm>
          <a:prstGeom prst="rect">
            <a:avLst/>
          </a:prstGeom>
          <a:noFill/>
          <a:ln>
            <a:noFill/>
          </a:ln>
        </p:spPr>
      </p:pic>
      <p:sp>
        <p:nvSpPr>
          <p:cNvPr id="122" name="Google Shape;122;p16"/>
          <p:cNvSpPr txBox="1"/>
          <p:nvPr/>
        </p:nvSpPr>
        <p:spPr>
          <a:xfrm>
            <a:off x="6749607" y="4947028"/>
            <a:ext cx="4997647" cy="1910972"/>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None/>
            </a:pPr>
            <a:r>
              <a:rPr lang="en-US" sz="1900" dirty="0">
                <a:solidFill>
                  <a:srgbClr val="FFFFFF"/>
                </a:solidFill>
                <a:latin typeface="Times New Roman"/>
                <a:ea typeface="Times New Roman"/>
                <a:cs typeface="Times New Roman"/>
                <a:sym typeface="Times New Roman"/>
              </a:rPr>
              <a:t>B. Tech Artificial Intelligence and Data Science,</a:t>
            </a:r>
            <a:endParaRPr sz="1900" dirty="0">
              <a:solidFill>
                <a:schemeClr val="dk1"/>
              </a:solidFill>
              <a:latin typeface="Times New Roman"/>
              <a:ea typeface="Times New Roman"/>
              <a:cs typeface="Times New Roman"/>
              <a:sym typeface="Times New Roman"/>
            </a:endParaRPr>
          </a:p>
          <a:p>
            <a:pPr marL="12700" marR="0" lvl="0" indent="0" algn="l" rtl="0">
              <a:lnSpc>
                <a:spcPct val="100000"/>
              </a:lnSpc>
              <a:spcBef>
                <a:spcPts val="125"/>
              </a:spcBef>
              <a:spcAft>
                <a:spcPts val="0"/>
              </a:spcAft>
              <a:buNone/>
            </a:pPr>
            <a:r>
              <a:rPr lang="en-US" sz="1900" dirty="0">
                <a:solidFill>
                  <a:srgbClr val="FFFFFF"/>
                </a:solidFill>
                <a:latin typeface="Times New Roman"/>
                <a:ea typeface="Times New Roman"/>
                <a:cs typeface="Times New Roman"/>
                <a:sym typeface="Times New Roman"/>
              </a:rPr>
              <a:t>Semester VI, AID - F</a:t>
            </a:r>
            <a:endParaRPr sz="1900" dirty="0">
              <a:solidFill>
                <a:schemeClr val="dk1"/>
              </a:solidFill>
              <a:latin typeface="Times New Roman"/>
              <a:ea typeface="Times New Roman"/>
              <a:cs typeface="Times New Roman"/>
              <a:sym typeface="Times New Roman"/>
            </a:endParaRPr>
          </a:p>
          <a:p>
            <a:pPr marL="12700" marR="958850" lvl="0" indent="0" algn="l" rtl="0">
              <a:lnSpc>
                <a:spcPct val="102000"/>
              </a:lnSpc>
              <a:spcBef>
                <a:spcPts val="0"/>
              </a:spcBef>
              <a:spcAft>
                <a:spcPts val="0"/>
              </a:spcAft>
              <a:buNone/>
            </a:pPr>
            <a:r>
              <a:rPr lang="en-US" sz="1900" dirty="0">
                <a:solidFill>
                  <a:srgbClr val="FFFFFF"/>
                </a:solidFill>
                <a:latin typeface="Times New Roman"/>
                <a:ea typeface="Times New Roman"/>
                <a:cs typeface="Times New Roman"/>
                <a:sym typeface="Times New Roman"/>
              </a:rPr>
              <a:t>Department of Artificial Intelligence, Amrita School of Artificial Intelligence, Bengaluru</a:t>
            </a:r>
            <a:endParaRPr lang="en-IN" sz="1900" dirty="0">
              <a:solidFill>
                <a:schemeClr val="dk1"/>
              </a:solidFill>
              <a:latin typeface="Times New Roman"/>
              <a:ea typeface="Times New Roman"/>
              <a:cs typeface="Times New Roman"/>
              <a:sym typeface="Times New Roman"/>
            </a:endParaRPr>
          </a:p>
          <a:p>
            <a:pPr marL="0" marR="541655" lvl="0" indent="0" algn="r" rtl="0">
              <a:lnSpc>
                <a:spcPct val="100000"/>
              </a:lnSpc>
              <a:spcBef>
                <a:spcPts val="1705"/>
              </a:spcBef>
              <a:spcAft>
                <a:spcPts val="0"/>
              </a:spcAft>
              <a:buNone/>
            </a:pPr>
            <a:r>
              <a:rPr lang="en-IN" sz="1200" dirty="0">
                <a:solidFill>
                  <a:srgbClr val="FFFFFF"/>
                </a:solidFill>
                <a:latin typeface="Calibri"/>
                <a:ea typeface="Calibri"/>
                <a:cs typeface="Calibri"/>
                <a:sym typeface="Calibri"/>
              </a:rPr>
              <a:t>1</a:t>
            </a:r>
            <a:endParaRPr lang="en-IN" sz="1200" dirty="0">
              <a:solidFill>
                <a:schemeClr val="dk1"/>
              </a:solidFill>
              <a:latin typeface="Calibri"/>
              <a:ea typeface="Calibri"/>
              <a:cs typeface="Calibri"/>
              <a:sym typeface="Calibri"/>
            </a:endParaRPr>
          </a:p>
        </p:txBody>
      </p:sp>
      <p:sp>
        <p:nvSpPr>
          <p:cNvPr id="123" name="Google Shape;123;p16"/>
          <p:cNvSpPr txBox="1"/>
          <p:nvPr/>
        </p:nvSpPr>
        <p:spPr>
          <a:xfrm>
            <a:off x="1924564" y="776091"/>
            <a:ext cx="8064000" cy="568474"/>
          </a:xfrm>
          <a:prstGeom prst="rect">
            <a:avLst/>
          </a:prstGeom>
          <a:noFill/>
          <a:ln>
            <a:noFill/>
          </a:ln>
        </p:spPr>
        <p:txBody>
          <a:bodyPr spcFirstLastPara="1" wrap="square" lIns="0" tIns="8875" rIns="0" bIns="0" anchor="t" anchorCtr="0">
            <a:spAutoFit/>
          </a:bodyPr>
          <a:lstStyle/>
          <a:p>
            <a:pPr marL="12700" marR="5080" lvl="0" indent="0" algn="ctr" rtl="0">
              <a:lnSpc>
                <a:spcPct val="101000"/>
              </a:lnSpc>
              <a:spcBef>
                <a:spcPts val="0"/>
              </a:spcBef>
              <a:spcAft>
                <a:spcPts val="0"/>
              </a:spcAft>
              <a:buNone/>
            </a:pPr>
            <a:r>
              <a:rPr lang="en-US" sz="3600" dirty="0">
                <a:solidFill>
                  <a:srgbClr val="FFFFFF"/>
                </a:solidFill>
                <a:latin typeface="Times New Roman"/>
                <a:ea typeface="Times New Roman"/>
                <a:cs typeface="Times New Roman"/>
                <a:sym typeface="Times New Roman"/>
              </a:rPr>
              <a:t>Van der Pol Oscillator</a:t>
            </a:r>
            <a:endParaRPr sz="3600" dirty="0">
              <a:solidFill>
                <a:srgbClr val="FFFFFF"/>
              </a:solidFill>
              <a:latin typeface="Times New Roman"/>
              <a:ea typeface="Times New Roman"/>
              <a:cs typeface="Times New Roman"/>
              <a:sym typeface="Times New Roman"/>
            </a:endParaRPr>
          </a:p>
        </p:txBody>
      </p:sp>
      <p:sp>
        <p:nvSpPr>
          <p:cNvPr id="124" name="Google Shape;124;p16"/>
          <p:cNvSpPr txBox="1">
            <a:spLocks noGrp="1"/>
          </p:cNvSpPr>
          <p:nvPr>
            <p:ph type="title"/>
          </p:nvPr>
        </p:nvSpPr>
        <p:spPr>
          <a:xfrm>
            <a:off x="2169750" y="105654"/>
            <a:ext cx="7852500" cy="47520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Clr>
                <a:srgbClr val="FFFFFF"/>
              </a:buClr>
              <a:buSzPts val="3000"/>
              <a:buFont typeface="Play"/>
              <a:buNone/>
            </a:pPr>
            <a:r>
              <a:rPr lang="en-US" sz="3000" dirty="0">
                <a:solidFill>
                  <a:srgbClr val="FFFFFF"/>
                </a:solidFill>
              </a:rPr>
              <a:t>23AID311- Analog Computing</a:t>
            </a:r>
            <a:endParaRPr sz="3000" dirty="0">
              <a:solidFill>
                <a:srgbClr val="FFFFFF"/>
              </a:solidFill>
            </a:endParaRPr>
          </a:p>
        </p:txBody>
      </p:sp>
      <p:sp>
        <p:nvSpPr>
          <p:cNvPr id="125" name="Google Shape;125;p16"/>
          <p:cNvSpPr txBox="1"/>
          <p:nvPr/>
        </p:nvSpPr>
        <p:spPr>
          <a:xfrm>
            <a:off x="1179871" y="1536733"/>
            <a:ext cx="9399637" cy="2246729"/>
          </a:xfrm>
          <a:prstGeom prst="rect">
            <a:avLst/>
          </a:prstGeom>
          <a:noFill/>
          <a:ln>
            <a:noFill/>
          </a:ln>
        </p:spPr>
        <p:txBody>
          <a:bodyPr spcFirstLastPara="1" wrap="square" lIns="91425" tIns="45700" rIns="91425" bIns="45700" anchor="b" anchorCtr="0">
            <a:spAutoFit/>
          </a:bodyPr>
          <a:lstStyle/>
          <a:p>
            <a:pPr marL="0" marR="0" lvl="0" indent="0" algn="ctr" rtl="0">
              <a:spcBef>
                <a:spcPts val="0"/>
              </a:spcBef>
              <a:spcAft>
                <a:spcPts val="0"/>
              </a:spcAft>
              <a:buNone/>
            </a:pPr>
            <a:r>
              <a:rPr lang="en-US" sz="2800" dirty="0">
                <a:solidFill>
                  <a:schemeClr val="lt1"/>
                </a:solidFill>
                <a:latin typeface="Arial"/>
                <a:ea typeface="Arial"/>
                <a:cs typeface="Arial"/>
                <a:sym typeface="Arial"/>
              </a:rPr>
              <a:t>A PRESENTATION BY TEAM NO. </a:t>
            </a:r>
            <a:r>
              <a:rPr lang="en-US" sz="2800" dirty="0">
                <a:solidFill>
                  <a:schemeClr val="lt1"/>
                </a:solidFill>
              </a:rPr>
              <a:t>3</a:t>
            </a:r>
            <a:r>
              <a:rPr lang="en-US" sz="2800" dirty="0">
                <a:solidFill>
                  <a:schemeClr val="lt1"/>
                </a:solidFill>
                <a:latin typeface="Arial"/>
                <a:ea typeface="Arial"/>
                <a:cs typeface="Arial"/>
                <a:sym typeface="Arial"/>
              </a:rPr>
              <a:t>:</a:t>
            </a:r>
          </a:p>
          <a:p>
            <a:pPr marL="0" marR="0" lvl="0" indent="0" algn="ctr" rtl="0">
              <a:spcBef>
                <a:spcPts val="0"/>
              </a:spcBef>
              <a:spcAft>
                <a:spcPts val="0"/>
              </a:spcAft>
              <a:buNone/>
            </a:pPr>
            <a:r>
              <a:rPr lang="en-US" sz="2800" dirty="0">
                <a:solidFill>
                  <a:schemeClr val="lt1"/>
                </a:solidFill>
              </a:rPr>
              <a:t>- BL.EN.U4AID23003 (Amara Pranav)</a:t>
            </a:r>
            <a:endParaRPr sz="2800" dirty="0">
              <a:solidFill>
                <a:schemeClr val="lt1"/>
              </a:solidFill>
              <a:latin typeface="Arial"/>
              <a:ea typeface="Arial"/>
              <a:cs typeface="Arial"/>
              <a:sym typeface="Arial"/>
            </a:endParaRPr>
          </a:p>
          <a:p>
            <a:pPr marL="285750" marR="0" lvl="0" indent="-285750" algn="ctr" rtl="0">
              <a:spcBef>
                <a:spcPts val="0"/>
              </a:spcBef>
              <a:spcAft>
                <a:spcPts val="0"/>
              </a:spcAft>
              <a:buClr>
                <a:schemeClr val="lt1"/>
              </a:buClr>
              <a:buSzPts val="2800"/>
              <a:buFont typeface="Calibri"/>
              <a:buChar char="-"/>
            </a:pPr>
            <a:r>
              <a:rPr lang="en-US" sz="2800" dirty="0">
                <a:solidFill>
                  <a:schemeClr val="lt1"/>
                </a:solidFill>
                <a:latin typeface="Arial"/>
                <a:ea typeface="Arial"/>
                <a:cs typeface="Arial"/>
                <a:sym typeface="Arial"/>
              </a:rPr>
              <a:t>BL.EN.U4AID23006 (B G Rajath Siddarth)</a:t>
            </a:r>
          </a:p>
          <a:p>
            <a:pPr marL="285750" marR="0" lvl="0" indent="-285750" algn="ctr" rtl="0">
              <a:spcBef>
                <a:spcPts val="0"/>
              </a:spcBef>
              <a:spcAft>
                <a:spcPts val="0"/>
              </a:spcAft>
              <a:buClr>
                <a:schemeClr val="lt1"/>
              </a:buClr>
              <a:buSzPts val="2800"/>
              <a:buFont typeface="Calibri"/>
              <a:buChar char="-"/>
            </a:pPr>
            <a:r>
              <a:rPr lang="en-US" sz="2800" dirty="0">
                <a:solidFill>
                  <a:schemeClr val="lt1"/>
                </a:solidFill>
                <a:latin typeface="Arial"/>
                <a:ea typeface="Arial"/>
                <a:cs typeface="Arial"/>
                <a:sym typeface="Arial"/>
              </a:rPr>
              <a:t>BL.EN.U4AID23054 (V. Sidharrth)</a:t>
            </a:r>
            <a:endParaRPr sz="2800" dirty="0">
              <a:solidFill>
                <a:schemeClr val="lt1"/>
              </a:solidFill>
              <a:latin typeface="Arial"/>
              <a:ea typeface="Arial"/>
              <a:cs typeface="Arial"/>
              <a:sym typeface="Arial"/>
            </a:endParaRPr>
          </a:p>
          <a:p>
            <a:pPr marL="285750" marR="0" lvl="0" indent="-285750" algn="ctr" rtl="0">
              <a:spcBef>
                <a:spcPts val="0"/>
              </a:spcBef>
              <a:spcAft>
                <a:spcPts val="0"/>
              </a:spcAft>
              <a:buClr>
                <a:schemeClr val="lt1"/>
              </a:buClr>
              <a:buSzPts val="2800"/>
              <a:buFont typeface="Calibri"/>
              <a:buChar char="-"/>
            </a:pPr>
            <a:r>
              <a:rPr lang="en-US" sz="2800" dirty="0">
                <a:solidFill>
                  <a:schemeClr val="lt1"/>
                </a:solidFill>
                <a:latin typeface="Arial"/>
                <a:ea typeface="Arial"/>
                <a:cs typeface="Arial"/>
                <a:sym typeface="Arial"/>
              </a:rPr>
              <a:t>BL.EN.U4AID23063 (Paruchuri Sai)</a:t>
            </a:r>
            <a:endParaRPr sz="2800" dirty="0">
              <a:solidFill>
                <a:schemeClr val="lt1"/>
              </a:solidFill>
              <a:latin typeface="Arial"/>
              <a:ea typeface="Arial"/>
              <a:cs typeface="Arial"/>
              <a:sym typeface="Arial"/>
            </a:endParaRPr>
          </a:p>
        </p:txBody>
      </p:sp>
      <p:sp>
        <p:nvSpPr>
          <p:cNvPr id="126" name="Google Shape;126;p16"/>
          <p:cNvSpPr/>
          <p:nvPr/>
        </p:nvSpPr>
        <p:spPr>
          <a:xfrm>
            <a:off x="6719128" y="4947028"/>
            <a:ext cx="10160" cy="1557654"/>
          </a:xfrm>
          <a:custGeom>
            <a:avLst/>
            <a:gdLst/>
            <a:ahLst/>
            <a:cxnLst/>
            <a:rect l="l" t="t" r="r" b="b"/>
            <a:pathLst>
              <a:path w="10160" h="1557654" extrusionOk="0">
                <a:moveTo>
                  <a:pt x="10160" y="0"/>
                </a:moveTo>
                <a:lnTo>
                  <a:pt x="0" y="1557591"/>
                </a:lnTo>
              </a:path>
            </a:pathLst>
          </a:custGeom>
          <a:noFill/>
          <a:ln w="9525" cap="flat" cmpd="sng">
            <a:solidFill>
              <a:srgbClr val="FFC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 name="TextBox 1">
            <a:extLst>
              <a:ext uri="{FF2B5EF4-FFF2-40B4-BE49-F238E27FC236}">
                <a16:creationId xmlns:a16="http://schemas.microsoft.com/office/drawing/2014/main" id="{19F274F9-B885-D81C-7B06-382487AF4C86}"/>
              </a:ext>
            </a:extLst>
          </p:cNvPr>
          <p:cNvSpPr txBox="1"/>
          <p:nvPr/>
        </p:nvSpPr>
        <p:spPr>
          <a:xfrm>
            <a:off x="7417429" y="3853282"/>
            <a:ext cx="3805084" cy="954107"/>
          </a:xfrm>
          <a:prstGeom prst="rect">
            <a:avLst/>
          </a:prstGeom>
          <a:noFill/>
        </p:spPr>
        <p:txBody>
          <a:bodyPr wrap="square" rtlCol="0">
            <a:spAutoFit/>
          </a:bodyPr>
          <a:lstStyle/>
          <a:p>
            <a:r>
              <a:rPr lang="en-US" sz="2800" dirty="0">
                <a:solidFill>
                  <a:schemeClr val="bg1"/>
                </a:solidFill>
              </a:rPr>
              <a:t>Course Mentor:</a:t>
            </a:r>
          </a:p>
          <a:p>
            <a:r>
              <a:rPr lang="en-US" sz="2800" dirty="0">
                <a:solidFill>
                  <a:schemeClr val="bg1"/>
                </a:solidFill>
              </a:rPr>
              <a:t>Dr. Sirisha Tadepalli</a:t>
            </a:r>
            <a:endParaRPr lang="en-IN" sz="2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a:t>INTRODUCTION</a:t>
            </a:r>
            <a:endParaRPr/>
          </a:p>
        </p:txBody>
      </p:sp>
      <p:sp>
        <p:nvSpPr>
          <p:cNvPr id="132" name="Google Shape;132;p17"/>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a:t>
            </a:fld>
            <a:endParaRPr/>
          </a:p>
        </p:txBody>
      </p:sp>
      <p:sp>
        <p:nvSpPr>
          <p:cNvPr id="133" name="Google Shape;133;p17"/>
          <p:cNvSpPr txBox="1"/>
          <p:nvPr/>
        </p:nvSpPr>
        <p:spPr>
          <a:xfrm>
            <a:off x="557892" y="1428750"/>
            <a:ext cx="11388301" cy="4031833"/>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chemeClr val="dk1"/>
              </a:buClr>
              <a:buSzPts val="3200"/>
              <a:buFont typeface="Calibri"/>
              <a:buChar char="•"/>
            </a:pPr>
            <a:r>
              <a:rPr lang="en-US" sz="3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At the beginning of the twentieth century, vacuum tubes were used to control the flow of electricity in the circuitry of transmitters and receivers.</a:t>
            </a:r>
          </a:p>
          <a:p>
            <a:pPr marL="228600" lvl="0" indent="-228600">
              <a:buClr>
                <a:schemeClr val="dk1"/>
              </a:buClr>
              <a:buSzPts val="3200"/>
              <a:buFont typeface="Calibri"/>
              <a:buChar char="•"/>
            </a:pPr>
            <a:r>
              <a:rPr lang="en-US" sz="3200" dirty="0">
                <a:latin typeface="Calibri" panose="020F0502020204030204" pitchFamily="34" charset="0"/>
                <a:ea typeface="Calibri" panose="020F0502020204030204" pitchFamily="34" charset="0"/>
                <a:cs typeface="Calibri" panose="020F0502020204030204" pitchFamily="34" charset="0"/>
              </a:rPr>
              <a:t>Van der Pol experimented with oscillations in a vacuum tube triode circuit.</a:t>
            </a:r>
          </a:p>
          <a:p>
            <a:pPr marL="228600" lvl="0" indent="-228600">
              <a:buClr>
                <a:schemeClr val="dk1"/>
              </a:buClr>
              <a:buSzPts val="3200"/>
              <a:buFont typeface="Calibri"/>
              <a:buChar char="•"/>
            </a:pPr>
            <a:r>
              <a:rPr lang="en-US" sz="3200" dirty="0">
                <a:latin typeface="Calibri" panose="020F0502020204030204" pitchFamily="34" charset="0"/>
                <a:ea typeface="Calibri" panose="020F0502020204030204" pitchFamily="34" charset="0"/>
                <a:cs typeface="Calibri" panose="020F0502020204030204" pitchFamily="34" charset="0"/>
              </a:rPr>
              <a:t>All initial conditions converged to the same periodic orbit of finite amplitude.</a:t>
            </a:r>
          </a:p>
          <a:p>
            <a:pPr marL="228600" lvl="0" indent="-228600">
              <a:buClr>
                <a:schemeClr val="dk1"/>
              </a:buClr>
              <a:buSzPts val="3200"/>
              <a:buFont typeface="Calibri"/>
              <a:buChar char="•"/>
            </a:pPr>
            <a:r>
              <a:rPr lang="en-US" sz="3200" dirty="0" err="1">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Behaviour</a:t>
            </a:r>
            <a:r>
              <a:rPr lang="en-US" sz="3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different from that of solutions of linear equations.</a:t>
            </a:r>
            <a:endParaRPr sz="3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3D7AFFF2-1BE0-9C1C-99F8-EA36902CFF94}"/>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23B88A14-04C2-BB3A-9B64-A2CA89D30A28}"/>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BACKGROUND</a:t>
            </a:r>
            <a:endParaRPr dirty="0"/>
          </a:p>
        </p:txBody>
      </p:sp>
      <p:sp>
        <p:nvSpPr>
          <p:cNvPr id="132" name="Google Shape;132;p17">
            <a:extLst>
              <a:ext uri="{FF2B5EF4-FFF2-40B4-BE49-F238E27FC236}">
                <a16:creationId xmlns:a16="http://schemas.microsoft.com/office/drawing/2014/main" id="{2CC6498C-B5C5-1236-6865-B4E331D0DCAD}"/>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3</a:t>
            </a:fld>
            <a:endParaRPr/>
          </a:p>
        </p:txBody>
      </p:sp>
      <p:sp>
        <p:nvSpPr>
          <p:cNvPr id="133" name="Google Shape;133;p17">
            <a:extLst>
              <a:ext uri="{FF2B5EF4-FFF2-40B4-BE49-F238E27FC236}">
                <a16:creationId xmlns:a16="http://schemas.microsoft.com/office/drawing/2014/main" id="{6459B4F4-C7DC-B5E4-571E-87C10F0D85AC}"/>
              </a:ext>
            </a:extLst>
          </p:cNvPr>
          <p:cNvSpPr txBox="1"/>
          <p:nvPr/>
        </p:nvSpPr>
        <p:spPr>
          <a:xfrm>
            <a:off x="176980" y="767596"/>
            <a:ext cx="9055510" cy="5293716"/>
          </a:xfrm>
          <a:prstGeom prst="rect">
            <a:avLst/>
          </a:prstGeom>
          <a:noFill/>
          <a:ln>
            <a:noFill/>
          </a:ln>
        </p:spPr>
        <p:txBody>
          <a:bodyPr spcFirstLastPara="1" wrap="square" lIns="91425" tIns="45700" rIns="91425" bIns="45700" anchor="t" anchorCtr="0">
            <a:spAutoFit/>
          </a:bodyPr>
          <a:lstStyle/>
          <a:p>
            <a:pPr marL="228600" marR="0" lvl="0" indent="-228600" algn="l" rtl="0">
              <a:spcBef>
                <a:spcPts val="0"/>
              </a:spcBef>
              <a:spcAft>
                <a:spcPts val="0"/>
              </a:spcAft>
              <a:buClr>
                <a:schemeClr val="dk1"/>
              </a:buClr>
              <a:buSzPts val="3200"/>
              <a:buFont typeface="Calibri"/>
              <a:buChar char="•"/>
            </a:pPr>
            <a:r>
              <a:rPr lang="en-US" sz="2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Consider an electrical RLC circuit.</a:t>
            </a:r>
          </a:p>
          <a:p>
            <a:pPr marL="228600" lvl="0" indent="-228600">
              <a:buClr>
                <a:schemeClr val="dk1"/>
              </a:buClr>
              <a:buSzPts val="3200"/>
              <a:buFont typeface="Calibri"/>
              <a:buChar char="•"/>
            </a:pPr>
            <a:r>
              <a:rPr lang="en-US" sz="2600" dirty="0">
                <a:latin typeface="Calibri" panose="020F0502020204030204" pitchFamily="34" charset="0"/>
                <a:ea typeface="Calibri" panose="020F0502020204030204" pitchFamily="34" charset="0"/>
                <a:cs typeface="Calibri" panose="020F0502020204030204" pitchFamily="34" charset="0"/>
              </a:rPr>
              <a:t>Consists of an inductor, a capacitor, a resistor.</a:t>
            </a:r>
          </a:p>
          <a:p>
            <a:pPr marL="228600" lvl="0" indent="-228600">
              <a:buClr>
                <a:schemeClr val="dk1"/>
              </a:buClr>
              <a:buSzPts val="3200"/>
              <a:buFont typeface="Calibri"/>
              <a:buChar char="•"/>
            </a:pPr>
            <a:r>
              <a:rPr lang="en-US" sz="2600" dirty="0">
                <a:latin typeface="Calibri" panose="020F0502020204030204" pitchFamily="34" charset="0"/>
                <a:ea typeface="Calibri" panose="020F0502020204030204" pitchFamily="34" charset="0"/>
                <a:cs typeface="Calibri" panose="020F0502020204030204" pitchFamily="34" charset="0"/>
              </a:rPr>
              <a:t>Assume that the voltage source is a battery (E(t) = E constant).</a:t>
            </a:r>
          </a:p>
          <a:p>
            <a:pPr marL="228600" lvl="0" indent="-228600">
              <a:buClr>
                <a:schemeClr val="dk1"/>
              </a:buClr>
              <a:buSzPts val="3200"/>
              <a:buFont typeface="Calibri"/>
              <a:buChar char="•"/>
            </a:pPr>
            <a:r>
              <a:rPr lang="en-US" sz="2600" dirty="0">
                <a:latin typeface="Calibri" panose="020F0502020204030204" pitchFamily="34" charset="0"/>
                <a:ea typeface="Calibri" panose="020F0502020204030204" pitchFamily="34" charset="0"/>
                <a:cs typeface="Calibri" panose="020F0502020204030204" pitchFamily="34" charset="0"/>
              </a:rPr>
              <a:t>When the battery switch is closed, a current I(t) begins to flow in the circuit according to Kirchhoff’s Voltage Law: </a:t>
            </a:r>
          </a:p>
          <a:p>
            <a:pPr lvl="0">
              <a:buClr>
                <a:schemeClr val="dk1"/>
              </a:buClr>
              <a:buSzPts val="3200"/>
            </a:pPr>
            <a:r>
              <a:rPr lang="en-US" sz="2600" dirty="0">
                <a:latin typeface="Calibri" panose="020F0502020204030204" pitchFamily="34" charset="0"/>
                <a:ea typeface="Calibri" panose="020F0502020204030204" pitchFamily="34" charset="0"/>
                <a:cs typeface="Calibri" panose="020F0502020204030204" pitchFamily="34" charset="0"/>
              </a:rPr>
              <a:t>LI’ + RI + Q/C = E</a:t>
            </a:r>
          </a:p>
          <a:p>
            <a:pPr lvl="0">
              <a:buClr>
                <a:schemeClr val="dk1"/>
              </a:buClr>
              <a:buSzPts val="3200"/>
            </a:pPr>
            <a:r>
              <a:rPr lang="en-US" sz="2600" dirty="0">
                <a:latin typeface="Calibri" panose="020F0502020204030204" pitchFamily="34" charset="0"/>
                <a:ea typeface="Calibri" panose="020F0502020204030204" pitchFamily="34" charset="0"/>
                <a:cs typeface="Calibri" panose="020F0502020204030204" pitchFamily="34" charset="0"/>
              </a:rPr>
              <a:t>where Q’=I</a:t>
            </a:r>
          </a:p>
          <a:p>
            <a:pPr marL="228600" lvl="0" indent="-228600">
              <a:buClr>
                <a:schemeClr val="dk1"/>
              </a:buClr>
              <a:buSzPts val="3200"/>
              <a:buFont typeface="Calibri"/>
              <a:buChar char="•"/>
            </a:pPr>
            <a:r>
              <a:rPr lang="en-US" sz="2600" dirty="0">
                <a:latin typeface="Calibri" panose="020F0502020204030204" pitchFamily="34" charset="0"/>
                <a:ea typeface="Calibri" panose="020F0502020204030204" pitchFamily="34" charset="0"/>
                <a:cs typeface="Calibri" panose="020F0502020204030204" pitchFamily="34" charset="0"/>
              </a:rPr>
              <a:t> Differentiating both sides of this equation:</a:t>
            </a:r>
          </a:p>
          <a:p>
            <a:pPr lvl="0">
              <a:buClr>
                <a:schemeClr val="dk1"/>
              </a:buClr>
              <a:buSzPts val="3200"/>
            </a:pPr>
            <a:r>
              <a:rPr lang="en-US" sz="2600" dirty="0">
                <a:latin typeface="Calibri" panose="020F0502020204030204" pitchFamily="34" charset="0"/>
                <a:ea typeface="Calibri" panose="020F0502020204030204" pitchFamily="34" charset="0"/>
                <a:cs typeface="Calibri" panose="020F0502020204030204" pitchFamily="34" charset="0"/>
              </a:rPr>
              <a:t>LI” + RI’ + I/C = 0</a:t>
            </a:r>
          </a:p>
          <a:p>
            <a:pPr marL="228600" lvl="0" indent="-228600">
              <a:buClr>
                <a:schemeClr val="dk1"/>
              </a:buClr>
              <a:buSzPts val="3200"/>
              <a:buFont typeface="Calibri"/>
              <a:buChar char="•"/>
            </a:pPr>
            <a:r>
              <a:rPr lang="en-US" sz="2600" dirty="0">
                <a:latin typeface="Calibri" panose="020F0502020204030204" pitchFamily="34" charset="0"/>
                <a:ea typeface="Calibri" panose="020F0502020204030204" pitchFamily="34" charset="0"/>
                <a:cs typeface="Calibri" panose="020F0502020204030204" pitchFamily="34" charset="0"/>
              </a:rPr>
              <a:t>Compare the above with damped harmonic oscillator</a:t>
            </a:r>
          </a:p>
          <a:p>
            <a:pPr lvl="0">
              <a:buClr>
                <a:schemeClr val="dk1"/>
              </a:buClr>
              <a:buSzPts val="3200"/>
            </a:pPr>
            <a:r>
              <a:rPr lang="en-US" sz="2600" dirty="0">
                <a:latin typeface="Calibri" panose="020F0502020204030204" pitchFamily="34" charset="0"/>
                <a:ea typeface="Calibri" panose="020F0502020204030204" pitchFamily="34" charset="0"/>
                <a:cs typeface="Calibri" panose="020F0502020204030204" pitchFamily="34" charset="0"/>
              </a:rPr>
              <a:t>my’’+</a:t>
            </a:r>
            <a:r>
              <a:rPr lang="en-US" sz="2600" dirty="0" err="1">
                <a:latin typeface="Calibri" panose="020F0502020204030204" pitchFamily="34" charset="0"/>
                <a:ea typeface="Calibri" panose="020F0502020204030204" pitchFamily="34" charset="0"/>
                <a:cs typeface="Calibri" panose="020F0502020204030204" pitchFamily="34" charset="0"/>
              </a:rPr>
              <a:t>dy</a:t>
            </a:r>
            <a:r>
              <a:rPr lang="en-US" sz="2600" dirty="0">
                <a:latin typeface="Calibri" panose="020F0502020204030204" pitchFamily="34" charset="0"/>
                <a:ea typeface="Calibri" panose="020F0502020204030204" pitchFamily="34" charset="0"/>
                <a:cs typeface="Calibri" panose="020F0502020204030204" pitchFamily="34" charset="0"/>
              </a:rPr>
              <a:t>’+</a:t>
            </a:r>
            <a:r>
              <a:rPr lang="en-US" sz="2600" dirty="0" err="1">
                <a:latin typeface="Calibri" panose="020F0502020204030204" pitchFamily="34" charset="0"/>
                <a:ea typeface="Calibri" panose="020F0502020204030204" pitchFamily="34" charset="0"/>
                <a:cs typeface="Calibri" panose="020F0502020204030204" pitchFamily="34" charset="0"/>
              </a:rPr>
              <a:t>ky</a:t>
            </a:r>
            <a:r>
              <a:rPr lang="en-US" sz="2600" dirty="0">
                <a:latin typeface="Calibri" panose="020F0502020204030204" pitchFamily="34" charset="0"/>
                <a:ea typeface="Calibri" panose="020F0502020204030204" pitchFamily="34" charset="0"/>
                <a:cs typeface="Calibri" panose="020F0502020204030204" pitchFamily="34" charset="0"/>
              </a:rPr>
              <a:t>=0</a:t>
            </a:r>
          </a:p>
          <a:p>
            <a:pPr lvl="0">
              <a:buClr>
                <a:schemeClr val="dk1"/>
              </a:buClr>
              <a:buSzPts val="3200"/>
            </a:pPr>
            <a:r>
              <a:rPr lang="en-US" sz="2600" dirty="0">
                <a:latin typeface="Calibri" panose="020F0502020204030204" pitchFamily="34" charset="0"/>
                <a:ea typeface="Calibri" panose="020F0502020204030204" pitchFamily="34" charset="0"/>
                <a:cs typeface="Calibri" panose="020F0502020204030204" pitchFamily="34" charset="0"/>
              </a:rPr>
              <a:t>Therefore, this represents a second order linear ODE which is a damped harmonic oscillator.</a:t>
            </a:r>
          </a:p>
        </p:txBody>
      </p:sp>
      <p:pic>
        <p:nvPicPr>
          <p:cNvPr id="3" name="Picture 2">
            <a:extLst>
              <a:ext uri="{FF2B5EF4-FFF2-40B4-BE49-F238E27FC236}">
                <a16:creationId xmlns:a16="http://schemas.microsoft.com/office/drawing/2014/main" id="{94FC7281-E3D2-4E06-922B-5F61BEA0C4F1}"/>
              </a:ext>
            </a:extLst>
          </p:cNvPr>
          <p:cNvPicPr>
            <a:picLocks noChangeAspect="1"/>
          </p:cNvPicPr>
          <p:nvPr/>
        </p:nvPicPr>
        <p:blipFill>
          <a:blip r:embed="rId3"/>
          <a:srcRect l="7874" r="3526" b="4865"/>
          <a:stretch>
            <a:fillRect/>
          </a:stretch>
        </p:blipFill>
        <p:spPr>
          <a:xfrm>
            <a:off x="9232490" y="1492385"/>
            <a:ext cx="2709540" cy="1796418"/>
          </a:xfrm>
          <a:prstGeom prst="rect">
            <a:avLst/>
          </a:prstGeom>
        </p:spPr>
      </p:pic>
    </p:spTree>
    <p:extLst>
      <p:ext uri="{BB962C8B-B14F-4D97-AF65-F5344CB8AC3E}">
        <p14:creationId xmlns:p14="http://schemas.microsoft.com/office/powerpoint/2010/main" val="282276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4A04C3A6-11DA-28D1-C07A-7EA21DED74EB}"/>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BCBD62A3-DBB3-CC5E-4497-1D45969FDA51}"/>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MODIFIED CIRCUIT</a:t>
            </a:r>
            <a:endParaRPr dirty="0"/>
          </a:p>
        </p:txBody>
      </p:sp>
      <p:sp>
        <p:nvSpPr>
          <p:cNvPr id="132" name="Google Shape;132;p17">
            <a:extLst>
              <a:ext uri="{FF2B5EF4-FFF2-40B4-BE49-F238E27FC236}">
                <a16:creationId xmlns:a16="http://schemas.microsoft.com/office/drawing/2014/main" id="{4DCF11CA-0F54-815A-6AED-AC3863D4E148}"/>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4</a:t>
            </a:fld>
            <a:endParaRPr/>
          </a:p>
        </p:txBody>
      </p:sp>
      <p:sp>
        <p:nvSpPr>
          <p:cNvPr id="133" name="Google Shape;133;p17">
            <a:extLst>
              <a:ext uri="{FF2B5EF4-FFF2-40B4-BE49-F238E27FC236}">
                <a16:creationId xmlns:a16="http://schemas.microsoft.com/office/drawing/2014/main" id="{74B11419-41A9-4EDC-D015-7241C73434F0}"/>
              </a:ext>
            </a:extLst>
          </p:cNvPr>
          <p:cNvSpPr txBox="1"/>
          <p:nvPr/>
        </p:nvSpPr>
        <p:spPr>
          <a:xfrm>
            <a:off x="176979" y="767596"/>
            <a:ext cx="9153833" cy="5232161"/>
          </a:xfrm>
          <a:prstGeom prst="rect">
            <a:avLst/>
          </a:prstGeom>
          <a:noFill/>
          <a:ln>
            <a:noFill/>
          </a:ln>
        </p:spPr>
        <p:txBody>
          <a:bodyPr spcFirstLastPara="1" wrap="square" lIns="91425" tIns="45700" rIns="91425" bIns="45700" anchor="t" anchorCtr="0">
            <a:spAutoFit/>
          </a:bodyPr>
          <a:lstStyle/>
          <a:p>
            <a:pPr marL="228600" lvl="0" indent="-228600">
              <a:buClr>
                <a:schemeClr val="dk1"/>
              </a:buClr>
              <a:buSzPts val="3200"/>
              <a:buFont typeface="Calibri"/>
              <a:buChar char="•"/>
            </a:pPr>
            <a:r>
              <a:rPr lang="en-US" sz="2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Used </a:t>
            </a:r>
            <a:r>
              <a:rPr lang="en-US" sz="2800" dirty="0">
                <a:latin typeface="Calibri" panose="020F0502020204030204" pitchFamily="34" charset="0"/>
                <a:ea typeface="Calibri" panose="020F0502020204030204" pitchFamily="34" charset="0"/>
                <a:cs typeface="Calibri" panose="020F0502020204030204" pitchFamily="34" charset="0"/>
              </a:rPr>
              <a:t>an active element (an array of vacuum tubes – semiconductor) instead of a passive resistor.</a:t>
            </a:r>
          </a:p>
          <a:p>
            <a:pPr marL="228600" lvl="0" indent="-228600">
              <a:buClr>
                <a:schemeClr val="dk1"/>
              </a:buClr>
              <a:buSzPts val="3200"/>
              <a:buFont typeface="Calibri"/>
              <a:buChar char="•"/>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Semiconductor when current is:</a:t>
            </a:r>
          </a:p>
          <a:p>
            <a:pPr lvl="0">
              <a:buClr>
                <a:schemeClr val="dk1"/>
              </a:buClr>
              <a:buSzPts val="3200"/>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Low: Acts as if pumping energy in system.</a:t>
            </a:r>
          </a:p>
          <a:p>
            <a:pPr lvl="0">
              <a:buClr>
                <a:schemeClr val="dk1"/>
              </a:buClr>
              <a:buSzPts val="3200"/>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High: Acts as if damping energy of system.</a:t>
            </a:r>
          </a:p>
          <a:p>
            <a:pPr marL="228600" lvl="0" indent="-228600">
              <a:buClr>
                <a:schemeClr val="dk1"/>
              </a:buClr>
              <a:buSzPts val="3200"/>
              <a:buFont typeface="Calibri"/>
              <a:buChar char="•"/>
            </a:pPr>
            <a:r>
              <a:rPr lang="en-US" sz="26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But resistor simply dissipates energy.</a:t>
            </a:r>
          </a:p>
          <a:p>
            <a:pPr marL="228600" lvl="0" indent="-228600">
              <a:buClr>
                <a:schemeClr val="dk1"/>
              </a:buClr>
              <a:buSzPts val="3200"/>
              <a:buFont typeface="Calibri"/>
              <a:buChar char="•"/>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Interplay between energy injection and energy absorption </a:t>
            </a:r>
          </a:p>
          <a:p>
            <a:pPr lvl="0">
              <a:buClr>
                <a:schemeClr val="dk1"/>
              </a:buClr>
              <a:buSzPts val="3200"/>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-&gt;periodic oscillation in voltages and currents.</a:t>
            </a:r>
          </a:p>
          <a:p>
            <a:pPr marL="228600" lvl="0" indent="-228600">
              <a:buClr>
                <a:schemeClr val="dk1"/>
              </a:buClr>
              <a:buSzPts val="3200"/>
              <a:buFont typeface="Calibri"/>
              <a:buChar char="•"/>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Suppose a power supply is attached to circuit and circuit is energized.</a:t>
            </a:r>
          </a:p>
          <a:p>
            <a:pPr marL="228600" lvl="0" indent="-228600">
              <a:buClr>
                <a:schemeClr val="dk1"/>
              </a:buClr>
              <a:buSzPts val="3200"/>
              <a:buFont typeface="Calibri"/>
              <a:buChar char="•"/>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At time t=0, the external source is switched out, E(t)=0.</a:t>
            </a:r>
          </a:p>
          <a:p>
            <a:pPr marL="228600" lvl="0" indent="-228600">
              <a:buClr>
                <a:schemeClr val="dk1"/>
              </a:buClr>
              <a:buSzPts val="3200"/>
              <a:buFont typeface="Calibri"/>
              <a:buChar char="•"/>
            </a:pPr>
            <a:r>
              <a:rPr lang="en-US"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Voltage drop at semiconductor: NOT a linear function of I(t).</a:t>
            </a:r>
          </a:p>
        </p:txBody>
      </p:sp>
      <p:pic>
        <p:nvPicPr>
          <p:cNvPr id="4" name="Picture 3">
            <a:extLst>
              <a:ext uri="{FF2B5EF4-FFF2-40B4-BE49-F238E27FC236}">
                <a16:creationId xmlns:a16="http://schemas.microsoft.com/office/drawing/2014/main" id="{45B8E40C-A871-7DD4-A1B4-4F9C27313001}"/>
              </a:ext>
            </a:extLst>
          </p:cNvPr>
          <p:cNvPicPr>
            <a:picLocks noChangeAspect="1"/>
          </p:cNvPicPr>
          <p:nvPr/>
        </p:nvPicPr>
        <p:blipFill>
          <a:blip r:embed="rId3"/>
          <a:stretch>
            <a:fillRect/>
          </a:stretch>
        </p:blipFill>
        <p:spPr>
          <a:xfrm>
            <a:off x="8416413" y="986674"/>
            <a:ext cx="3254477" cy="2134085"/>
          </a:xfrm>
          <a:prstGeom prst="rect">
            <a:avLst/>
          </a:prstGeom>
        </p:spPr>
      </p:pic>
    </p:spTree>
    <p:extLst>
      <p:ext uri="{BB962C8B-B14F-4D97-AF65-F5344CB8AC3E}">
        <p14:creationId xmlns:p14="http://schemas.microsoft.com/office/powerpoint/2010/main" val="1688163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5CED3E88-7F85-8AD7-1E48-F79BA3479DC7}"/>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60B48193-F4EA-242B-8348-24490B09919A}"/>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MODIFIED CIRCUIT</a:t>
            </a:r>
            <a:endParaRPr dirty="0"/>
          </a:p>
        </p:txBody>
      </p:sp>
      <p:sp>
        <p:nvSpPr>
          <p:cNvPr id="132" name="Google Shape;132;p17">
            <a:extLst>
              <a:ext uri="{FF2B5EF4-FFF2-40B4-BE49-F238E27FC236}">
                <a16:creationId xmlns:a16="http://schemas.microsoft.com/office/drawing/2014/main" id="{356EC2BC-8431-32D0-7B4B-8903680C0B1A}"/>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5</a:t>
            </a:fld>
            <a:endParaRPr/>
          </a:p>
        </p:txBody>
      </p:sp>
      <mc:AlternateContent xmlns:mc="http://schemas.openxmlformats.org/markup-compatibility/2006" xmlns:a14="http://schemas.microsoft.com/office/drawing/2010/main">
        <mc:Choice Requires="a14">
          <p:sp>
            <p:nvSpPr>
              <p:cNvPr id="133" name="Google Shape;133;p17">
                <a:extLst>
                  <a:ext uri="{FF2B5EF4-FFF2-40B4-BE49-F238E27FC236}">
                    <a16:creationId xmlns:a16="http://schemas.microsoft.com/office/drawing/2014/main" id="{F9AA1EC9-D716-3398-32E3-6335D9163FD4}"/>
                  </a:ext>
                </a:extLst>
              </p:cNvPr>
              <p:cNvSpPr txBox="1"/>
              <p:nvPr/>
            </p:nvSpPr>
            <p:spPr>
              <a:xfrm>
                <a:off x="78657" y="767596"/>
                <a:ext cx="9153833" cy="5226583"/>
              </a:xfrm>
              <a:prstGeom prst="rect">
                <a:avLst/>
              </a:prstGeom>
              <a:noFill/>
              <a:ln>
                <a:noFill/>
              </a:ln>
            </p:spPr>
            <p:txBody>
              <a:bodyPr spcFirstLastPara="1" wrap="square" lIns="91425" tIns="45700" rIns="91425" bIns="45700" anchor="t" anchorCtr="0">
                <a:spAutoFit/>
              </a:bodyPr>
              <a:lstStyle/>
              <a:p>
                <a:pPr marL="228600" lvl="0" indent="-228600">
                  <a:buClr>
                    <a:schemeClr val="dk1"/>
                  </a:buClr>
                  <a:buSzPts val="3200"/>
                  <a:buFont typeface="Calibri"/>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Given by the non linear function </a:t>
                </a:r>
                <a14:m>
                  <m:oMath xmlns:m="http://schemas.openxmlformats.org/officeDocument/2006/math">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𝐼</m:t>
                        </m:r>
                      </m:e>
                      <m:sup>
                        <m:r>
                          <a:rPr lang="en-US" sz="2400" b="0" i="1" smtClean="0">
                            <a:latin typeface="Cambria Math" panose="02040503050406030204" pitchFamily="18" charset="0"/>
                          </a:rPr>
                          <m:t>2</m:t>
                        </m:r>
                      </m:sup>
                    </m:sSup>
                  </m:oMath>
                </a14:m>
                <a:r>
                  <a:rPr lang="en-US" sz="2400" dirty="0">
                    <a:latin typeface="Calibri" panose="020F0502020204030204" pitchFamily="34" charset="0"/>
                    <a:ea typeface="Calibri" panose="020F0502020204030204" pitchFamily="34" charset="0"/>
                    <a:cs typeface="Calibri" panose="020F0502020204030204" pitchFamily="34" charset="0"/>
                  </a:rPr>
                  <a:t>−α, where α is the threshold level of current.</a:t>
                </a:r>
              </a:p>
              <a:p>
                <a:pPr marL="228600" lvl="0" indent="-228600">
                  <a:buClr>
                    <a:schemeClr val="dk1"/>
                  </a:buClr>
                  <a:buSzPts val="3200"/>
                  <a:buFont typeface="Calibri"/>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𝐼</m:t>
                        </m:r>
                      </m:e>
                      <m:sup>
                        <m:r>
                          <a:rPr lang="en-US" sz="2400" i="1">
                            <a:latin typeface="Cambria Math" panose="02040503050406030204" pitchFamily="18" charset="0"/>
                          </a:rPr>
                          <m:t>2</m:t>
                        </m:r>
                      </m:sup>
                    </m:sSup>
                  </m:oMath>
                </a14:m>
                <a:r>
                  <a:rPr lang="en-US" sz="2400" dirty="0">
                    <a:latin typeface="Calibri" panose="020F0502020204030204" pitchFamily="34" charset="0"/>
                    <a:ea typeface="Calibri" panose="020F0502020204030204" pitchFamily="34" charset="0"/>
                    <a:cs typeface="Calibri" panose="020F0502020204030204" pitchFamily="34" charset="0"/>
                  </a:rPr>
                  <a:t>−α)I + Q/C = E</a:t>
                </a:r>
              </a:p>
              <a:p>
                <a:pPr marL="228600" lvl="0" indent="-228600">
                  <a:buClr>
                    <a:schemeClr val="dk1"/>
                  </a:buClr>
                  <a:buSzPts val="3200"/>
                  <a:buFont typeface="Calibri"/>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Differentiate both sides of equation:</a:t>
                </a:r>
              </a:p>
              <a:p>
                <a:pPr lvl="0">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 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 I’ </a:t>
                </a:r>
                <a:r>
                  <a:rPr lang="en-US" sz="2400" dirty="0">
                    <a:latin typeface="Calibri" panose="020F0502020204030204" pitchFamily="34" charset="0"/>
                    <a:ea typeface="Calibri" panose="020F0502020204030204" pitchFamily="34" charset="0"/>
                    <a:cs typeface="Calibri" panose="020F0502020204030204" pitchFamily="34" charset="0"/>
                  </a:rPr>
                  <a:t>+ I/C = 0</a:t>
                </a:r>
              </a:p>
              <a:p>
                <a:pPr lvl="0">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(2</a:t>
                </a:r>
                <a:r>
                  <a:rPr lang="en-US" sz="2400" i="1"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II’</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)I + (</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−α)I’ </a:t>
                </a:r>
                <a:r>
                  <a:rPr lang="en-US" sz="2400" dirty="0">
                    <a:latin typeface="Calibri" panose="020F0502020204030204" pitchFamily="34" charset="0"/>
                    <a:ea typeface="Calibri" panose="020F0502020204030204" pitchFamily="34" charset="0"/>
                    <a:cs typeface="Calibri" panose="020F0502020204030204" pitchFamily="34" charset="0"/>
                  </a:rPr>
                  <a:t>+ I/C = 0</a:t>
                </a:r>
              </a:p>
              <a:p>
                <a:pPr lvl="0">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2</a:t>
                </a:r>
                <a:r>
                  <a:rPr lang="en-US" sz="2400" dirty="0">
                    <a:highlight>
                      <a:srgbClr val="FFFF00"/>
                    </a:highlight>
                  </a:rPr>
                  <a:t> </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 </a:t>
                </a:r>
                <a:r>
                  <a:rPr lang="en-US" sz="2400" i="1"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−α)I’ </a:t>
                </a:r>
                <a:r>
                  <a:rPr lang="en-US" sz="2400" dirty="0">
                    <a:latin typeface="Calibri" panose="020F0502020204030204" pitchFamily="34" charset="0"/>
                    <a:ea typeface="Calibri" panose="020F0502020204030204" pitchFamily="34" charset="0"/>
                    <a:cs typeface="Calibri" panose="020F0502020204030204" pitchFamily="34" charset="0"/>
                  </a:rPr>
                  <a:t>+ I/C = 0</a:t>
                </a:r>
              </a:p>
              <a:p>
                <a:pPr lvl="0">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I’ (2 </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 + </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 </a:t>
                </a:r>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 </a:t>
                </a:r>
                <a:r>
                  <a:rPr lang="en-US" sz="2400" dirty="0">
                    <a:latin typeface="Calibri" panose="020F0502020204030204" pitchFamily="34" charset="0"/>
                    <a:ea typeface="Calibri" panose="020F0502020204030204" pitchFamily="34" charset="0"/>
                    <a:cs typeface="Calibri" panose="020F0502020204030204" pitchFamily="34" charset="0"/>
                  </a:rPr>
                  <a:t>+ I/C = 0                  (Taking I’ common)</a:t>
                </a:r>
              </a:p>
              <a:p>
                <a:pPr lvl="0">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I’ (3 </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 </a:t>
                </a:r>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 </a:t>
                </a:r>
                <a:r>
                  <a:rPr lang="en-US" sz="2400" dirty="0">
                    <a:latin typeface="Calibri" panose="020F0502020204030204" pitchFamily="34" charset="0"/>
                    <a:ea typeface="Calibri" panose="020F0502020204030204" pitchFamily="34" charset="0"/>
                    <a:cs typeface="Calibri" panose="020F0502020204030204" pitchFamily="34" charset="0"/>
                  </a:rPr>
                  <a:t>+ I/C = 0</a:t>
                </a:r>
              </a:p>
              <a:p>
                <a:pPr>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 + </a:t>
                </a:r>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3I’ (</a:t>
                </a:r>
                <a14:m>
                  <m:oMath xmlns:m="http://schemas.openxmlformats.org/officeDocument/2006/math">
                    <m:sSup>
                      <m:sSupPr>
                        <m:ctrlPr>
                          <a:rPr lang="en-US" sz="2400" i="1">
                            <a:highlight>
                              <a:srgbClr val="FFFF00"/>
                            </a:highlight>
                            <a:latin typeface="Cambria Math" panose="02040503050406030204" pitchFamily="18" charset="0"/>
                          </a:rPr>
                        </m:ctrlPr>
                      </m:sSupPr>
                      <m:e>
                        <m:r>
                          <a:rPr lang="en-US" sz="2400" i="1">
                            <a:highlight>
                              <a:srgbClr val="FFFF00"/>
                            </a:highlight>
                            <a:latin typeface="Cambria Math" panose="02040503050406030204" pitchFamily="18" charset="0"/>
                          </a:rPr>
                          <m:t>𝐼</m:t>
                        </m:r>
                      </m:e>
                      <m:sup>
                        <m:r>
                          <a:rPr lang="en-US" sz="2400" i="1">
                            <a:highlight>
                              <a:srgbClr val="FFFF00"/>
                            </a:highlight>
                            <a:latin typeface="Cambria Math" panose="02040503050406030204" pitchFamily="18" charset="0"/>
                          </a:rPr>
                          <m:t>2</m:t>
                        </m:r>
                      </m:sup>
                    </m:sSup>
                  </m:oMath>
                </a14:m>
                <a:r>
                  <a:rPr lang="en-US" sz="2400" dirty="0">
                    <a:solidFill>
                      <a:schemeClr val="dk1"/>
                    </a:solidFill>
                    <a:highlight>
                      <a:srgbClr val="FFFF00"/>
                    </a:highlight>
                    <a:latin typeface="Calibri" panose="020F0502020204030204" pitchFamily="34" charset="0"/>
                    <a:ea typeface="Calibri" panose="020F0502020204030204" pitchFamily="34" charset="0"/>
                    <a:cs typeface="Calibri" panose="020F0502020204030204" pitchFamily="34" charset="0"/>
                    <a:sym typeface="Calibri"/>
                  </a:rPr>
                  <a:t> </a:t>
                </a:r>
                <a:r>
                  <a:rPr lang="en-US" sz="2400" dirty="0">
                    <a:highlight>
                      <a:srgbClr val="FFFF00"/>
                    </a:highlight>
                    <a:latin typeface="Calibri" panose="020F0502020204030204" pitchFamily="34" charset="0"/>
                    <a:ea typeface="Calibri" panose="020F0502020204030204" pitchFamily="34" charset="0"/>
                    <a:cs typeface="Calibri" panose="020F0502020204030204" pitchFamily="34" charset="0"/>
                  </a:rPr>
                  <a:t>−α/3) </a:t>
                </a:r>
                <a:r>
                  <a:rPr lang="en-US" sz="2400" dirty="0">
                    <a:latin typeface="Calibri" panose="020F0502020204030204" pitchFamily="34" charset="0"/>
                    <a:ea typeface="Calibri" panose="020F0502020204030204" pitchFamily="34" charset="0"/>
                    <a:cs typeface="Calibri" panose="020F0502020204030204" pitchFamily="34" charset="0"/>
                  </a:rPr>
                  <a:t>+ I/C = 0                       (Taking 3 as a factor)</a:t>
                </a:r>
              </a:p>
              <a:p>
                <a:pPr>
                  <a:buClr>
                    <a:schemeClr val="dk1"/>
                  </a:buClr>
                  <a:buSzPts val="3200"/>
                </a:pPr>
                <a:r>
                  <a:rPr lang="en-US" sz="2400" dirty="0">
                    <a:latin typeface="Calibri" panose="020F0502020204030204" pitchFamily="34" charset="0"/>
                    <a:ea typeface="Calibri" panose="020F0502020204030204" pitchFamily="34" charset="0"/>
                    <a:cs typeface="Calibri" panose="020F0502020204030204" pitchFamily="34" charset="0"/>
                  </a:rPr>
                  <a:t>I” + </a:t>
                </a:r>
                <a14:m>
                  <m:oMath xmlns:m="http://schemas.openxmlformats.org/officeDocument/2006/math">
                    <m:f>
                      <m:fPr>
                        <m:ctrlPr>
                          <a:rPr lang="en-US" sz="2400" i="1" smtClean="0">
                            <a:latin typeface="Cambria Math" panose="02040503050406030204" pitchFamily="18" charset="0"/>
                            <a:ea typeface="Calibri" panose="020F0502020204030204" pitchFamily="34" charset="0"/>
                            <a:cs typeface="Calibri" panose="020F0502020204030204" pitchFamily="34" charset="0"/>
                          </a:rPr>
                        </m:ctrlPr>
                      </m:fPr>
                      <m:num>
                        <m:r>
                          <a:rPr lang="en-US" sz="2400" b="0" i="1" smtClean="0">
                            <a:latin typeface="Cambria Math" panose="02040503050406030204" pitchFamily="18" charset="0"/>
                            <a:ea typeface="Calibri" panose="020F0502020204030204" pitchFamily="34" charset="0"/>
                            <a:cs typeface="Calibri" panose="020F0502020204030204" pitchFamily="34" charset="0"/>
                          </a:rPr>
                          <m:t>3</m:t>
                        </m:r>
                      </m:num>
                      <m:den>
                        <m:r>
                          <a:rPr lang="en-US" sz="2400" b="0" i="1" smtClean="0">
                            <a:latin typeface="Cambria Math" panose="02040503050406030204" pitchFamily="18" charset="0"/>
                            <a:ea typeface="Calibri" panose="020F0502020204030204" pitchFamily="34" charset="0"/>
                            <a:cs typeface="Calibri" panose="020F0502020204030204" pitchFamily="34" charset="0"/>
                          </a:rPr>
                          <m:t>𝐿</m:t>
                        </m:r>
                      </m:den>
                    </m:f>
                  </m:oMath>
                </a14:m>
                <a:r>
                  <a:rPr lang="en-US" sz="2400" dirty="0">
                    <a:latin typeface="Calibri" panose="020F0502020204030204" pitchFamily="34" charset="0"/>
                    <a:ea typeface="Calibri" panose="020F0502020204030204" pitchFamily="34" charset="0"/>
                    <a:cs typeface="Calibri" panose="020F0502020204030204" pitchFamily="34" charset="0"/>
                  </a:rPr>
                  <a:t>I’(</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𝐼</m:t>
                        </m:r>
                      </m:e>
                      <m:sup>
                        <m:r>
                          <a:rPr lang="en-US" sz="2400" i="1">
                            <a:latin typeface="Cambria Math" panose="02040503050406030204" pitchFamily="18" charset="0"/>
                          </a:rPr>
                          <m:t>2</m:t>
                        </m:r>
                      </m:sup>
                    </m:sSup>
                  </m:oMath>
                </a14:m>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r>
                  <a:rPr lang="en-US" sz="2400" dirty="0">
                    <a:latin typeface="Calibri" panose="020F0502020204030204" pitchFamily="34" charset="0"/>
                    <a:ea typeface="Calibri" panose="020F0502020204030204" pitchFamily="34" charset="0"/>
                    <a:cs typeface="Calibri" panose="020F0502020204030204" pitchFamily="34" charset="0"/>
                  </a:rPr>
                  <a:t>−α/3) + I/LC = 0</a:t>
                </a:r>
              </a:p>
              <a:p>
                <a:pPr>
                  <a:buClr>
                    <a:schemeClr val="dk1"/>
                  </a:buClr>
                  <a:buSzPts val="3200"/>
                </a:pPr>
                <a:r>
                  <a:rPr lang="en-US" sz="2400" dirty="0">
                    <a:latin typeface="Calibri" panose="020F0502020204030204" pitchFamily="34" charset="0"/>
                    <a:ea typeface="Calibri" panose="020F0502020204030204" pitchFamily="34" charset="0"/>
                    <a:cs typeface="Calibri" panose="020F0502020204030204" pitchFamily="34" charset="0"/>
                  </a:rPr>
                  <a:t>Rescaling I as </a:t>
                </a:r>
                <a14:m>
                  <m:oMath xmlns:m="http://schemas.openxmlformats.org/officeDocument/2006/math">
                    <m:rad>
                      <m:radPr>
                        <m:degHide m:val="on"/>
                        <m:ctrlPr>
                          <a:rPr lang="en-US" sz="2400" i="1">
                            <a:latin typeface="Cambria Math" panose="02040503050406030204" pitchFamily="18" charset="0"/>
                            <a:ea typeface="Calibri" panose="020F0502020204030204" pitchFamily="34" charset="0"/>
                            <a:cs typeface="Calibri" panose="020F0502020204030204" pitchFamily="34" charset="0"/>
                          </a:rPr>
                        </m:ctrlPr>
                      </m:radPr>
                      <m:deg/>
                      <m:e>
                        <m:r>
                          <m:rPr>
                            <m:nor/>
                          </m:rPr>
                          <a:rPr lang="en-US" sz="2400" dirty="0">
                            <a:latin typeface="Calibri" panose="020F0502020204030204" pitchFamily="34" charset="0"/>
                            <a:ea typeface="Calibri" panose="020F0502020204030204" pitchFamily="34" charset="0"/>
                            <a:cs typeface="Calibri" panose="020F0502020204030204" pitchFamily="34" charset="0"/>
                          </a:rPr>
                          <m:t>α</m:t>
                        </m:r>
                        <m:r>
                          <m:rPr>
                            <m:nor/>
                          </m:rPr>
                          <a:rPr lang="en-US" sz="2400" dirty="0">
                            <a:latin typeface="Calibri" panose="020F0502020204030204" pitchFamily="34" charset="0"/>
                            <a:ea typeface="Calibri" panose="020F0502020204030204" pitchFamily="34" charset="0"/>
                            <a:cs typeface="Calibri" panose="020F0502020204030204" pitchFamily="34" charset="0"/>
                          </a:rPr>
                          <m:t>/3</m:t>
                        </m:r>
                      </m:e>
                    </m:rad>
                  </m:oMath>
                </a14:m>
                <a:r>
                  <a:rPr lang="en-US" sz="2400" dirty="0">
                    <a:latin typeface="Calibri" panose="020F0502020204030204" pitchFamily="34" charset="0"/>
                    <a:ea typeface="Calibri" panose="020F0502020204030204" pitchFamily="34" charset="0"/>
                    <a:cs typeface="Calibri" panose="020F0502020204030204" pitchFamily="34" charset="0"/>
                  </a:rPr>
                  <a:t> I and time </a:t>
                </a:r>
                <a:r>
                  <a:rPr lang="el-GR" sz="2400" i="1" dirty="0">
                    <a:latin typeface="Calibri" panose="020F0502020204030204" pitchFamily="34" charset="0"/>
                    <a:ea typeface="Calibri" panose="020F0502020204030204" pitchFamily="34" charset="0"/>
                    <a:cs typeface="Calibri" panose="020F0502020204030204" pitchFamily="34" charset="0"/>
                  </a:rPr>
                  <a:t>τ</a:t>
                </a:r>
                <a:r>
                  <a:rPr lang="en-US" sz="2400" i="1" dirty="0">
                    <a:latin typeface="Calibri" panose="020F0502020204030204" pitchFamily="34" charset="0"/>
                    <a:ea typeface="Calibri" panose="020F0502020204030204" pitchFamily="34" charset="0"/>
                    <a:cs typeface="Calibri" panose="020F0502020204030204" pitchFamily="34" charset="0"/>
                  </a:rPr>
                  <a:t> = t/</a:t>
                </a:r>
                <a:r>
                  <a:rPr lang="en-US" sz="2400" dirty="0">
                    <a:ea typeface="Calibri" panose="020F0502020204030204" pitchFamily="34" charset="0"/>
                    <a:cs typeface="Calibri" panose="020F0502020204030204" pitchFamily="34" charset="0"/>
                  </a:rPr>
                  <a:t> </a:t>
                </a:r>
                <a14:m>
                  <m:oMath xmlns:m="http://schemas.openxmlformats.org/officeDocument/2006/math">
                    <m:rad>
                      <m:radPr>
                        <m:degHide m:val="on"/>
                        <m:ctrlPr>
                          <a:rPr lang="en-US" sz="2400" i="1">
                            <a:latin typeface="Cambria Math" panose="02040503050406030204" pitchFamily="18" charset="0"/>
                            <a:ea typeface="Calibri" panose="020F0502020204030204" pitchFamily="34" charset="0"/>
                            <a:cs typeface="Calibri" panose="020F0502020204030204" pitchFamily="34" charset="0"/>
                          </a:rPr>
                        </m:ctrlPr>
                      </m:radPr>
                      <m:deg/>
                      <m:e>
                        <m:r>
                          <a:rPr lang="en-US" sz="2400" b="0" i="1" smtClean="0">
                            <a:latin typeface="Cambria Math" panose="02040503050406030204" pitchFamily="18" charset="0"/>
                            <a:ea typeface="Calibri" panose="020F0502020204030204" pitchFamily="34" charset="0"/>
                            <a:cs typeface="Calibri" panose="020F0502020204030204" pitchFamily="34" charset="0"/>
                          </a:rPr>
                          <m:t>𝐿𝐶</m:t>
                        </m:r>
                      </m:e>
                    </m:rad>
                  </m:oMath>
                </a14:m>
                <a:endParaRPr lang="en-US" sz="2400" dirty="0">
                  <a:latin typeface="Calibri" panose="020F0502020204030204" pitchFamily="34" charset="0"/>
                  <a:ea typeface="Calibri" panose="020F0502020204030204" pitchFamily="34" charset="0"/>
                  <a:cs typeface="Calibri" panose="020F0502020204030204" pitchFamily="34" charset="0"/>
                </a:endParaRPr>
              </a:p>
              <a:p>
                <a:pPr>
                  <a:buClr>
                    <a:schemeClr val="dk1"/>
                  </a:buClr>
                  <a:buSzPts val="3200"/>
                </a:pPr>
                <a:r>
                  <a:rPr lang="en-US" sz="2700" dirty="0">
                    <a:latin typeface="Calibri" panose="020F0502020204030204" pitchFamily="34" charset="0"/>
                    <a:ea typeface="Calibri" panose="020F0502020204030204" pitchFamily="34" charset="0"/>
                    <a:cs typeface="Calibri" panose="020F0502020204030204" pitchFamily="34" charset="0"/>
                  </a:rPr>
                  <a:t>y</a:t>
                </a:r>
                <a:r>
                  <a:rPr lang="el-GR" sz="2700" dirty="0">
                    <a:latin typeface="Calibri" panose="020F0502020204030204" pitchFamily="34" charset="0"/>
                    <a:ea typeface="Calibri" panose="020F0502020204030204" pitchFamily="34" charset="0"/>
                    <a:cs typeface="Calibri" panose="020F0502020204030204" pitchFamily="34" charset="0"/>
                  </a:rPr>
                  <a:t>′′+μ(</a:t>
                </a:r>
                <a14:m>
                  <m:oMath xmlns:m="http://schemas.openxmlformats.org/officeDocument/2006/math">
                    <m:sSup>
                      <m:sSupPr>
                        <m:ctrlPr>
                          <a:rPr lang="en-US" sz="2700" i="1">
                            <a:latin typeface="Cambria Math" panose="02040503050406030204" pitchFamily="18" charset="0"/>
                          </a:rPr>
                        </m:ctrlPr>
                      </m:sSupPr>
                      <m:e>
                        <m:r>
                          <a:rPr lang="en-US" sz="2700" b="0" i="1" smtClean="0">
                            <a:latin typeface="Cambria Math" panose="02040503050406030204" pitchFamily="18" charset="0"/>
                          </a:rPr>
                          <m:t>𝑦</m:t>
                        </m:r>
                      </m:e>
                      <m:sup>
                        <m:r>
                          <a:rPr lang="en-US" sz="2700" i="1">
                            <a:latin typeface="Cambria Math" panose="02040503050406030204" pitchFamily="18" charset="0"/>
                          </a:rPr>
                          <m:t>2</m:t>
                        </m:r>
                      </m:sup>
                    </m:sSup>
                    <m:r>
                      <a:rPr lang="en-US" sz="2700" i="1">
                        <a:latin typeface="Cambria Math" panose="02040503050406030204" pitchFamily="18" charset="0"/>
                      </a:rPr>
                      <m:t> </m:t>
                    </m:r>
                  </m:oMath>
                </a14:m>
                <a:r>
                  <a:rPr lang="el-GR" sz="2700" dirty="0">
                    <a:latin typeface="Calibri" panose="020F0502020204030204" pitchFamily="34" charset="0"/>
                    <a:ea typeface="Calibri" panose="020F0502020204030204" pitchFamily="34" charset="0"/>
                    <a:cs typeface="Calibri" panose="020F0502020204030204" pitchFamily="34" charset="0"/>
                  </a:rPr>
                  <a:t>−1)</a:t>
                </a:r>
                <a:r>
                  <a:rPr lang="en-US" sz="2700" dirty="0">
                    <a:latin typeface="Calibri" panose="020F0502020204030204" pitchFamily="34" charset="0"/>
                    <a:ea typeface="Calibri" panose="020F0502020204030204" pitchFamily="34" charset="0"/>
                    <a:cs typeface="Calibri" panose="020F0502020204030204" pitchFamily="34" charset="0"/>
                  </a:rPr>
                  <a:t>y</a:t>
                </a:r>
                <a:r>
                  <a:rPr lang="el-GR" sz="2700" dirty="0">
                    <a:latin typeface="Calibri" panose="020F0502020204030204" pitchFamily="34" charset="0"/>
                    <a:ea typeface="Calibri" panose="020F0502020204030204" pitchFamily="34" charset="0"/>
                    <a:cs typeface="Calibri" panose="020F0502020204030204" pitchFamily="34" charset="0"/>
                  </a:rPr>
                  <a:t>′+</a:t>
                </a:r>
                <a:r>
                  <a:rPr lang="en-US" sz="2700" dirty="0">
                    <a:latin typeface="Calibri" panose="020F0502020204030204" pitchFamily="34" charset="0"/>
                    <a:ea typeface="Calibri" panose="020F0502020204030204" pitchFamily="34" charset="0"/>
                    <a:cs typeface="Calibri" panose="020F0502020204030204" pitchFamily="34" charset="0"/>
                  </a:rPr>
                  <a:t>y</a:t>
                </a:r>
                <a:r>
                  <a:rPr lang="el-GR" sz="2700" dirty="0">
                    <a:latin typeface="Calibri" panose="020F0502020204030204" pitchFamily="34" charset="0"/>
                    <a:ea typeface="Calibri" panose="020F0502020204030204" pitchFamily="34" charset="0"/>
                    <a:cs typeface="Calibri" panose="020F0502020204030204" pitchFamily="34" charset="0"/>
                  </a:rPr>
                  <a:t>=0</a:t>
                </a:r>
                <a:endParaRPr lang="en-US" sz="27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33" name="Google Shape;133;p17">
                <a:extLst>
                  <a:ext uri="{FF2B5EF4-FFF2-40B4-BE49-F238E27FC236}">
                    <a16:creationId xmlns:a16="http://schemas.microsoft.com/office/drawing/2014/main" id="{F9AA1EC9-D716-3398-32E3-6335D9163FD4}"/>
                  </a:ext>
                </a:extLst>
              </p:cNvPr>
              <p:cNvSpPr txBox="1">
                <a:spLocks noRot="1" noChangeAspect="1" noMove="1" noResize="1" noEditPoints="1" noAdjustHandles="1" noChangeArrowheads="1" noChangeShapeType="1" noTextEdit="1"/>
              </p:cNvSpPr>
              <p:nvPr/>
            </p:nvSpPr>
            <p:spPr>
              <a:xfrm>
                <a:off x="78657" y="767596"/>
                <a:ext cx="9153833" cy="5226583"/>
              </a:xfrm>
              <a:prstGeom prst="rect">
                <a:avLst/>
              </a:prstGeom>
              <a:blipFill>
                <a:blip r:embed="rId3"/>
                <a:stretch>
                  <a:fillRect l="-1798" t="-3617" b="-1167"/>
                </a:stretch>
              </a:blipFill>
              <a:ln>
                <a:noFill/>
              </a:ln>
            </p:spPr>
            <p:txBody>
              <a:bodyPr/>
              <a:lstStyle/>
              <a:p>
                <a:r>
                  <a:rPr lang="en-IN">
                    <a:noFill/>
                  </a:rPr>
                  <a:t> </a:t>
                </a:r>
              </a:p>
            </p:txBody>
          </p:sp>
        </mc:Fallback>
      </mc:AlternateContent>
      <p:pic>
        <p:nvPicPr>
          <p:cNvPr id="2" name="Picture 1">
            <a:extLst>
              <a:ext uri="{FF2B5EF4-FFF2-40B4-BE49-F238E27FC236}">
                <a16:creationId xmlns:a16="http://schemas.microsoft.com/office/drawing/2014/main" id="{59150E95-3DF3-978C-EB4F-BF0A43757697}"/>
              </a:ext>
            </a:extLst>
          </p:cNvPr>
          <p:cNvPicPr>
            <a:picLocks noChangeAspect="1"/>
          </p:cNvPicPr>
          <p:nvPr/>
        </p:nvPicPr>
        <p:blipFill>
          <a:blip r:embed="rId4"/>
          <a:stretch>
            <a:fillRect/>
          </a:stretch>
        </p:blipFill>
        <p:spPr>
          <a:xfrm>
            <a:off x="8367280" y="1999396"/>
            <a:ext cx="3254477" cy="2134085"/>
          </a:xfrm>
          <a:prstGeom prst="rect">
            <a:avLst/>
          </a:prstGeom>
        </p:spPr>
      </p:pic>
    </p:spTree>
    <p:extLst>
      <p:ext uri="{BB962C8B-B14F-4D97-AF65-F5344CB8AC3E}">
        <p14:creationId xmlns:p14="http://schemas.microsoft.com/office/powerpoint/2010/main" val="2585300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F1F79190-5C0C-F463-F790-02B7658195DD}"/>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D02AA48D-D374-036F-973C-D0CFCA90F1B4}"/>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VAN DER POL EQUATION</a:t>
            </a:r>
            <a:endParaRPr dirty="0"/>
          </a:p>
        </p:txBody>
      </p:sp>
      <p:sp>
        <p:nvSpPr>
          <p:cNvPr id="132" name="Google Shape;132;p17">
            <a:extLst>
              <a:ext uri="{FF2B5EF4-FFF2-40B4-BE49-F238E27FC236}">
                <a16:creationId xmlns:a16="http://schemas.microsoft.com/office/drawing/2014/main" id="{C8DEA506-7AAE-D4B1-A3EE-CC9EB45B1340}"/>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6</a:t>
            </a:fld>
            <a:endParaRPr/>
          </a:p>
        </p:txBody>
      </p:sp>
      <mc:AlternateContent xmlns:mc="http://schemas.openxmlformats.org/markup-compatibility/2006" xmlns:a14="http://schemas.microsoft.com/office/drawing/2010/main">
        <mc:Choice Requires="a14">
          <p:sp>
            <p:nvSpPr>
              <p:cNvPr id="133" name="Google Shape;133;p17">
                <a:extLst>
                  <a:ext uri="{FF2B5EF4-FFF2-40B4-BE49-F238E27FC236}">
                    <a16:creationId xmlns:a16="http://schemas.microsoft.com/office/drawing/2014/main" id="{2A90196E-842E-E7AF-FAA7-4979222E8966}"/>
                  </a:ext>
                </a:extLst>
              </p:cNvPr>
              <p:cNvSpPr txBox="1"/>
              <p:nvPr/>
            </p:nvSpPr>
            <p:spPr>
              <a:xfrm>
                <a:off x="78657" y="767596"/>
                <a:ext cx="11916698" cy="4154943"/>
              </a:xfrm>
              <a:prstGeom prst="rect">
                <a:avLst/>
              </a:prstGeom>
              <a:noFill/>
              <a:ln>
                <a:noFill/>
              </a:ln>
            </p:spPr>
            <p:txBody>
              <a:bodyPr spcFirstLastPara="1" wrap="square" lIns="91425" tIns="45700" rIns="91425" bIns="45700" anchor="t" anchorCtr="0">
                <a:spAutoFit/>
              </a:bodyPr>
              <a:lstStyle/>
              <a:p>
                <a:pPr marL="228600" indent="-228600">
                  <a:buClr>
                    <a:schemeClr val="dk1"/>
                  </a:buClr>
                  <a:buSzPts val="3200"/>
                  <a:buFont typeface="Calibri"/>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Van der Pol equation: </a:t>
                </a:r>
                <a:r>
                  <a:rPr lang="en-US" sz="2400" dirty="0">
                    <a:latin typeface="Calibri" panose="020F0502020204030204" pitchFamily="34" charset="0"/>
                    <a:ea typeface="Calibri" panose="020F0502020204030204" pitchFamily="34" charset="0"/>
                    <a:cs typeface="Calibri" panose="020F0502020204030204" pitchFamily="34" charset="0"/>
                  </a:rPr>
                  <a:t>y</a:t>
                </a:r>
                <a:r>
                  <a:rPr lang="el-GR" sz="2400" dirty="0">
                    <a:latin typeface="Calibri" panose="020F0502020204030204" pitchFamily="34" charset="0"/>
                    <a:ea typeface="Calibri" panose="020F0502020204030204" pitchFamily="34" charset="0"/>
                    <a:cs typeface="Calibri" panose="020F0502020204030204" pitchFamily="34" charset="0"/>
                  </a:rPr>
                  <a:t>′′+μ(</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2</m:t>
                        </m:r>
                      </m:sup>
                    </m:sSup>
                    <m:r>
                      <a:rPr lang="en-US" sz="2400" i="1">
                        <a:latin typeface="Cambria Math" panose="02040503050406030204" pitchFamily="18" charset="0"/>
                      </a:rPr>
                      <m:t> </m:t>
                    </m:r>
                  </m:oMath>
                </a14:m>
                <a:r>
                  <a:rPr lang="el-GR" sz="2400" dirty="0">
                    <a:latin typeface="Calibri" panose="020F0502020204030204" pitchFamily="34" charset="0"/>
                    <a:ea typeface="Calibri" panose="020F0502020204030204" pitchFamily="34" charset="0"/>
                    <a:cs typeface="Calibri" panose="020F0502020204030204" pitchFamily="34" charset="0"/>
                  </a:rPr>
                  <a:t>−1)</a:t>
                </a:r>
                <a:r>
                  <a:rPr lang="en-US" sz="2400" dirty="0">
                    <a:latin typeface="Calibri" panose="020F0502020204030204" pitchFamily="34" charset="0"/>
                    <a:ea typeface="Calibri" panose="020F0502020204030204" pitchFamily="34" charset="0"/>
                    <a:cs typeface="Calibri" panose="020F0502020204030204" pitchFamily="34" charset="0"/>
                  </a:rPr>
                  <a:t>y</a:t>
                </a:r>
                <a:r>
                  <a:rPr lang="el-GR" sz="2400" dirty="0">
                    <a:latin typeface="Calibri" panose="020F0502020204030204" pitchFamily="34" charset="0"/>
                    <a:ea typeface="Calibri" panose="020F0502020204030204" pitchFamily="34" charset="0"/>
                    <a:cs typeface="Calibri" panose="020F0502020204030204" pitchFamily="34" charset="0"/>
                  </a:rPr>
                  <a:t>′+</a:t>
                </a:r>
                <a:r>
                  <a:rPr lang="en-US" sz="2400" dirty="0">
                    <a:latin typeface="Calibri" panose="020F0502020204030204" pitchFamily="34" charset="0"/>
                    <a:ea typeface="Calibri" panose="020F0502020204030204" pitchFamily="34" charset="0"/>
                    <a:cs typeface="Calibri" panose="020F0502020204030204" pitchFamily="34" charset="0"/>
                  </a:rPr>
                  <a:t>y</a:t>
                </a:r>
                <a:r>
                  <a:rPr lang="el-GR" sz="2400" dirty="0">
                    <a:latin typeface="Calibri" panose="020F0502020204030204" pitchFamily="34" charset="0"/>
                    <a:ea typeface="Calibri" panose="020F0502020204030204" pitchFamily="34" charset="0"/>
                    <a:cs typeface="Calibri" panose="020F0502020204030204" pitchFamily="34" charset="0"/>
                  </a:rPr>
                  <a:t>=0</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228600" indent="-228600">
                  <a:buClr>
                    <a:schemeClr val="dk1"/>
                  </a:buClr>
                  <a:buSzPts val="3200"/>
                  <a:buFont typeface="Calibri"/>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228600" indent="-228600">
                  <a:buClr>
                    <a:schemeClr val="dk1"/>
                  </a:buClr>
                  <a:buSzPts val="3200"/>
                  <a:buFont typeface="Calibri"/>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228600" indent="-228600">
                  <a:buClr>
                    <a:schemeClr val="dk1"/>
                  </a:buClr>
                  <a:buSzPts val="3200"/>
                  <a:buFont typeface="Calibri"/>
                  <a:buChar char="•"/>
                </a:pPr>
                <a:r>
                  <a:rPr lang="en-US" sz="2400" dirty="0">
                    <a:latin typeface="Calibri" panose="020F0502020204030204" pitchFamily="34" charset="0"/>
                    <a:ea typeface="Calibri" panose="020F0502020204030204" pitchFamily="34" charset="0"/>
                    <a:cs typeface="Calibri" panose="020F0502020204030204" pitchFamily="34" charset="0"/>
                  </a:rPr>
                  <a:t>Rearrange the equation: y</a:t>
                </a:r>
                <a:r>
                  <a:rPr lang="el-GR" sz="2400" dirty="0">
                    <a:latin typeface="Calibri" panose="020F0502020204030204" pitchFamily="34" charset="0"/>
                    <a:ea typeface="Calibri" panose="020F0502020204030204" pitchFamily="34" charset="0"/>
                    <a:cs typeface="Calibri" panose="020F0502020204030204" pitchFamily="34" charset="0"/>
                  </a:rPr>
                  <a:t>′′</a:t>
                </a:r>
                <a:r>
                  <a:rPr lang="en-US" sz="2400" dirty="0">
                    <a:latin typeface="Calibri" panose="020F0502020204030204" pitchFamily="34" charset="0"/>
                    <a:ea typeface="Calibri" panose="020F0502020204030204" pitchFamily="34" charset="0"/>
                    <a:cs typeface="Calibri" panose="020F0502020204030204" pitchFamily="34" charset="0"/>
                  </a:rPr>
                  <a:t>= -</a:t>
                </a:r>
                <a:r>
                  <a:rPr lang="el-GR" sz="2400" dirty="0">
                    <a:latin typeface="Calibri" panose="020F0502020204030204" pitchFamily="34" charset="0"/>
                    <a:ea typeface="Calibri" panose="020F0502020204030204" pitchFamily="34" charset="0"/>
                    <a:cs typeface="Calibri" panose="020F0502020204030204" pitchFamily="34" charset="0"/>
                  </a:rPr>
                  <a:t>μ(</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2</m:t>
                        </m:r>
                      </m:sup>
                    </m:sSup>
                    <m:r>
                      <a:rPr lang="en-US" sz="2400" i="1">
                        <a:latin typeface="Cambria Math" panose="02040503050406030204" pitchFamily="18" charset="0"/>
                      </a:rPr>
                      <m:t> </m:t>
                    </m:r>
                  </m:oMath>
                </a14:m>
                <a:r>
                  <a:rPr lang="el-GR" sz="2400" dirty="0">
                    <a:latin typeface="Calibri" panose="020F0502020204030204" pitchFamily="34" charset="0"/>
                    <a:ea typeface="Calibri" panose="020F0502020204030204" pitchFamily="34" charset="0"/>
                    <a:cs typeface="Calibri" panose="020F0502020204030204" pitchFamily="34" charset="0"/>
                  </a:rPr>
                  <a:t>−1)</a:t>
                </a:r>
                <a:r>
                  <a:rPr lang="en-US" sz="2400" dirty="0">
                    <a:latin typeface="Calibri" panose="020F0502020204030204" pitchFamily="34" charset="0"/>
                    <a:ea typeface="Calibri" panose="020F0502020204030204" pitchFamily="34" charset="0"/>
                    <a:cs typeface="Calibri" panose="020F0502020204030204" pitchFamily="34" charset="0"/>
                  </a:rPr>
                  <a:t>y</a:t>
                </a:r>
                <a:r>
                  <a:rPr lang="el-GR" sz="2400" dirty="0">
                    <a:latin typeface="Calibri" panose="020F0502020204030204" pitchFamily="34" charset="0"/>
                    <a:ea typeface="Calibri" panose="020F0502020204030204" pitchFamily="34" charset="0"/>
                    <a:cs typeface="Calibri" panose="020F0502020204030204" pitchFamily="34" charset="0"/>
                  </a:rPr>
                  <a:t>′</a:t>
                </a:r>
                <a:r>
                  <a:rPr lang="en-US" sz="2400" dirty="0">
                    <a:latin typeface="Calibri" panose="020F0502020204030204" pitchFamily="34" charset="0"/>
                    <a:ea typeface="Calibri" panose="020F0502020204030204" pitchFamily="34" charset="0"/>
                    <a:cs typeface="Calibri" panose="020F0502020204030204" pitchFamily="34" charset="0"/>
                  </a:rPr>
                  <a:t> -y</a:t>
                </a:r>
              </a:p>
              <a:p>
                <a:pPr marL="228600" indent="-228600">
                  <a:buClr>
                    <a:schemeClr val="dk1"/>
                  </a:buClr>
                  <a:buSzPts val="3200"/>
                  <a:buFont typeface="Calibri"/>
                  <a:buChar char="•"/>
                </a:pPr>
                <a:r>
                  <a:rPr lang="en-US" sz="2400" dirty="0">
                    <a:latin typeface="Calibri" panose="020F0502020204030204" pitchFamily="34" charset="0"/>
                    <a:ea typeface="Calibri" panose="020F0502020204030204" pitchFamily="34" charset="0"/>
                    <a:cs typeface="Calibri" panose="020F0502020204030204" pitchFamily="34" charset="0"/>
                  </a:rPr>
                  <a:t>Damping is controlled by the term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𝑦</m:t>
                        </m:r>
                      </m:e>
                      <m:sup>
                        <m:r>
                          <a:rPr lang="en-US" sz="2400" i="1">
                            <a:latin typeface="Cambria Math" panose="02040503050406030204" pitchFamily="18" charset="0"/>
                          </a:rPr>
                          <m:t>2</m:t>
                        </m:r>
                      </m:sup>
                    </m:sSup>
                    <m:r>
                      <a:rPr lang="en-US" sz="2400" i="1">
                        <a:latin typeface="Cambria Math" panose="02040503050406030204" pitchFamily="18" charset="0"/>
                      </a:rPr>
                      <m:t> </m:t>
                    </m:r>
                  </m:oMath>
                </a14:m>
                <a:r>
                  <a:rPr lang="el-GR" sz="2400" dirty="0">
                    <a:latin typeface="Calibri" panose="020F0502020204030204" pitchFamily="34" charset="0"/>
                    <a:ea typeface="Calibri" panose="020F0502020204030204" pitchFamily="34" charset="0"/>
                    <a:cs typeface="Calibri" panose="020F0502020204030204" pitchFamily="34" charset="0"/>
                  </a:rPr>
                  <a:t>−1 </a:t>
                </a:r>
                <a:r>
                  <a:rPr lang="en-US" sz="2400" dirty="0">
                    <a:latin typeface="Calibri" panose="020F0502020204030204" pitchFamily="34" charset="0"/>
                    <a:ea typeface="Calibri" panose="020F0502020204030204" pitchFamily="34" charset="0"/>
                    <a:cs typeface="Calibri" panose="020F0502020204030204" pitchFamily="34" charset="0"/>
                  </a:rPr>
                  <a:t>which is negative for y &lt; 1, thus increasing the amplitude. </a:t>
                </a:r>
              </a:p>
              <a:p>
                <a:pPr marL="228600" indent="-228600">
                  <a:buClr>
                    <a:schemeClr val="dk1"/>
                  </a:buClr>
                  <a:buSzPts val="3200"/>
                  <a:buFont typeface="Calibri"/>
                  <a:buChar char="•"/>
                </a:pPr>
                <a:r>
                  <a:rPr lang="en-US" sz="2400" dirty="0">
                    <a:latin typeface="Calibri" panose="020F0502020204030204" pitchFamily="34" charset="0"/>
                    <a:ea typeface="Calibri" panose="020F0502020204030204" pitchFamily="34" charset="0"/>
                    <a:cs typeface="Calibri" panose="020F0502020204030204" pitchFamily="34" charset="0"/>
                  </a:rPr>
                  <a:t>If the amplitude y &gt; 1, the damping term becomes positive and decreases the amplitude, thereby effectively stabilizing it.</a:t>
                </a:r>
              </a:p>
              <a:p>
                <a:pPr marL="228600" indent="-228600">
                  <a:buClr>
                    <a:schemeClr val="dk1"/>
                  </a:buClr>
                  <a:buSzPts val="3200"/>
                  <a:buFont typeface="Calibri"/>
                  <a:buChar char="•"/>
                </a:pPr>
                <a:r>
                  <a:rPr lang="en-US" sz="2400" dirty="0">
                    <a:latin typeface="Calibri" panose="020F0502020204030204" pitchFamily="34" charset="0"/>
                    <a:ea typeface="Calibri" panose="020F0502020204030204" pitchFamily="34" charset="0"/>
                    <a:cs typeface="Calibri" panose="020F0502020204030204" pitchFamily="34" charset="0"/>
                  </a:rPr>
                  <a:t>Unscaled computer setup for the van der Pol equation</a:t>
                </a:r>
              </a:p>
              <a:p>
                <a:pPr>
                  <a:buClr>
                    <a:schemeClr val="dk1"/>
                  </a:buClr>
                  <a:buSzPts val="3200"/>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228600" lvl="0" indent="-228600">
                  <a:buClr>
                    <a:schemeClr val="dk1"/>
                  </a:buClr>
                  <a:buSzPts val="3200"/>
                  <a:buFont typeface="Calibri"/>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33" name="Google Shape;133;p17">
                <a:extLst>
                  <a:ext uri="{FF2B5EF4-FFF2-40B4-BE49-F238E27FC236}">
                    <a16:creationId xmlns:a16="http://schemas.microsoft.com/office/drawing/2014/main" id="{2A90196E-842E-E7AF-FAA7-4979222E8966}"/>
                  </a:ext>
                </a:extLst>
              </p:cNvPr>
              <p:cNvSpPr txBox="1">
                <a:spLocks noRot="1" noChangeAspect="1" noMove="1" noResize="1" noEditPoints="1" noAdjustHandles="1" noChangeArrowheads="1" noChangeShapeType="1" noTextEdit="1"/>
              </p:cNvSpPr>
              <p:nvPr/>
            </p:nvSpPr>
            <p:spPr>
              <a:xfrm>
                <a:off x="78657" y="767596"/>
                <a:ext cx="11916698" cy="4154943"/>
              </a:xfrm>
              <a:prstGeom prst="rect">
                <a:avLst/>
              </a:prstGeom>
              <a:blipFill>
                <a:blip r:embed="rId3"/>
                <a:stretch>
                  <a:fillRect l="-1381" t="-4545"/>
                </a:stretch>
              </a:blipFill>
              <a:ln>
                <a:noFill/>
              </a:ln>
            </p:spPr>
            <p:txBody>
              <a:bodyPr/>
              <a:lstStyle/>
              <a:p>
                <a:r>
                  <a:rPr lang="en-IN">
                    <a:noFill/>
                  </a:rPr>
                  <a:t> </a:t>
                </a:r>
              </a:p>
            </p:txBody>
          </p:sp>
        </mc:Fallback>
      </mc:AlternateContent>
      <p:pic>
        <p:nvPicPr>
          <p:cNvPr id="4" name="Picture 3">
            <a:extLst>
              <a:ext uri="{FF2B5EF4-FFF2-40B4-BE49-F238E27FC236}">
                <a16:creationId xmlns:a16="http://schemas.microsoft.com/office/drawing/2014/main" id="{29CD4792-C4C8-11EF-148F-8A433C99E957}"/>
              </a:ext>
            </a:extLst>
          </p:cNvPr>
          <p:cNvPicPr>
            <a:picLocks noChangeAspect="1"/>
          </p:cNvPicPr>
          <p:nvPr/>
        </p:nvPicPr>
        <p:blipFill>
          <a:blip r:embed="rId4"/>
          <a:stretch>
            <a:fillRect/>
          </a:stretch>
        </p:blipFill>
        <p:spPr>
          <a:xfrm>
            <a:off x="1448496" y="1285096"/>
            <a:ext cx="2582731" cy="596595"/>
          </a:xfrm>
          <a:prstGeom prst="rect">
            <a:avLst/>
          </a:prstGeom>
        </p:spPr>
      </p:pic>
      <p:pic>
        <p:nvPicPr>
          <p:cNvPr id="6" name="Picture 5">
            <a:extLst>
              <a:ext uri="{FF2B5EF4-FFF2-40B4-BE49-F238E27FC236}">
                <a16:creationId xmlns:a16="http://schemas.microsoft.com/office/drawing/2014/main" id="{4B1DE4C8-3D6E-EB85-FB05-7D2444686CFE}"/>
              </a:ext>
            </a:extLst>
          </p:cNvPr>
          <p:cNvPicPr>
            <a:picLocks noChangeAspect="1"/>
          </p:cNvPicPr>
          <p:nvPr/>
        </p:nvPicPr>
        <p:blipFill>
          <a:blip r:embed="rId5"/>
          <a:srcRect t="4004" b="7723"/>
          <a:stretch>
            <a:fillRect/>
          </a:stretch>
        </p:blipFill>
        <p:spPr>
          <a:xfrm>
            <a:off x="2267341" y="4168876"/>
            <a:ext cx="6739007" cy="2172930"/>
          </a:xfrm>
          <a:prstGeom prst="rect">
            <a:avLst/>
          </a:prstGeom>
        </p:spPr>
      </p:pic>
    </p:spTree>
    <p:extLst>
      <p:ext uri="{BB962C8B-B14F-4D97-AF65-F5344CB8AC3E}">
        <p14:creationId xmlns:p14="http://schemas.microsoft.com/office/powerpoint/2010/main" val="956165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FE47B10C-E93A-E39B-99C2-D99B5EBE12E1}"/>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1D1C6641-AFDE-07F7-9FE6-9162F3CF905B}"/>
              </a:ext>
            </a:extLst>
          </p:cNvPr>
          <p:cNvSpPr txBox="1">
            <a:spLocks noGrp="1"/>
          </p:cNvSpPr>
          <p:nvPr>
            <p:ph type="title"/>
          </p:nvPr>
        </p:nvSpPr>
        <p:spPr>
          <a:xfrm>
            <a:off x="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VAN DER POL EQUATION</a:t>
            </a:r>
            <a:endParaRPr dirty="0"/>
          </a:p>
        </p:txBody>
      </p:sp>
      <p:sp>
        <p:nvSpPr>
          <p:cNvPr id="132" name="Google Shape;132;p17">
            <a:extLst>
              <a:ext uri="{FF2B5EF4-FFF2-40B4-BE49-F238E27FC236}">
                <a16:creationId xmlns:a16="http://schemas.microsoft.com/office/drawing/2014/main" id="{F487D5FC-B56C-E9CB-71E5-A424404C7B18}"/>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7</a:t>
            </a:fld>
            <a:endParaRPr/>
          </a:p>
        </p:txBody>
      </p:sp>
      <mc:AlternateContent xmlns:mc="http://schemas.openxmlformats.org/markup-compatibility/2006" xmlns:a14="http://schemas.microsoft.com/office/drawing/2010/main">
        <mc:Choice Requires="a14">
          <p:sp>
            <p:nvSpPr>
              <p:cNvPr id="133" name="Google Shape;133;p17">
                <a:extLst>
                  <a:ext uri="{FF2B5EF4-FFF2-40B4-BE49-F238E27FC236}">
                    <a16:creationId xmlns:a16="http://schemas.microsoft.com/office/drawing/2014/main" id="{E5FC3136-AA8B-FF17-A3DE-7A7530B61DB0}"/>
                  </a:ext>
                </a:extLst>
              </p:cNvPr>
              <p:cNvSpPr txBox="1"/>
              <p:nvPr/>
            </p:nvSpPr>
            <p:spPr>
              <a:xfrm>
                <a:off x="136360" y="767596"/>
                <a:ext cx="6618401" cy="5591875"/>
              </a:xfrm>
              <a:prstGeom prst="rect">
                <a:avLst/>
              </a:prstGeom>
              <a:noFill/>
              <a:ln>
                <a:noFill/>
              </a:ln>
            </p:spPr>
            <p:txBody>
              <a:bodyPr spcFirstLastPara="1" wrap="square" lIns="91425" tIns="45700" rIns="91425" bIns="45700" anchor="t" anchorCtr="0">
                <a:spAutoFit/>
              </a:bodyPr>
              <a:lstStyle/>
              <a:p>
                <a:pPr marL="228600" indent="-228600">
                  <a:buClr>
                    <a:schemeClr val="dk1"/>
                  </a:buClr>
                  <a:buSzPts val="3200"/>
                  <a:buFont typeface="Calibri"/>
                  <a:buChar char="•"/>
                </a:pPr>
                <a:r>
                  <a:rPr lang="en-US"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-2 ≤ y ≤2 is therefore, a good starting point for scaling.</a:t>
                </a:r>
              </a:p>
              <a:p>
                <a:pPr marL="228600" indent="-228600">
                  <a:buClr>
                    <a:schemeClr val="dk1"/>
                  </a:buClr>
                  <a:buSzPts val="3200"/>
                  <a:buFont typeface="Calibri"/>
                  <a:buChar char="•"/>
                </a:pPr>
                <a:r>
                  <a:rPr lang="en-US" sz="22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Variable scaling: Scaling y to be in the range [-1,1]:</a:t>
                </a:r>
              </a:p>
              <a:p>
                <a:pPr>
                  <a:buClr>
                    <a:schemeClr val="dk1"/>
                  </a:buClr>
                  <a:buSzPts val="3200"/>
                </a:pPr>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ŷ = y/2</a:t>
                </a:r>
              </a:p>
              <a:p>
                <a:pPr>
                  <a:buClr>
                    <a:schemeClr val="dk1"/>
                  </a:buClr>
                  <a:buSzPts val="3200"/>
                </a:pPr>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y= 2ŷ </a:t>
                </a:r>
              </a:p>
              <a:p>
                <a:r>
                  <a:rPr lang="en-IN" sz="2200" dirty="0">
                    <a:latin typeface="Calibri" panose="020F0502020204030204" pitchFamily="34" charset="0"/>
                    <a:ea typeface="Calibri" panose="020F0502020204030204" pitchFamily="34" charset="0"/>
                    <a:cs typeface="Calibri" panose="020F0502020204030204" pitchFamily="34" charset="0"/>
                  </a:rPr>
                  <a:t>After scaling:</a:t>
                </a:r>
              </a:p>
              <a:p>
                <a:r>
                  <a:rPr lang="en-IN" sz="2200" dirty="0">
                    <a:latin typeface="Calibri" panose="020F0502020204030204" pitchFamily="34" charset="0"/>
                    <a:ea typeface="Calibri" panose="020F0502020204030204" pitchFamily="34" charset="0"/>
                    <a:cs typeface="Calibri" panose="020F0502020204030204" pitchFamily="34" charset="0"/>
                  </a:rPr>
                  <a:t>First derivative: </a:t>
                </a:r>
                <a14:m>
                  <m:oMath xmlns:m="http://schemas.openxmlformats.org/officeDocument/2006/math">
                    <m:f>
                      <m:fPr>
                        <m:ctrlPr>
                          <a:rPr lang="ar-AE" sz="2200" i="1">
                            <a:latin typeface="Cambria Math" panose="02040503050406030204" pitchFamily="18" charset="0"/>
                          </a:rPr>
                        </m:ctrlPr>
                      </m:fPr>
                      <m:num>
                        <m:r>
                          <a:rPr lang="ar-AE" sz="2200" i="1">
                            <a:latin typeface="Cambria Math" panose="02040503050406030204" pitchFamily="18" charset="0"/>
                          </a:rPr>
                          <m:t>𝑑𝑦</m:t>
                        </m:r>
                      </m:num>
                      <m:den>
                        <m:r>
                          <a:rPr lang="ar-AE" sz="2200" i="1">
                            <a:latin typeface="Cambria Math" panose="02040503050406030204" pitchFamily="18" charset="0"/>
                          </a:rPr>
                          <m:t>𝑑𝑡</m:t>
                        </m:r>
                      </m:den>
                    </m:f>
                    <m:r>
                      <a:rPr lang="ar-AE" sz="2200">
                        <a:latin typeface="Cambria Math" panose="02040503050406030204" pitchFamily="18" charset="0"/>
                      </a:rPr>
                      <m:t>=</m:t>
                    </m:r>
                    <m:r>
                      <a:rPr lang="ar-AE" sz="2200">
                        <a:latin typeface="Cambria Math" panose="02040503050406030204" pitchFamily="18" charset="0"/>
                      </a:rPr>
                      <m:t>2</m:t>
                    </m:r>
                    <m:f>
                      <m:fPr>
                        <m:ctrlPr>
                          <a:rPr lang="ar-AE" sz="2200" i="1">
                            <a:latin typeface="Cambria Math" panose="02040503050406030204" pitchFamily="18" charset="0"/>
                          </a:rPr>
                        </m:ctrlPr>
                      </m:fPr>
                      <m:num>
                        <m:r>
                          <a:rPr lang="ar-AE" sz="2200" i="1">
                            <a:latin typeface="Cambria Math" panose="02040503050406030204" pitchFamily="18" charset="0"/>
                          </a:rPr>
                          <m:t>𝑑</m:t>
                        </m:r>
                        <m:acc>
                          <m:accPr>
                            <m:chr m:val="̂"/>
                            <m:ctrlPr>
                              <a:rPr lang="ar-AE" sz="2200" i="1">
                                <a:latin typeface="Cambria Math" panose="02040503050406030204" pitchFamily="18" charset="0"/>
                              </a:rPr>
                            </m:ctrlPr>
                          </m:accPr>
                          <m:e>
                            <m:r>
                              <a:rPr lang="ar-AE" sz="2200" i="1">
                                <a:latin typeface="Cambria Math" panose="02040503050406030204" pitchFamily="18" charset="0"/>
                              </a:rPr>
                              <m:t>𝑦</m:t>
                            </m:r>
                          </m:e>
                        </m:acc>
                      </m:num>
                      <m:den>
                        <m:r>
                          <a:rPr lang="ar-AE" sz="2200" i="1">
                            <a:latin typeface="Cambria Math" panose="02040503050406030204" pitchFamily="18" charset="0"/>
                          </a:rPr>
                          <m:t>𝑑𝑡</m:t>
                        </m:r>
                      </m:den>
                    </m:f>
                  </m:oMath>
                </a14:m>
                <a:endParaRPr lang="ar-AE" sz="2200" dirty="0">
                  <a:latin typeface="Calibri" panose="020F0502020204030204" pitchFamily="34" charset="0"/>
                  <a:ea typeface="Calibri" panose="020F0502020204030204" pitchFamily="34" charset="0"/>
                  <a:cs typeface="Calibri" panose="020F0502020204030204" pitchFamily="34" charset="0"/>
                </a:endParaRPr>
              </a:p>
              <a:p>
                <a:r>
                  <a:rPr lang="en-IN" sz="2200" dirty="0">
                    <a:latin typeface="Calibri" panose="020F0502020204030204" pitchFamily="34" charset="0"/>
                    <a:ea typeface="Calibri" panose="020F0502020204030204" pitchFamily="34" charset="0"/>
                    <a:cs typeface="Calibri" panose="020F0502020204030204" pitchFamily="34" charset="0"/>
                  </a:rPr>
                  <a:t>Second derivative: </a:t>
                </a:r>
                <a14:m>
                  <m:oMath xmlns:m="http://schemas.openxmlformats.org/officeDocument/2006/math">
                    <m:f>
                      <m:fPr>
                        <m:ctrlPr>
                          <a:rPr lang="ar-AE" sz="2200" i="1">
                            <a:latin typeface="Cambria Math" panose="02040503050406030204" pitchFamily="18" charset="0"/>
                          </a:rPr>
                        </m:ctrlPr>
                      </m:fPr>
                      <m:num>
                        <m:sSup>
                          <m:sSupPr>
                            <m:ctrlPr>
                              <a:rPr lang="ar-AE" sz="2200" i="1">
                                <a:latin typeface="Cambria Math" panose="02040503050406030204" pitchFamily="18" charset="0"/>
                              </a:rPr>
                            </m:ctrlPr>
                          </m:sSupPr>
                          <m:e>
                            <m:r>
                              <a:rPr lang="ar-AE" sz="2200" i="1">
                                <a:latin typeface="Cambria Math" panose="02040503050406030204" pitchFamily="18" charset="0"/>
                              </a:rPr>
                              <m:t>𝑑</m:t>
                            </m:r>
                          </m:e>
                          <m:sup>
                            <m:r>
                              <a:rPr lang="ar-AE" sz="2200">
                                <a:latin typeface="Cambria Math" panose="02040503050406030204" pitchFamily="18" charset="0"/>
                              </a:rPr>
                              <m:t>2</m:t>
                            </m:r>
                          </m:sup>
                        </m:sSup>
                        <m:r>
                          <a:rPr lang="ar-AE" sz="2200" i="1">
                            <a:latin typeface="Cambria Math" panose="02040503050406030204" pitchFamily="18" charset="0"/>
                          </a:rPr>
                          <m:t>𝑦</m:t>
                        </m:r>
                      </m:num>
                      <m:den>
                        <m:r>
                          <a:rPr lang="ar-AE" sz="2200" i="1">
                            <a:latin typeface="Cambria Math" panose="02040503050406030204" pitchFamily="18" charset="0"/>
                          </a:rPr>
                          <m:t>𝑑</m:t>
                        </m:r>
                        <m:sSup>
                          <m:sSupPr>
                            <m:ctrlPr>
                              <a:rPr lang="ar-AE" sz="2200" i="1">
                                <a:latin typeface="Cambria Math" panose="02040503050406030204" pitchFamily="18" charset="0"/>
                              </a:rPr>
                            </m:ctrlPr>
                          </m:sSupPr>
                          <m:e>
                            <m:r>
                              <a:rPr lang="ar-AE" sz="2200" i="1">
                                <a:latin typeface="Cambria Math" panose="02040503050406030204" pitchFamily="18" charset="0"/>
                              </a:rPr>
                              <m:t>𝑡</m:t>
                            </m:r>
                          </m:e>
                          <m:sup>
                            <m:r>
                              <a:rPr lang="ar-AE" sz="2200">
                                <a:latin typeface="Cambria Math" panose="02040503050406030204" pitchFamily="18" charset="0"/>
                              </a:rPr>
                              <m:t>2</m:t>
                            </m:r>
                          </m:sup>
                        </m:sSup>
                      </m:den>
                    </m:f>
                    <m:r>
                      <a:rPr lang="ar-AE" sz="2200">
                        <a:latin typeface="Cambria Math" panose="02040503050406030204" pitchFamily="18" charset="0"/>
                      </a:rPr>
                      <m:t>=</m:t>
                    </m:r>
                    <m:r>
                      <a:rPr lang="ar-AE" sz="2200">
                        <a:latin typeface="Cambria Math" panose="02040503050406030204" pitchFamily="18" charset="0"/>
                      </a:rPr>
                      <m:t>2</m:t>
                    </m:r>
                    <m:f>
                      <m:fPr>
                        <m:ctrlPr>
                          <a:rPr lang="ar-AE" sz="2200" i="1">
                            <a:latin typeface="Cambria Math" panose="02040503050406030204" pitchFamily="18" charset="0"/>
                          </a:rPr>
                        </m:ctrlPr>
                      </m:fPr>
                      <m:num>
                        <m:sSup>
                          <m:sSupPr>
                            <m:ctrlPr>
                              <a:rPr lang="ar-AE" sz="2200" i="1">
                                <a:latin typeface="Cambria Math" panose="02040503050406030204" pitchFamily="18" charset="0"/>
                              </a:rPr>
                            </m:ctrlPr>
                          </m:sSupPr>
                          <m:e>
                            <m:r>
                              <a:rPr lang="ar-AE" sz="2200" i="1">
                                <a:latin typeface="Cambria Math" panose="02040503050406030204" pitchFamily="18" charset="0"/>
                              </a:rPr>
                              <m:t>𝑑</m:t>
                            </m:r>
                          </m:e>
                          <m:sup>
                            <m:r>
                              <a:rPr lang="ar-AE" sz="2200">
                                <a:latin typeface="Cambria Math" panose="02040503050406030204" pitchFamily="18" charset="0"/>
                              </a:rPr>
                              <m:t>2</m:t>
                            </m:r>
                          </m:sup>
                        </m:sSup>
                        <m:acc>
                          <m:accPr>
                            <m:chr m:val="̂"/>
                            <m:ctrlPr>
                              <a:rPr lang="ar-AE" sz="2200" i="1">
                                <a:latin typeface="Cambria Math" panose="02040503050406030204" pitchFamily="18" charset="0"/>
                              </a:rPr>
                            </m:ctrlPr>
                          </m:accPr>
                          <m:e>
                            <m:r>
                              <a:rPr lang="ar-AE" sz="2200" i="1">
                                <a:latin typeface="Cambria Math" panose="02040503050406030204" pitchFamily="18" charset="0"/>
                              </a:rPr>
                              <m:t>𝑦</m:t>
                            </m:r>
                          </m:e>
                        </m:acc>
                      </m:num>
                      <m:den>
                        <m:r>
                          <a:rPr lang="ar-AE" sz="2200" i="1">
                            <a:latin typeface="Cambria Math" panose="02040503050406030204" pitchFamily="18" charset="0"/>
                          </a:rPr>
                          <m:t>𝑑</m:t>
                        </m:r>
                        <m:sSup>
                          <m:sSupPr>
                            <m:ctrlPr>
                              <a:rPr lang="ar-AE" sz="2200" i="1">
                                <a:latin typeface="Cambria Math" panose="02040503050406030204" pitchFamily="18" charset="0"/>
                              </a:rPr>
                            </m:ctrlPr>
                          </m:sSupPr>
                          <m:e>
                            <m:r>
                              <a:rPr lang="ar-AE" sz="2200" i="1">
                                <a:latin typeface="Cambria Math" panose="02040503050406030204" pitchFamily="18" charset="0"/>
                              </a:rPr>
                              <m:t>𝑡</m:t>
                            </m:r>
                          </m:e>
                          <m:sup>
                            <m:r>
                              <a:rPr lang="ar-AE" sz="2200">
                                <a:latin typeface="Cambria Math" panose="02040503050406030204" pitchFamily="18" charset="0"/>
                              </a:rPr>
                              <m:t>2</m:t>
                            </m:r>
                          </m:sup>
                        </m:sSup>
                      </m:den>
                    </m:f>
                  </m:oMath>
                </a14:m>
                <a:endParaRPr lang="ar-AE" sz="2200" dirty="0">
                  <a:latin typeface="Calibri" panose="020F0502020204030204" pitchFamily="34" charset="0"/>
                  <a:ea typeface="Calibri" panose="020F0502020204030204" pitchFamily="34" charset="0"/>
                  <a:cs typeface="Calibri" panose="020F0502020204030204" pitchFamily="34" charset="0"/>
                </a:endParaRPr>
              </a:p>
              <a:p>
                <a:r>
                  <a:rPr lang="en-IN" sz="2200" dirty="0">
                    <a:latin typeface="Calibri" panose="020F0502020204030204" pitchFamily="34" charset="0"/>
                    <a:ea typeface="Calibri" panose="020F0502020204030204" pitchFamily="34" charset="0"/>
                    <a:cs typeface="Calibri" panose="020F0502020204030204" pitchFamily="34" charset="0"/>
                  </a:rPr>
                  <a:t>Nonlinear term: </a:t>
                </a:r>
                <a14:m>
                  <m:oMath xmlns:m="http://schemas.openxmlformats.org/officeDocument/2006/math">
                    <m:sSup>
                      <m:sSupPr>
                        <m:ctrlPr>
                          <a:rPr lang="ar-AE" sz="2200" i="1">
                            <a:latin typeface="Cambria Math" panose="02040503050406030204" pitchFamily="18" charset="0"/>
                          </a:rPr>
                        </m:ctrlPr>
                      </m:sSupPr>
                      <m:e>
                        <m:r>
                          <a:rPr lang="ar-AE" sz="2200" i="1">
                            <a:latin typeface="Cambria Math" panose="02040503050406030204" pitchFamily="18" charset="0"/>
                          </a:rPr>
                          <m:t>𝑦</m:t>
                        </m:r>
                      </m:e>
                      <m:sup>
                        <m:r>
                          <a:rPr lang="ar-AE" sz="2200">
                            <a:latin typeface="Cambria Math" panose="02040503050406030204" pitchFamily="18" charset="0"/>
                          </a:rPr>
                          <m:t>2</m:t>
                        </m:r>
                      </m:sup>
                    </m:sSup>
                    <m:r>
                      <a:rPr lang="ar-AE" sz="2200">
                        <a:latin typeface="Cambria Math" panose="02040503050406030204" pitchFamily="18" charset="0"/>
                      </a:rPr>
                      <m:t>=</m:t>
                    </m:r>
                    <m:r>
                      <a:rPr lang="ar-AE" sz="2200">
                        <a:latin typeface="Cambria Math" panose="02040503050406030204" pitchFamily="18" charset="0"/>
                      </a:rPr>
                      <m:t>4</m:t>
                    </m:r>
                    <m:sSup>
                      <m:sSupPr>
                        <m:ctrlPr>
                          <a:rPr lang="ar-AE" sz="2200" i="1">
                            <a:latin typeface="Cambria Math" panose="02040503050406030204" pitchFamily="18" charset="0"/>
                          </a:rPr>
                        </m:ctrlPr>
                      </m:sSupPr>
                      <m:e>
                        <m:acc>
                          <m:accPr>
                            <m:chr m:val="̂"/>
                            <m:ctrlPr>
                              <a:rPr lang="ar-AE" sz="2200" i="1">
                                <a:latin typeface="Cambria Math" panose="02040503050406030204" pitchFamily="18" charset="0"/>
                              </a:rPr>
                            </m:ctrlPr>
                          </m:accPr>
                          <m:e>
                            <m:r>
                              <a:rPr lang="ar-AE" sz="2200" i="1">
                                <a:latin typeface="Cambria Math" panose="02040503050406030204" pitchFamily="18" charset="0"/>
                              </a:rPr>
                              <m:t>𝑦</m:t>
                            </m:r>
                          </m:e>
                        </m:acc>
                      </m:e>
                      <m:sup>
                        <m:r>
                          <a:rPr lang="ar-AE" sz="2200">
                            <a:latin typeface="Cambria Math" panose="02040503050406030204" pitchFamily="18" charset="0"/>
                          </a:rPr>
                          <m:t>2</m:t>
                        </m:r>
                      </m:sup>
                    </m:sSup>
                  </m:oMath>
                </a14:m>
                <a:endParaRPr lang="ar-AE" sz="2200" dirty="0">
                  <a:latin typeface="Calibri" panose="020F0502020204030204" pitchFamily="34" charset="0"/>
                  <a:ea typeface="Calibri" panose="020F0502020204030204" pitchFamily="34" charset="0"/>
                  <a:cs typeface="Calibri" panose="020F0502020204030204" pitchFamily="34" charset="0"/>
                </a:endParaRPr>
              </a:p>
              <a:p>
                <a:pPr>
                  <a:buClr>
                    <a:schemeClr val="dk1"/>
                  </a:buClr>
                  <a:buSzPts val="3200"/>
                </a:pPr>
                <a:r>
                  <a:rPr lang="en-US" sz="2200" dirty="0">
                    <a:latin typeface="Calibri" panose="020F0502020204030204" pitchFamily="34" charset="0"/>
                    <a:ea typeface="Calibri" panose="020F0502020204030204" pitchFamily="34" charset="0"/>
                    <a:cs typeface="Calibri" panose="020F0502020204030204" pitchFamily="34" charset="0"/>
                  </a:rPr>
                  <a:t>Factor 2 will later appear as gain in integrator chain. Factor 4 appears in nonlinear block and is handled using 1/4</a:t>
                </a:r>
                <a:endParaRPr lang="en-US" sz="22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228600" indent="-228600">
                  <a:buClr>
                    <a:schemeClr val="dk1"/>
                  </a:buClr>
                  <a:buSzPts val="3200"/>
                  <a:buFont typeface="Calibri"/>
                  <a:buChar char="•"/>
                </a:pPr>
                <a:r>
                  <a:rPr lang="en-US" sz="22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Time scaling: </a:t>
                </a:r>
                <a:r>
                  <a:rPr lang="el-GR" sz="2200" i="1" dirty="0">
                    <a:latin typeface="Calibri" panose="020F0502020204030204" pitchFamily="34" charset="0"/>
                    <a:ea typeface="Calibri" panose="020F0502020204030204" pitchFamily="34" charset="0"/>
                    <a:cs typeface="Calibri" panose="020F0502020204030204" pitchFamily="34" charset="0"/>
                  </a:rPr>
                  <a:t>τ</a:t>
                </a:r>
                <a:r>
                  <a:rPr lang="en-US" sz="2200" i="1" dirty="0">
                    <a:latin typeface="Calibri" panose="020F0502020204030204" pitchFamily="34" charset="0"/>
                    <a:ea typeface="Calibri" panose="020F0502020204030204" pitchFamily="34" charset="0"/>
                    <a:cs typeface="Calibri" panose="020F0502020204030204" pitchFamily="34" charset="0"/>
                  </a:rPr>
                  <a:t> = t/10</a:t>
                </a:r>
              </a:p>
              <a:p>
                <a:pPr>
                  <a:buClr>
                    <a:schemeClr val="dk1"/>
                  </a:buClr>
                  <a:buSzPts val="3200"/>
                </a:pPr>
                <a14:m>
                  <m:oMath xmlns:m="http://schemas.openxmlformats.org/officeDocument/2006/math">
                    <m:f>
                      <m:fPr>
                        <m:ctrlPr>
                          <a:rPr lang="en-US" sz="2200" i="1" smtClean="0">
                            <a:latin typeface="Cambria Math" panose="02040503050406030204" pitchFamily="18" charset="0"/>
                            <a:ea typeface="Calibri" panose="020F0502020204030204" pitchFamily="34" charset="0"/>
                            <a:cs typeface="Calibri" panose="020F0502020204030204" pitchFamily="34" charset="0"/>
                          </a:rPr>
                        </m:ctrlPr>
                      </m:fPr>
                      <m:num>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el-GR" sz="2200" i="1" dirty="0">
                            <a:latin typeface="Calibri" panose="020F0502020204030204" pitchFamily="34" charset="0"/>
                            <a:ea typeface="Calibri" panose="020F0502020204030204" pitchFamily="34" charset="0"/>
                            <a:cs typeface="Calibri" panose="020F0502020204030204" pitchFamily="34" charset="0"/>
                          </a:rPr>
                          <m:t>τ</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𝑑𝑡</m:t>
                        </m:r>
                      </m:den>
                    </m:f>
                  </m:oMath>
                </a14:m>
                <a:r>
                  <a:rPr lang="en-US" sz="2200" i="1" dirty="0">
                    <a:latin typeface="Calibri" panose="020F0502020204030204" pitchFamily="34" charset="0"/>
                    <a:ea typeface="Calibri" panose="020F0502020204030204" pitchFamily="34" charset="0"/>
                    <a:cs typeface="Calibri" panose="020F0502020204030204" pitchFamily="34" charset="0"/>
                  </a:rPr>
                  <a:t> = 1/10</a:t>
                </a:r>
              </a:p>
              <a:p>
                <a:pPr>
                  <a:buClr>
                    <a:schemeClr val="dk1"/>
                  </a:buClr>
                  <a:buSzPts val="3200"/>
                </a:pPr>
                <a14:m>
                  <m:oMath xmlns:m="http://schemas.openxmlformats.org/officeDocument/2006/math">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m:t>ŷ</m:t>
                        </m:r>
                      </m:num>
                      <m:den>
                        <m:r>
                          <a:rPr lang="en-US" sz="2200" i="1">
                            <a:latin typeface="Cambria Math" panose="02040503050406030204" pitchFamily="18" charset="0"/>
                            <a:ea typeface="Calibri" panose="020F0502020204030204" pitchFamily="34" charset="0"/>
                            <a:cs typeface="Calibri" panose="020F0502020204030204" pitchFamily="34" charset="0"/>
                          </a:rPr>
                          <m:t>𝑑𝑡</m:t>
                        </m:r>
                      </m:den>
                    </m:f>
                  </m:oMath>
                </a14:m>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 </a:t>
                </a:r>
                <a14:m>
                  <m:oMath xmlns:m="http://schemas.openxmlformats.org/officeDocument/2006/math">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m:t>ŷ</m:t>
                        </m:r>
                      </m:num>
                      <m:den>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el-GR" sz="2200" i="1" dirty="0">
                            <a:latin typeface="Calibri" panose="020F0502020204030204" pitchFamily="34" charset="0"/>
                            <a:ea typeface="Calibri" panose="020F0502020204030204" pitchFamily="34" charset="0"/>
                            <a:cs typeface="Calibri" panose="020F0502020204030204" pitchFamily="34" charset="0"/>
                          </a:rPr>
                          <m:t>τ</m:t>
                        </m:r>
                      </m:den>
                    </m:f>
                  </m:oMath>
                </a14:m>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x </a:t>
                </a:r>
                <a14:m>
                  <m:oMath xmlns:m="http://schemas.openxmlformats.org/officeDocument/2006/math">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el-GR" sz="2200" i="1" dirty="0">
                            <a:latin typeface="Calibri" panose="020F0502020204030204" pitchFamily="34" charset="0"/>
                            <a:ea typeface="Calibri" panose="020F0502020204030204" pitchFamily="34" charset="0"/>
                            <a:cs typeface="Calibri" panose="020F0502020204030204" pitchFamily="34" charset="0"/>
                          </a:rPr>
                          <m:t>τ</m:t>
                        </m:r>
                      </m:num>
                      <m:den>
                        <m:r>
                          <a:rPr lang="en-US" sz="2200" i="1">
                            <a:latin typeface="Cambria Math" panose="02040503050406030204" pitchFamily="18" charset="0"/>
                            <a:ea typeface="Calibri" panose="020F0502020204030204" pitchFamily="34" charset="0"/>
                            <a:cs typeface="Calibri" panose="020F0502020204030204" pitchFamily="34" charset="0"/>
                          </a:rPr>
                          <m:t>𝑑𝑡</m:t>
                        </m:r>
                      </m:den>
                    </m:f>
                  </m:oMath>
                </a14:m>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 </a:t>
                </a:r>
                <a14:m>
                  <m:oMath xmlns:m="http://schemas.openxmlformats.org/officeDocument/2006/math">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a:rPr lang="en-US" sz="22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2200" b="0" i="1" dirty="0" smtClean="0">
                            <a:latin typeface="Cambria Math" panose="02040503050406030204" pitchFamily="18" charset="0"/>
                            <a:ea typeface="Calibri" panose="020F0502020204030204" pitchFamily="34" charset="0"/>
                            <a:cs typeface="Calibri" panose="020F0502020204030204" pitchFamily="34" charset="0"/>
                          </a:rPr>
                          <m:t>10</m:t>
                        </m:r>
                      </m:den>
                    </m:f>
                  </m:oMath>
                </a14:m>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a:t>
                </a:r>
                <a14:m>
                  <m:oMath xmlns:m="http://schemas.openxmlformats.org/officeDocument/2006/math">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m:t>ŷ</m:t>
                        </m:r>
                      </m:num>
                      <m:den>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el-GR" sz="2200" i="1" dirty="0">
                            <a:latin typeface="Calibri" panose="020F0502020204030204" pitchFamily="34" charset="0"/>
                            <a:ea typeface="Calibri" panose="020F0502020204030204" pitchFamily="34" charset="0"/>
                            <a:cs typeface="Calibri" panose="020F0502020204030204" pitchFamily="34" charset="0"/>
                          </a:rPr>
                          <m:t>τ</m:t>
                        </m:r>
                      </m:den>
                    </m:f>
                  </m:oMath>
                </a14:m>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So, </a:t>
                </a:r>
                <a14:m>
                  <m:oMath xmlns:m="http://schemas.openxmlformats.org/officeDocument/2006/math">
                    <m:f>
                      <m:fPr>
                        <m:ctrlPr>
                          <a:rPr lang="ar-AE" sz="2200" i="1">
                            <a:latin typeface="Cambria Math" panose="02040503050406030204" pitchFamily="18" charset="0"/>
                          </a:rPr>
                        </m:ctrlPr>
                      </m:fPr>
                      <m:num>
                        <m:r>
                          <a:rPr lang="ar-AE" sz="2200" i="1">
                            <a:latin typeface="Cambria Math" panose="02040503050406030204" pitchFamily="18" charset="0"/>
                          </a:rPr>
                          <m:t>𝑑𝑦</m:t>
                        </m:r>
                      </m:num>
                      <m:den>
                        <m:r>
                          <a:rPr lang="ar-AE" sz="2200" i="1">
                            <a:latin typeface="Cambria Math" panose="02040503050406030204" pitchFamily="18" charset="0"/>
                          </a:rPr>
                          <m:t>𝑑𝑡</m:t>
                        </m:r>
                      </m:den>
                    </m:f>
                    <m:r>
                      <a:rPr lang="en-US" sz="2200" b="0" i="1" smtClean="0">
                        <a:latin typeface="Cambria Math" panose="02040503050406030204" pitchFamily="18" charset="0"/>
                      </a:rPr>
                      <m:t>=</m:t>
                    </m:r>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a:rPr lang="en-US" sz="2200" i="1">
                            <a:latin typeface="Cambria Math" panose="02040503050406030204" pitchFamily="18" charset="0"/>
                            <a:ea typeface="Calibri" panose="020F0502020204030204" pitchFamily="34" charset="0"/>
                            <a:cs typeface="Calibri" panose="020F0502020204030204" pitchFamily="34" charset="0"/>
                          </a:rPr>
                          <m:t>1</m:t>
                        </m:r>
                      </m:num>
                      <m:den>
                        <m:r>
                          <a:rPr lang="en-US" sz="2200" b="0" i="1" smtClean="0">
                            <a:latin typeface="Cambria Math" panose="02040503050406030204" pitchFamily="18" charset="0"/>
                            <a:ea typeface="Calibri" panose="020F0502020204030204" pitchFamily="34" charset="0"/>
                            <a:cs typeface="Calibri" panose="020F0502020204030204" pitchFamily="34" charset="0"/>
                          </a:rPr>
                          <m:t>5</m:t>
                        </m:r>
                      </m:den>
                    </m:f>
                    <m:r>
                      <m:rPr>
                        <m:nor/>
                      </m:rP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m:t> </m:t>
                    </m:r>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m:t>ŷ</m:t>
                        </m:r>
                      </m:num>
                      <m:den>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el-GR" sz="2200" i="1" dirty="0">
                            <a:latin typeface="Calibri" panose="020F0502020204030204" pitchFamily="34" charset="0"/>
                            <a:ea typeface="Calibri" panose="020F0502020204030204" pitchFamily="34" charset="0"/>
                            <a:cs typeface="Calibri" panose="020F0502020204030204" pitchFamily="34" charset="0"/>
                          </a:rPr>
                          <m:t>τ</m:t>
                        </m:r>
                      </m:den>
                    </m:f>
                  </m:oMath>
                </a14:m>
                <a:endPar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mc:Choice>
        <mc:Fallback xmlns="">
          <p:sp>
            <p:nvSpPr>
              <p:cNvPr id="133" name="Google Shape;133;p17">
                <a:extLst>
                  <a:ext uri="{FF2B5EF4-FFF2-40B4-BE49-F238E27FC236}">
                    <a16:creationId xmlns:a16="http://schemas.microsoft.com/office/drawing/2014/main" id="{E5FC3136-AA8B-FF17-A3DE-7A7530B61DB0}"/>
                  </a:ext>
                </a:extLst>
              </p:cNvPr>
              <p:cNvSpPr txBox="1">
                <a:spLocks noRot="1" noChangeAspect="1" noMove="1" noResize="1" noEditPoints="1" noAdjustHandles="1" noChangeArrowheads="1" noChangeShapeType="1" noTextEdit="1"/>
              </p:cNvSpPr>
              <p:nvPr/>
            </p:nvSpPr>
            <p:spPr>
              <a:xfrm>
                <a:off x="136360" y="767596"/>
                <a:ext cx="6618401" cy="5591875"/>
              </a:xfrm>
              <a:prstGeom prst="rect">
                <a:avLst/>
              </a:prstGeom>
              <a:blipFill>
                <a:blip r:embed="rId3"/>
                <a:stretch>
                  <a:fillRect l="-2394" t="-3817" r="-737"/>
                </a:stretch>
              </a:blipFill>
              <a:ln>
                <a:noFill/>
              </a:ln>
            </p:spPr>
            <p:txBody>
              <a:bodyPr/>
              <a:lstStyle/>
              <a:p>
                <a:r>
                  <a:rPr lang="en-IN">
                    <a:noFill/>
                  </a:rPr>
                  <a:t> </a:t>
                </a:r>
              </a:p>
            </p:txBody>
          </p:sp>
        </mc:Fallback>
      </mc:AlternateContent>
      <p:pic>
        <p:nvPicPr>
          <p:cNvPr id="3" name="Picture 2">
            <a:extLst>
              <a:ext uri="{FF2B5EF4-FFF2-40B4-BE49-F238E27FC236}">
                <a16:creationId xmlns:a16="http://schemas.microsoft.com/office/drawing/2014/main" id="{6E5CE003-3BD6-900D-6B40-377FC1C541A0}"/>
              </a:ext>
            </a:extLst>
          </p:cNvPr>
          <p:cNvPicPr>
            <a:picLocks noChangeAspect="1"/>
          </p:cNvPicPr>
          <p:nvPr/>
        </p:nvPicPr>
        <p:blipFill>
          <a:blip r:embed="rId4"/>
          <a:stretch>
            <a:fillRect/>
          </a:stretch>
        </p:blipFill>
        <p:spPr>
          <a:xfrm>
            <a:off x="6685934" y="591269"/>
            <a:ext cx="5369705" cy="248649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7D7F97C-D98A-7129-FD7D-1F3EE1FA00EF}"/>
                  </a:ext>
                </a:extLst>
              </p:cNvPr>
              <p:cNvSpPr txBox="1"/>
              <p:nvPr/>
            </p:nvSpPr>
            <p:spPr>
              <a:xfrm>
                <a:off x="6891121" y="3189752"/>
                <a:ext cx="5014452" cy="3716210"/>
              </a:xfrm>
              <a:prstGeom prst="rect">
                <a:avLst/>
              </a:prstGeom>
              <a:noFill/>
            </p:spPr>
            <p:txBody>
              <a:bodyPr wrap="square" rtlCol="0">
                <a:sp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Similarly, </a:t>
                </a:r>
                <a14:m>
                  <m:oMath xmlns:m="http://schemas.openxmlformats.org/officeDocument/2006/math">
                    <m:f>
                      <m:fPr>
                        <m:ctrlPr>
                          <a:rPr lang="ar-AE" sz="2200" i="1" smtClean="0">
                            <a:latin typeface="Cambria Math" panose="02040503050406030204" pitchFamily="18" charset="0"/>
                          </a:rPr>
                        </m:ctrlPr>
                      </m:fPr>
                      <m:num>
                        <m:sSup>
                          <m:sSupPr>
                            <m:ctrlPr>
                              <a:rPr lang="ar-AE" sz="2200" i="1">
                                <a:latin typeface="Cambria Math" panose="02040503050406030204" pitchFamily="18" charset="0"/>
                              </a:rPr>
                            </m:ctrlPr>
                          </m:sSupPr>
                          <m:e>
                            <m:r>
                              <a:rPr lang="en-US" sz="2200" i="1">
                                <a:latin typeface="Cambria Math" panose="02040503050406030204" pitchFamily="18" charset="0"/>
                              </a:rPr>
                              <m:t>𝑑</m:t>
                            </m:r>
                          </m:e>
                          <m:sup>
                            <m:r>
                              <a:rPr lang="en-US" sz="2200" i="1">
                                <a:latin typeface="Cambria Math" panose="02040503050406030204" pitchFamily="18" charset="0"/>
                              </a:rPr>
                              <m:t>2</m:t>
                            </m:r>
                          </m:sup>
                        </m:sSup>
                        <m:r>
                          <a:rPr lang="en-US" sz="2200" b="0" i="1" smtClean="0">
                            <a:latin typeface="Cambria Math" panose="02040503050406030204" pitchFamily="18" charset="0"/>
                          </a:rPr>
                          <m:t>𝑦</m:t>
                        </m:r>
                      </m:num>
                      <m:den>
                        <m:sSup>
                          <m:sSupPr>
                            <m:ctrlPr>
                              <a:rPr lang="ar-AE" sz="2200" i="1" smtClean="0">
                                <a:latin typeface="Cambria Math" panose="02040503050406030204" pitchFamily="18" charset="0"/>
                              </a:rPr>
                            </m:ctrlPr>
                          </m:sSupPr>
                          <m:e>
                            <m:r>
                              <a:rPr lang="en-US" sz="2200" b="0" i="1" smtClean="0">
                                <a:latin typeface="Cambria Math" panose="02040503050406030204" pitchFamily="18" charset="0"/>
                              </a:rPr>
                              <m:t>𝑑𝑡</m:t>
                            </m:r>
                          </m:e>
                          <m:sup>
                            <m:r>
                              <a:rPr lang="en-US" sz="2200" b="0" i="1" smtClean="0">
                                <a:latin typeface="Cambria Math" panose="02040503050406030204" pitchFamily="18" charset="0"/>
                              </a:rPr>
                              <m:t>2</m:t>
                            </m:r>
                          </m:sup>
                        </m:sSup>
                      </m:den>
                    </m:f>
                    <m:r>
                      <a:rPr lang="en-US" sz="2200" i="1">
                        <a:latin typeface="Cambria Math" panose="02040503050406030204" pitchFamily="18" charset="0"/>
                      </a:rPr>
                      <m:t>=</m:t>
                    </m:r>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r>
                          <a:rPr lang="en-US" sz="2200" i="1">
                            <a:latin typeface="Cambria Math" panose="02040503050406030204" pitchFamily="18" charset="0"/>
                            <a:ea typeface="Calibri" panose="020F0502020204030204" pitchFamily="34" charset="0"/>
                            <a:cs typeface="Calibri" panose="020F0502020204030204" pitchFamily="34" charset="0"/>
                          </a:rPr>
                          <m:t>1</m:t>
                        </m:r>
                      </m:num>
                      <m:den>
                        <m:r>
                          <a:rPr lang="en-US" sz="2200" i="1">
                            <a:latin typeface="Cambria Math" panose="02040503050406030204" pitchFamily="18" charset="0"/>
                            <a:ea typeface="Calibri" panose="020F0502020204030204" pitchFamily="34" charset="0"/>
                            <a:cs typeface="Calibri" panose="020F0502020204030204" pitchFamily="34" charset="0"/>
                          </a:rPr>
                          <m:t>5</m:t>
                        </m:r>
                        <m:r>
                          <a:rPr lang="en-US" sz="2200" b="0" i="1" smtClean="0">
                            <a:latin typeface="Cambria Math" panose="02040503050406030204" pitchFamily="18" charset="0"/>
                            <a:ea typeface="Calibri" panose="020F0502020204030204" pitchFamily="34" charset="0"/>
                            <a:cs typeface="Calibri" panose="020F0502020204030204" pitchFamily="34" charset="0"/>
                          </a:rPr>
                          <m:t>0</m:t>
                        </m:r>
                      </m:den>
                    </m:f>
                    <m:r>
                      <m:rPr>
                        <m:nor/>
                      </m:rP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m:t> </m:t>
                    </m:r>
                    <m:f>
                      <m:fPr>
                        <m:ctrlPr>
                          <a:rPr lang="en-US" sz="2200" i="1">
                            <a:latin typeface="Cambria Math" panose="02040503050406030204" pitchFamily="18" charset="0"/>
                            <a:ea typeface="Calibri" panose="020F0502020204030204" pitchFamily="34" charset="0"/>
                            <a:cs typeface="Calibri" panose="020F0502020204030204" pitchFamily="34" charset="0"/>
                          </a:rPr>
                        </m:ctrlPr>
                      </m:fPr>
                      <m:num>
                        <m:sSup>
                          <m:sSupPr>
                            <m:ctrlPr>
                              <a:rPr lang="ar-AE" sz="2200" i="1">
                                <a:latin typeface="Cambria Math" panose="02040503050406030204" pitchFamily="18" charset="0"/>
                              </a:rPr>
                            </m:ctrlPr>
                          </m:sSupPr>
                          <m:e>
                            <m:r>
                              <a:rPr lang="en-US" sz="2200" i="1">
                                <a:latin typeface="Cambria Math" panose="02040503050406030204" pitchFamily="18" charset="0"/>
                              </a:rPr>
                              <m:t>𝑑</m:t>
                            </m:r>
                          </m:e>
                          <m:sup>
                            <m:r>
                              <a:rPr lang="en-US" sz="2200" i="1">
                                <a:latin typeface="Cambria Math" panose="02040503050406030204" pitchFamily="18" charset="0"/>
                              </a:rPr>
                              <m:t>2</m:t>
                            </m:r>
                          </m:sup>
                        </m:sSup>
                        <m:acc>
                          <m:accPr>
                            <m:chr m:val="̂"/>
                            <m:ctrlPr>
                              <a:rPr lang="ar-AE" sz="2200" i="1">
                                <a:latin typeface="Cambria Math" panose="02040503050406030204" pitchFamily="18" charset="0"/>
                              </a:rPr>
                            </m:ctrlPr>
                          </m:accPr>
                          <m:e>
                            <m:r>
                              <a:rPr lang="ar-AE" sz="2200" i="1">
                                <a:latin typeface="Cambria Math" panose="02040503050406030204" pitchFamily="18" charset="0"/>
                              </a:rPr>
                              <m:t>𝑦</m:t>
                            </m:r>
                          </m:e>
                        </m:acc>
                      </m:num>
                      <m:den>
                        <m:sSup>
                          <m:sSupPr>
                            <m:ctrlPr>
                              <a:rPr lang="ar-AE" sz="2200" i="1" smtClean="0">
                                <a:latin typeface="Cambria Math" panose="02040503050406030204" pitchFamily="18" charset="0"/>
                              </a:rPr>
                            </m:ctrlPr>
                          </m:sSupPr>
                          <m:e>
                            <m:r>
                              <m:rPr>
                                <m:nor/>
                              </m:rPr>
                              <a:rPr lang="en-US" sz="2200" i="1" dirty="0">
                                <a:latin typeface="Calibri" panose="020F0502020204030204" pitchFamily="34" charset="0"/>
                                <a:ea typeface="Calibri" panose="020F0502020204030204" pitchFamily="34" charset="0"/>
                                <a:cs typeface="Calibri" panose="020F0502020204030204" pitchFamily="34" charset="0"/>
                              </a:rPr>
                              <m:t>d</m:t>
                            </m:r>
                            <m:r>
                              <m:rPr>
                                <m:nor/>
                              </m:rPr>
                              <a:rPr lang="el-GR" sz="2200" i="1" dirty="0">
                                <a:latin typeface="Calibri" panose="020F0502020204030204" pitchFamily="34" charset="0"/>
                                <a:ea typeface="Calibri" panose="020F0502020204030204" pitchFamily="34" charset="0"/>
                                <a:cs typeface="Calibri" panose="020F0502020204030204" pitchFamily="34" charset="0"/>
                              </a:rPr>
                              <m:t>τ</m:t>
                            </m:r>
                          </m:e>
                          <m:sup>
                            <m:r>
                              <a:rPr lang="en-US" sz="2200" i="1">
                                <a:latin typeface="Cambria Math" panose="02040503050406030204" pitchFamily="18" charset="0"/>
                              </a:rPr>
                              <m:t>2</m:t>
                            </m:r>
                          </m:sup>
                        </m:sSup>
                      </m:den>
                    </m:f>
                  </m:oMath>
                </a14:m>
                <a:endParaRPr lang="en-IN" sz="2200" dirty="0">
                  <a:latin typeface="Calibri" panose="020F0502020204030204" pitchFamily="34" charset="0"/>
                  <a:ea typeface="Calibri" panose="020F0502020204030204" pitchFamily="34" charset="0"/>
                  <a:cs typeface="Calibri" panose="020F0502020204030204" pitchFamily="34" charset="0"/>
                </a:endParaRPr>
              </a:p>
              <a:p>
                <a:r>
                  <a:rPr lang="en-US" sz="2200" dirty="0">
                    <a:latin typeface="Calibri" panose="020F0502020204030204" pitchFamily="34" charset="0"/>
                    <a:ea typeface="Calibri" panose="020F0502020204030204" pitchFamily="34" charset="0"/>
                    <a:cs typeface="Calibri" panose="020F0502020204030204" pitchFamily="34" charset="0"/>
                  </a:rPr>
                  <a:t>Factor 10 appears in integrator gain blocks</a:t>
                </a:r>
              </a:p>
              <a:p>
                <a:r>
                  <a:rPr lang="en-US" sz="2200" dirty="0">
                    <a:latin typeface="Calibri" panose="020F0502020204030204" pitchFamily="34" charset="0"/>
                    <a:ea typeface="Calibri" panose="020F0502020204030204" pitchFamily="34" charset="0"/>
                    <a:cs typeface="Calibri" panose="020F0502020204030204" pitchFamily="34" charset="0"/>
                  </a:rPr>
                  <a:t>Factor 1/5 appears as the small gain block in feedback path</a:t>
                </a:r>
              </a:p>
              <a:p>
                <a:endParaRPr lang="en-US" sz="2200" dirty="0">
                  <a:latin typeface="Calibri" panose="020F0502020204030204" pitchFamily="34" charset="0"/>
                  <a:ea typeface="Calibri" panose="020F0502020204030204" pitchFamily="34" charset="0"/>
                  <a:cs typeface="Calibri" panose="020F0502020204030204" pitchFamily="34" charset="0"/>
                </a:endParaRPr>
              </a:p>
              <a:p>
                <a:r>
                  <a:rPr lang="en-US" sz="2200" dirty="0">
                    <a:latin typeface="Calibri" panose="020F0502020204030204" pitchFamily="34" charset="0"/>
                    <a:ea typeface="Calibri" panose="020F0502020204030204" pitchFamily="34" charset="0"/>
                    <a:cs typeface="Calibri" panose="020F0502020204030204" pitchFamily="34" charset="0"/>
                  </a:rPr>
                  <a:t>Scaled equation:</a:t>
                </a:r>
              </a:p>
              <a:p>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ŷ </a:t>
                </a:r>
                <a:r>
                  <a:rPr lang="es-ES" sz="2200" dirty="0">
                    <a:latin typeface="Calibri" panose="020F0502020204030204" pitchFamily="34" charset="0"/>
                    <a:ea typeface="Calibri" panose="020F0502020204030204" pitchFamily="34" charset="0"/>
                    <a:cs typeface="Calibri" panose="020F0502020204030204" pitchFamily="34" charset="0"/>
                  </a:rPr>
                  <a:t>​′′=10μ(1−4</a:t>
                </a:r>
                <a:r>
                  <a:rPr lang="ar-AE" sz="2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p>
                      <m:sSupPr>
                        <m:ctrlPr>
                          <a:rPr lang="ar-AE" sz="2200" i="1">
                            <a:latin typeface="Cambria Math" panose="02040503050406030204" pitchFamily="18" charset="0"/>
                          </a:rPr>
                        </m:ctrlPr>
                      </m:sSupPr>
                      <m:e>
                        <m:r>
                          <a:rPr lang="ar-AE" sz="2200" i="1">
                            <a:latin typeface="Cambria Math" panose="02040503050406030204" pitchFamily="18" charset="0"/>
                          </a:rPr>
                          <m:t>𝑦</m:t>
                        </m:r>
                      </m:e>
                      <m:sup>
                        <m:r>
                          <a:rPr lang="ar-AE" sz="2200">
                            <a:latin typeface="Cambria Math" panose="02040503050406030204" pitchFamily="18" charset="0"/>
                          </a:rPr>
                          <m:t>2</m:t>
                        </m:r>
                      </m:sup>
                    </m:sSup>
                  </m:oMath>
                </a14:m>
                <a:r>
                  <a:rPr lang="es-ES" sz="2200" dirty="0">
                    <a:latin typeface="Calibri" panose="020F0502020204030204" pitchFamily="34" charset="0"/>
                    <a:ea typeface="Calibri" panose="020F0502020204030204" pitchFamily="34" charset="0"/>
                    <a:cs typeface="Calibri" panose="020F0502020204030204" pitchFamily="34" charset="0"/>
                  </a:rPr>
                  <a:t>)</a:t>
                </a:r>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ŷ </a:t>
                </a:r>
                <a:r>
                  <a:rPr lang="es-ES" sz="2200" dirty="0">
                    <a:latin typeface="Calibri" panose="020F0502020204030204" pitchFamily="34" charset="0"/>
                    <a:ea typeface="Calibri" panose="020F0502020204030204" pitchFamily="34" charset="0"/>
                    <a:cs typeface="Calibri" panose="020F0502020204030204" pitchFamily="34" charset="0"/>
                  </a:rPr>
                  <a:t>​′−100</a:t>
                </a:r>
                <a:r>
                  <a:rPr lang="cy-GB"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 ŷ</a:t>
                </a:r>
              </a:p>
              <a:p>
                <a:endParaRPr lang="en-US" sz="2200" dirty="0">
                  <a:latin typeface="Calibri" panose="020F0502020204030204" pitchFamily="34" charset="0"/>
                  <a:ea typeface="Calibri" panose="020F0502020204030204" pitchFamily="34" charset="0"/>
                  <a:cs typeface="Calibri" panose="020F0502020204030204" pitchFamily="34" charset="0"/>
                </a:endParaRPr>
              </a:p>
              <a:p>
                <a:endParaRPr lang="en-IN" sz="2200" dirty="0">
                  <a:latin typeface="Calibri" panose="020F0502020204030204" pitchFamily="34" charset="0"/>
                  <a:ea typeface="Calibri" panose="020F0502020204030204" pitchFamily="34" charset="0"/>
                  <a:cs typeface="Calibri" panose="020F0502020204030204" pitchFamily="34" charset="0"/>
                </a:endParaRPr>
              </a:p>
              <a:p>
                <a:endParaRPr lang="en-IN" sz="22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TextBox 4">
                <a:extLst>
                  <a:ext uri="{FF2B5EF4-FFF2-40B4-BE49-F238E27FC236}">
                    <a16:creationId xmlns:a16="http://schemas.microsoft.com/office/drawing/2014/main" id="{07D7F97C-D98A-7129-FD7D-1F3EE1FA00EF}"/>
                  </a:ext>
                </a:extLst>
              </p:cNvPr>
              <p:cNvSpPr txBox="1">
                <a:spLocks noRot="1" noChangeAspect="1" noMove="1" noResize="1" noEditPoints="1" noAdjustHandles="1" noChangeArrowheads="1" noChangeShapeType="1" noTextEdit="1"/>
              </p:cNvSpPr>
              <p:nvPr/>
            </p:nvSpPr>
            <p:spPr>
              <a:xfrm>
                <a:off x="6891121" y="3189752"/>
                <a:ext cx="5014452" cy="3716210"/>
              </a:xfrm>
              <a:prstGeom prst="rect">
                <a:avLst/>
              </a:prstGeom>
              <a:blipFill>
                <a:blip r:embed="rId5"/>
                <a:stretch>
                  <a:fillRect l="-1580" r="-1458"/>
                </a:stretch>
              </a:blipFill>
            </p:spPr>
            <p:txBody>
              <a:bodyPr/>
              <a:lstStyle/>
              <a:p>
                <a:r>
                  <a:rPr lang="en-IN">
                    <a:noFill/>
                  </a:rPr>
                  <a:t> </a:t>
                </a:r>
              </a:p>
            </p:txBody>
          </p:sp>
        </mc:Fallback>
      </mc:AlternateContent>
    </p:spTree>
    <p:extLst>
      <p:ext uri="{BB962C8B-B14F-4D97-AF65-F5344CB8AC3E}">
        <p14:creationId xmlns:p14="http://schemas.microsoft.com/office/powerpoint/2010/main" val="3790192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621B1A57-FC84-ADDA-017A-7D0B22451DB2}"/>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4F521813-7E65-4B44-1A03-3E88DFDDC473}"/>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SCALING VAN DER POL EQUATION</a:t>
            </a:r>
            <a:endParaRPr dirty="0"/>
          </a:p>
        </p:txBody>
      </p:sp>
      <p:sp>
        <p:nvSpPr>
          <p:cNvPr id="132" name="Google Shape;132;p17">
            <a:extLst>
              <a:ext uri="{FF2B5EF4-FFF2-40B4-BE49-F238E27FC236}">
                <a16:creationId xmlns:a16="http://schemas.microsoft.com/office/drawing/2014/main" id="{AD54AF8D-4106-7290-C7F5-EE584B20E733}"/>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8</a:t>
            </a:fld>
            <a:endParaRPr/>
          </a:p>
        </p:txBody>
      </p:sp>
      <p:pic>
        <p:nvPicPr>
          <p:cNvPr id="4" name="Picture 3">
            <a:extLst>
              <a:ext uri="{FF2B5EF4-FFF2-40B4-BE49-F238E27FC236}">
                <a16:creationId xmlns:a16="http://schemas.microsoft.com/office/drawing/2014/main" id="{1F5266F1-D3F1-C10D-3822-B2D3F6C5F004}"/>
              </a:ext>
            </a:extLst>
          </p:cNvPr>
          <p:cNvPicPr>
            <a:picLocks noChangeAspect="1"/>
          </p:cNvPicPr>
          <p:nvPr/>
        </p:nvPicPr>
        <p:blipFill>
          <a:blip r:embed="rId3"/>
          <a:srcRect l="2751" t="2435" b="9222"/>
          <a:stretch>
            <a:fillRect/>
          </a:stretch>
        </p:blipFill>
        <p:spPr>
          <a:xfrm>
            <a:off x="3642240" y="712336"/>
            <a:ext cx="8062451" cy="4379436"/>
          </a:xfrm>
          <a:prstGeom prst="rect">
            <a:avLst/>
          </a:prstGeom>
        </p:spPr>
      </p:pic>
      <p:sp>
        <p:nvSpPr>
          <p:cNvPr id="7" name="TextBox 6">
            <a:extLst>
              <a:ext uri="{FF2B5EF4-FFF2-40B4-BE49-F238E27FC236}">
                <a16:creationId xmlns:a16="http://schemas.microsoft.com/office/drawing/2014/main" id="{5532F94B-F796-58FA-97AA-4EC923E78A1C}"/>
              </a:ext>
            </a:extLst>
          </p:cNvPr>
          <p:cNvSpPr txBox="1"/>
          <p:nvPr/>
        </p:nvSpPr>
        <p:spPr>
          <a:xfrm>
            <a:off x="137652" y="850734"/>
            <a:ext cx="3991896" cy="2800767"/>
          </a:xfrm>
          <a:prstGeom prst="rect">
            <a:avLst/>
          </a:prstGeom>
          <a:noFill/>
        </p:spPr>
        <p:txBody>
          <a:bodyPr wrap="square">
            <a:spAutoFit/>
          </a:bodyPr>
          <a:lstStyle/>
          <a:p>
            <a:r>
              <a:rPr lang="en-US" sz="2200" dirty="0">
                <a:latin typeface="Calibri" panose="020F0502020204030204" pitchFamily="34" charset="0"/>
                <a:ea typeface="Calibri" panose="020F0502020204030204" pitchFamily="34" charset="0"/>
                <a:cs typeface="Calibri" panose="020F0502020204030204" pitchFamily="34" charset="0"/>
              </a:rPr>
              <a:t>Executing this process for all variables within the program yields the following set of equations with auxiliary variables y1, y2, and y3, which can be readily converted into a scaled computer setup:</a:t>
            </a:r>
          </a:p>
          <a:p>
            <a:endParaRPr lang="en-IN" sz="22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E6C5DA06-3665-801F-B39E-301E0A14AB9A}"/>
              </a:ext>
            </a:extLst>
          </p:cNvPr>
          <p:cNvPicPr>
            <a:picLocks noChangeAspect="1"/>
          </p:cNvPicPr>
          <p:nvPr/>
        </p:nvPicPr>
        <p:blipFill>
          <a:blip r:embed="rId4"/>
          <a:stretch>
            <a:fillRect/>
          </a:stretch>
        </p:blipFill>
        <p:spPr>
          <a:xfrm>
            <a:off x="544190" y="3245978"/>
            <a:ext cx="2827052" cy="3144990"/>
          </a:xfrm>
          <a:prstGeom prst="rect">
            <a:avLst/>
          </a:prstGeom>
        </p:spPr>
      </p:pic>
      <p:sp>
        <p:nvSpPr>
          <p:cNvPr id="13" name="TextBox 12">
            <a:extLst>
              <a:ext uri="{FF2B5EF4-FFF2-40B4-BE49-F238E27FC236}">
                <a16:creationId xmlns:a16="http://schemas.microsoft.com/office/drawing/2014/main" id="{17A2AD78-EE0A-E72B-7602-7CCF966B264F}"/>
              </a:ext>
            </a:extLst>
          </p:cNvPr>
          <p:cNvSpPr txBox="1"/>
          <p:nvPr/>
        </p:nvSpPr>
        <p:spPr>
          <a:xfrm>
            <a:off x="3411796" y="4904583"/>
            <a:ext cx="8780204" cy="163121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Each constant in the diagram originates from:</a:t>
            </a:r>
          </a:p>
          <a:p>
            <a:r>
              <a:rPr lang="en-US" sz="2000" dirty="0">
                <a:latin typeface="Calibri" panose="020F0502020204030204" pitchFamily="34" charset="0"/>
                <a:ea typeface="Calibri" panose="020F0502020204030204" pitchFamily="34" charset="0"/>
                <a:cs typeface="Calibri" panose="020F0502020204030204" pitchFamily="34" charset="0"/>
              </a:rPr>
              <a:t>• Variable scaling: 2, 4</a:t>
            </a:r>
          </a:p>
          <a:p>
            <a:r>
              <a:rPr lang="en-US" sz="2000" dirty="0">
                <a:latin typeface="Calibri" panose="020F0502020204030204" pitchFamily="34" charset="0"/>
                <a:ea typeface="Calibri" panose="020F0502020204030204" pitchFamily="34" charset="0"/>
                <a:cs typeface="Calibri" panose="020F0502020204030204" pitchFamily="34" charset="0"/>
              </a:rPr>
              <a:t>• Time scaling: 10, 1/5</a:t>
            </a:r>
          </a:p>
          <a:p>
            <a:r>
              <a:rPr lang="en-US" sz="2000" dirty="0">
                <a:latin typeface="Calibri" panose="020F0502020204030204" pitchFamily="34" charset="0"/>
                <a:ea typeface="Calibri" panose="020F0502020204030204" pitchFamily="34" charset="0"/>
                <a:cs typeface="Calibri" panose="020F0502020204030204" pitchFamily="34" charset="0"/>
              </a:rPr>
              <a:t>• Gain distribution: 1/4, 4/5, 10</a:t>
            </a:r>
          </a:p>
          <a:p>
            <a:r>
              <a:rPr lang="en-US" sz="2000" dirty="0">
                <a:latin typeface="Calibri" panose="020F0502020204030204" pitchFamily="34" charset="0"/>
                <a:ea typeface="Calibri" panose="020F0502020204030204" pitchFamily="34" charset="0"/>
                <a:cs typeface="Calibri" panose="020F0502020204030204" pitchFamily="34" charset="0"/>
              </a:rPr>
              <a:t>The circuit is thus a distributed implementation of the original nonlinear equation.</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1579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A6ED4AAA-25E0-647D-5DC0-93CC3D9F135D}"/>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E97FCD30-D4AF-F54B-2207-E1E186C690DB}"/>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ANALOG SETUP</a:t>
            </a:r>
            <a:endParaRPr dirty="0"/>
          </a:p>
        </p:txBody>
      </p:sp>
      <p:sp>
        <p:nvSpPr>
          <p:cNvPr id="132" name="Google Shape;132;p17">
            <a:extLst>
              <a:ext uri="{FF2B5EF4-FFF2-40B4-BE49-F238E27FC236}">
                <a16:creationId xmlns:a16="http://schemas.microsoft.com/office/drawing/2014/main" id="{59256FCE-879F-7B33-A00E-5EAE26DF8B20}"/>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9</a:t>
            </a:fld>
            <a:endParaRPr/>
          </a:p>
        </p:txBody>
      </p:sp>
      <p:pic>
        <p:nvPicPr>
          <p:cNvPr id="3" name="Picture 2">
            <a:extLst>
              <a:ext uri="{FF2B5EF4-FFF2-40B4-BE49-F238E27FC236}">
                <a16:creationId xmlns:a16="http://schemas.microsoft.com/office/drawing/2014/main" id="{035AFE58-8B76-C5DD-AB15-4538A46834EF}"/>
              </a:ext>
            </a:extLst>
          </p:cNvPr>
          <p:cNvPicPr>
            <a:picLocks noChangeAspect="1"/>
          </p:cNvPicPr>
          <p:nvPr/>
        </p:nvPicPr>
        <p:blipFill>
          <a:blip r:embed="rId3"/>
          <a:stretch>
            <a:fillRect/>
          </a:stretch>
        </p:blipFill>
        <p:spPr>
          <a:xfrm>
            <a:off x="0" y="767596"/>
            <a:ext cx="12192000" cy="5633203"/>
          </a:xfrm>
          <a:prstGeom prst="rect">
            <a:avLst/>
          </a:prstGeom>
        </p:spPr>
      </p:pic>
    </p:spTree>
    <p:extLst>
      <p:ext uri="{BB962C8B-B14F-4D97-AF65-F5344CB8AC3E}">
        <p14:creationId xmlns:p14="http://schemas.microsoft.com/office/powerpoint/2010/main" val="1694023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C335512F-1803-758F-88A9-69D220FF0CD6}"/>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FAE18E3D-CE09-964E-24FF-D967E6141BE2}"/>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SYSTEM RESPONSE</a:t>
            </a:r>
            <a:endParaRPr dirty="0"/>
          </a:p>
        </p:txBody>
      </p:sp>
      <p:sp>
        <p:nvSpPr>
          <p:cNvPr id="132" name="Google Shape;132;p17">
            <a:extLst>
              <a:ext uri="{FF2B5EF4-FFF2-40B4-BE49-F238E27FC236}">
                <a16:creationId xmlns:a16="http://schemas.microsoft.com/office/drawing/2014/main" id="{9D0F7C73-B413-549E-8802-FA3B503B8DF2}"/>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10</a:t>
            </a:fld>
            <a:endParaRPr/>
          </a:p>
        </p:txBody>
      </p:sp>
      <p:pic>
        <p:nvPicPr>
          <p:cNvPr id="4" name="Picture 3">
            <a:extLst>
              <a:ext uri="{FF2B5EF4-FFF2-40B4-BE49-F238E27FC236}">
                <a16:creationId xmlns:a16="http://schemas.microsoft.com/office/drawing/2014/main" id="{5A2784A2-11C2-96AF-D749-3546F5821227}"/>
              </a:ext>
            </a:extLst>
          </p:cNvPr>
          <p:cNvPicPr>
            <a:picLocks noChangeAspect="1"/>
          </p:cNvPicPr>
          <p:nvPr/>
        </p:nvPicPr>
        <p:blipFill>
          <a:blip r:embed="rId3"/>
          <a:stretch>
            <a:fillRect/>
          </a:stretch>
        </p:blipFill>
        <p:spPr>
          <a:xfrm>
            <a:off x="175135" y="873222"/>
            <a:ext cx="5924154" cy="2865326"/>
          </a:xfrm>
          <a:prstGeom prst="rect">
            <a:avLst/>
          </a:prstGeom>
        </p:spPr>
      </p:pic>
      <p:pic>
        <p:nvPicPr>
          <p:cNvPr id="8" name="Picture 7">
            <a:extLst>
              <a:ext uri="{FF2B5EF4-FFF2-40B4-BE49-F238E27FC236}">
                <a16:creationId xmlns:a16="http://schemas.microsoft.com/office/drawing/2014/main" id="{88AB6C4D-B2B0-4373-4223-2B187A939D67}"/>
              </a:ext>
            </a:extLst>
          </p:cNvPr>
          <p:cNvPicPr>
            <a:picLocks noChangeAspect="1"/>
          </p:cNvPicPr>
          <p:nvPr/>
        </p:nvPicPr>
        <p:blipFill>
          <a:blip r:embed="rId4"/>
          <a:stretch>
            <a:fillRect/>
          </a:stretch>
        </p:blipFill>
        <p:spPr>
          <a:xfrm>
            <a:off x="175135" y="3708434"/>
            <a:ext cx="5974020" cy="2613708"/>
          </a:xfrm>
          <a:prstGeom prst="rect">
            <a:avLst/>
          </a:prstGeom>
        </p:spPr>
      </p:pic>
      <p:pic>
        <p:nvPicPr>
          <p:cNvPr id="10" name="Picture 9">
            <a:extLst>
              <a:ext uri="{FF2B5EF4-FFF2-40B4-BE49-F238E27FC236}">
                <a16:creationId xmlns:a16="http://schemas.microsoft.com/office/drawing/2014/main" id="{41E03D64-5640-0DFF-6400-55C4D439ED17}"/>
              </a:ext>
            </a:extLst>
          </p:cNvPr>
          <p:cNvPicPr>
            <a:picLocks noChangeAspect="1"/>
          </p:cNvPicPr>
          <p:nvPr/>
        </p:nvPicPr>
        <p:blipFill>
          <a:blip r:embed="rId5"/>
          <a:stretch>
            <a:fillRect/>
          </a:stretch>
        </p:blipFill>
        <p:spPr>
          <a:xfrm>
            <a:off x="6149155" y="3693376"/>
            <a:ext cx="5924153" cy="2613708"/>
          </a:xfrm>
          <a:prstGeom prst="rect">
            <a:avLst/>
          </a:prstGeom>
        </p:spPr>
      </p:pic>
      <p:pic>
        <p:nvPicPr>
          <p:cNvPr id="3" name="Picture 2">
            <a:extLst>
              <a:ext uri="{FF2B5EF4-FFF2-40B4-BE49-F238E27FC236}">
                <a16:creationId xmlns:a16="http://schemas.microsoft.com/office/drawing/2014/main" id="{1F8A1D2C-0DEC-B553-BC46-8A90A899B2EB}"/>
              </a:ext>
            </a:extLst>
          </p:cNvPr>
          <p:cNvPicPr>
            <a:picLocks noChangeAspect="1"/>
          </p:cNvPicPr>
          <p:nvPr/>
        </p:nvPicPr>
        <p:blipFill>
          <a:blip r:embed="rId6"/>
          <a:stretch>
            <a:fillRect/>
          </a:stretch>
        </p:blipFill>
        <p:spPr>
          <a:xfrm>
            <a:off x="6063231" y="934083"/>
            <a:ext cx="5974020" cy="2804465"/>
          </a:xfrm>
          <a:prstGeom prst="rect">
            <a:avLst/>
          </a:prstGeom>
        </p:spPr>
      </p:pic>
    </p:spTree>
    <p:extLst>
      <p:ext uri="{BB962C8B-B14F-4D97-AF65-F5344CB8AC3E}">
        <p14:creationId xmlns:p14="http://schemas.microsoft.com/office/powerpoint/2010/main" val="1067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3B211BEE-21A6-9082-62E3-F0ED7A02FF18}"/>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924D2EE3-8B76-6746-3297-15853F7F289D}"/>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DATASET GENERATION</a:t>
            </a:r>
            <a:endParaRPr dirty="0"/>
          </a:p>
        </p:txBody>
      </p:sp>
      <p:sp>
        <p:nvSpPr>
          <p:cNvPr id="132" name="Google Shape;132;p17">
            <a:extLst>
              <a:ext uri="{FF2B5EF4-FFF2-40B4-BE49-F238E27FC236}">
                <a16:creationId xmlns:a16="http://schemas.microsoft.com/office/drawing/2014/main" id="{25B05F10-3FC7-2317-B0B6-5D937A84B089}"/>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11</a:t>
            </a:fld>
            <a:endParaRPr/>
          </a:p>
        </p:txBody>
      </p:sp>
      <p:sp>
        <p:nvSpPr>
          <p:cNvPr id="2" name="TextBox 1">
            <a:extLst>
              <a:ext uri="{FF2B5EF4-FFF2-40B4-BE49-F238E27FC236}">
                <a16:creationId xmlns:a16="http://schemas.microsoft.com/office/drawing/2014/main" id="{7B4E22C2-2B20-B836-EA78-3A38E9FEB8E6}"/>
              </a:ext>
            </a:extLst>
          </p:cNvPr>
          <p:cNvSpPr txBox="1"/>
          <p:nvPr/>
        </p:nvSpPr>
        <p:spPr>
          <a:xfrm>
            <a:off x="235974" y="953729"/>
            <a:ext cx="11651226" cy="3754874"/>
          </a:xfrm>
          <a:prstGeom prst="rect">
            <a:avLst/>
          </a:prstGeom>
          <a:noFill/>
        </p:spPr>
        <p:txBody>
          <a:bodyPr wrap="square" rtlCol="0">
            <a:spAutoFit/>
          </a:bodyPr>
          <a:lstStyle/>
          <a:p>
            <a:pPr marL="342900" indent="-342900">
              <a:buAutoNum type="arabicPeriod"/>
            </a:pPr>
            <a:r>
              <a:rPr lang="en-US" dirty="0"/>
              <a:t>A script file named </a:t>
            </a:r>
            <a:r>
              <a:rPr lang="en-US" dirty="0" err="1"/>
              <a:t>dataset_generation.m</a:t>
            </a:r>
            <a:r>
              <a:rPr lang="en-US" dirty="0"/>
              <a:t> is created in the same directory as that of the Simulink file.</a:t>
            </a:r>
          </a:p>
          <a:p>
            <a:endParaRPr lang="en-US" dirty="0"/>
          </a:p>
          <a:p>
            <a:r>
              <a:rPr lang="en-US" dirty="0"/>
              <a:t>2.   </a:t>
            </a:r>
            <a:r>
              <a:rPr lang="en-US" b="1" dirty="0"/>
              <a:t>Different ranges of the various categories of oscillation </a:t>
            </a:r>
            <a:r>
              <a:rPr lang="en-US" b="1" dirty="0" err="1"/>
              <a:t>behaviour</a:t>
            </a:r>
            <a:r>
              <a:rPr lang="en-US" b="1" dirty="0"/>
              <a:t> created by varying the mu parameter and iterating throughout.</a:t>
            </a:r>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pPr marL="342900" indent="-342900">
              <a:buAutoNum type="arabicPeriod"/>
            </a:pPr>
            <a:endParaRPr lang="en-US" dirty="0"/>
          </a:p>
          <a:p>
            <a:r>
              <a:rPr lang="en-US" dirty="0"/>
              <a:t>3. </a:t>
            </a:r>
            <a:r>
              <a:rPr lang="en-US" b="1" dirty="0"/>
              <a:t>Simulation setup:</a:t>
            </a:r>
          </a:p>
          <a:p>
            <a:endParaRPr lang="en-IN" dirty="0"/>
          </a:p>
          <a:p>
            <a:endParaRPr lang="en-US" dirty="0"/>
          </a:p>
        </p:txBody>
      </p:sp>
      <p:graphicFrame>
        <p:nvGraphicFramePr>
          <p:cNvPr id="3" name="Table 2">
            <a:extLst>
              <a:ext uri="{FF2B5EF4-FFF2-40B4-BE49-F238E27FC236}">
                <a16:creationId xmlns:a16="http://schemas.microsoft.com/office/drawing/2014/main" id="{6D817D41-265D-14A2-C476-AEFCD3518D9B}"/>
              </a:ext>
            </a:extLst>
          </p:cNvPr>
          <p:cNvGraphicFramePr>
            <a:graphicFrameLocks noGrp="1"/>
          </p:cNvGraphicFramePr>
          <p:nvPr>
            <p:extLst>
              <p:ext uri="{D42A27DB-BD31-4B8C-83A1-F6EECF244321}">
                <p14:modId xmlns:p14="http://schemas.microsoft.com/office/powerpoint/2010/main" val="199607170"/>
              </p:ext>
            </p:extLst>
          </p:nvPr>
        </p:nvGraphicFramePr>
        <p:xfrm>
          <a:off x="1392903" y="1738239"/>
          <a:ext cx="8128000" cy="1854200"/>
        </p:xfrm>
        <a:graphic>
          <a:graphicData uri="http://schemas.openxmlformats.org/drawingml/2006/table">
            <a:tbl>
              <a:tblPr firstRow="1" bandRow="1">
                <a:tableStyleId>{5940675A-B579-460E-94D1-54222C63F5DA}</a:tableStyleId>
              </a:tblPr>
              <a:tblGrid>
                <a:gridCol w="3769032">
                  <a:extLst>
                    <a:ext uri="{9D8B030D-6E8A-4147-A177-3AD203B41FA5}">
                      <a16:colId xmlns:a16="http://schemas.microsoft.com/office/drawing/2014/main" val="1311442787"/>
                    </a:ext>
                  </a:extLst>
                </a:gridCol>
                <a:gridCol w="4358968">
                  <a:extLst>
                    <a:ext uri="{9D8B030D-6E8A-4147-A177-3AD203B41FA5}">
                      <a16:colId xmlns:a16="http://schemas.microsoft.com/office/drawing/2014/main" val="3195056388"/>
                    </a:ext>
                  </a:extLst>
                </a:gridCol>
              </a:tblGrid>
              <a:tr h="370840">
                <a:tc>
                  <a:txBody>
                    <a:bodyPr/>
                    <a:lstStyle/>
                    <a:p>
                      <a:r>
                        <a:rPr lang="en-US" dirty="0"/>
                        <a:t>Regime</a:t>
                      </a:r>
                      <a:endParaRPr lang="en-IN" dirty="0"/>
                    </a:p>
                  </a:txBody>
                  <a:tcPr/>
                </a:tc>
                <a:tc>
                  <a:txBody>
                    <a:bodyPr/>
                    <a:lstStyle/>
                    <a:p>
                      <a:r>
                        <a:rPr lang="en-US" dirty="0"/>
                        <a:t>Mu values</a:t>
                      </a:r>
                      <a:endParaRPr lang="en-IN" dirty="0"/>
                    </a:p>
                  </a:txBody>
                  <a:tcPr/>
                </a:tc>
                <a:extLst>
                  <a:ext uri="{0D108BD9-81ED-4DB2-BD59-A6C34878D82A}">
                    <a16:rowId xmlns:a16="http://schemas.microsoft.com/office/drawing/2014/main" val="1349675067"/>
                  </a:ext>
                </a:extLst>
              </a:tr>
              <a:tr h="370840">
                <a:tc>
                  <a:txBody>
                    <a:bodyPr/>
                    <a:lstStyle/>
                    <a:p>
                      <a:r>
                        <a:rPr lang="en-IN" b="1" dirty="0"/>
                        <a:t>Harmonic Region</a:t>
                      </a:r>
                    </a:p>
                  </a:txBody>
                  <a:tcPr/>
                </a:tc>
                <a:tc>
                  <a:txBody>
                    <a:bodyPr/>
                    <a:lstStyle/>
                    <a:p>
                      <a:r>
                        <a:rPr lang="en-IN" dirty="0"/>
                        <a:t>0, 10</a:t>
                      </a:r>
                      <a:r>
                        <a:rPr lang="en-IN" baseline="30000" dirty="0"/>
                        <a:t>−10</a:t>
                      </a:r>
                      <a:r>
                        <a:rPr lang="en-IN" dirty="0"/>
                        <a:t>, 10</a:t>
                      </a:r>
                      <a:r>
                        <a:rPr lang="en-IN" baseline="30000" dirty="0"/>
                        <a:t>−9</a:t>
                      </a:r>
                      <a:r>
                        <a:rPr lang="en-IN" dirty="0"/>
                        <a:t>, 10</a:t>
                      </a:r>
                      <a:r>
                        <a:rPr lang="en-IN" baseline="30000" dirty="0"/>
                        <a:t>−8</a:t>
                      </a:r>
                      <a:r>
                        <a:rPr lang="en-IN" dirty="0"/>
                        <a:t>, 10</a:t>
                      </a:r>
                      <a:r>
                        <a:rPr lang="en-IN" baseline="30000" dirty="0"/>
                        <a:t>−7</a:t>
                      </a:r>
                    </a:p>
                  </a:txBody>
                  <a:tcPr/>
                </a:tc>
                <a:extLst>
                  <a:ext uri="{0D108BD9-81ED-4DB2-BD59-A6C34878D82A}">
                    <a16:rowId xmlns:a16="http://schemas.microsoft.com/office/drawing/2014/main" val="1368650666"/>
                  </a:ext>
                </a:extLst>
              </a:tr>
              <a:tr h="370840">
                <a:tc>
                  <a:txBody>
                    <a:bodyPr/>
                    <a:lstStyle/>
                    <a:p>
                      <a:r>
                        <a:rPr lang="en-IN" b="1" dirty="0"/>
                        <a:t>Weak Nonlinear Region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0.01, 0.05, 0.1, 0.2, 0.5 </a:t>
                      </a:r>
                    </a:p>
                  </a:txBody>
                  <a:tcPr/>
                </a:tc>
                <a:extLst>
                  <a:ext uri="{0D108BD9-81ED-4DB2-BD59-A6C34878D82A}">
                    <a16:rowId xmlns:a16="http://schemas.microsoft.com/office/drawing/2014/main" val="2636127662"/>
                  </a:ext>
                </a:extLst>
              </a:tr>
              <a:tr h="370840">
                <a:tc>
                  <a:txBody>
                    <a:bodyPr/>
                    <a:lstStyle/>
                    <a:p>
                      <a:r>
                        <a:rPr lang="en-IN" b="1" dirty="0"/>
                        <a:t>Strong Nonlinear Region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2, 3, 4, 5, 7 </a:t>
                      </a:r>
                    </a:p>
                  </a:txBody>
                  <a:tcPr/>
                </a:tc>
                <a:extLst>
                  <a:ext uri="{0D108BD9-81ED-4DB2-BD59-A6C34878D82A}">
                    <a16:rowId xmlns:a16="http://schemas.microsoft.com/office/drawing/2014/main" val="2161947333"/>
                  </a:ext>
                </a:extLst>
              </a:tr>
              <a:tr h="370840">
                <a:tc>
                  <a:txBody>
                    <a:bodyPr/>
                    <a:lstStyle/>
                    <a:p>
                      <a:r>
                        <a:rPr lang="en-IN" b="1" dirty="0"/>
                        <a:t>Relaxation Oscillation Region</a:t>
                      </a:r>
                    </a:p>
                  </a:txBody>
                  <a:tcPr/>
                </a:tc>
                <a:tc>
                  <a:txBody>
                    <a:bodyPr/>
                    <a:lstStyle/>
                    <a:p>
                      <a:r>
                        <a:rPr lang="en-IN" dirty="0"/>
                        <a:t>10, 12, 15, 18, 20</a:t>
                      </a:r>
                    </a:p>
                  </a:txBody>
                  <a:tcPr/>
                </a:tc>
                <a:extLst>
                  <a:ext uri="{0D108BD9-81ED-4DB2-BD59-A6C34878D82A}">
                    <a16:rowId xmlns:a16="http://schemas.microsoft.com/office/drawing/2014/main" val="2644879648"/>
                  </a:ext>
                </a:extLst>
              </a:tr>
            </a:tbl>
          </a:graphicData>
        </a:graphic>
      </p:graphicFrame>
      <p:graphicFrame>
        <p:nvGraphicFramePr>
          <p:cNvPr id="5" name="Table 4">
            <a:extLst>
              <a:ext uri="{FF2B5EF4-FFF2-40B4-BE49-F238E27FC236}">
                <a16:creationId xmlns:a16="http://schemas.microsoft.com/office/drawing/2014/main" id="{80126BCB-F953-7363-7C52-0C43C915D58B}"/>
              </a:ext>
            </a:extLst>
          </p:cNvPr>
          <p:cNvGraphicFramePr>
            <a:graphicFrameLocks noGrp="1"/>
          </p:cNvGraphicFramePr>
          <p:nvPr>
            <p:extLst>
              <p:ext uri="{D42A27DB-BD31-4B8C-83A1-F6EECF244321}">
                <p14:modId xmlns:p14="http://schemas.microsoft.com/office/powerpoint/2010/main" val="416308013"/>
              </p:ext>
            </p:extLst>
          </p:nvPr>
        </p:nvGraphicFramePr>
        <p:xfrm>
          <a:off x="1392902" y="4333919"/>
          <a:ext cx="8128000" cy="1219200"/>
        </p:xfrm>
        <a:graphic>
          <a:graphicData uri="http://schemas.openxmlformats.org/drawingml/2006/table">
            <a:tbl>
              <a:tblPr/>
              <a:tblGrid>
                <a:gridCol w="4064000">
                  <a:extLst>
                    <a:ext uri="{9D8B030D-6E8A-4147-A177-3AD203B41FA5}">
                      <a16:colId xmlns:a16="http://schemas.microsoft.com/office/drawing/2014/main" val="3073214650"/>
                    </a:ext>
                  </a:extLst>
                </a:gridCol>
                <a:gridCol w="4064000">
                  <a:extLst>
                    <a:ext uri="{9D8B030D-6E8A-4147-A177-3AD203B41FA5}">
                      <a16:colId xmlns:a16="http://schemas.microsoft.com/office/drawing/2014/main" val="928469080"/>
                    </a:ext>
                  </a:extLst>
                </a:gridCol>
              </a:tblGrid>
              <a:tr h="302869">
                <a:tc>
                  <a:txBody>
                    <a:bodyPr/>
                    <a:lstStyle/>
                    <a:p>
                      <a:pPr>
                        <a:buNone/>
                      </a:pPr>
                      <a:r>
                        <a:rPr lang="en-IN"/>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6684155"/>
                  </a:ext>
                </a:extLst>
              </a:tr>
              <a:tr h="302869">
                <a:tc>
                  <a:txBody>
                    <a:bodyPr/>
                    <a:lstStyle/>
                    <a:p>
                      <a:pPr>
                        <a:buNone/>
                      </a:pPr>
                      <a:r>
                        <a:rPr lang="en-IN" b="1" dirty="0"/>
                        <a:t>Solver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ODE45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9475354"/>
                  </a:ext>
                </a:extLst>
              </a:tr>
              <a:tr h="302869">
                <a:tc>
                  <a:txBody>
                    <a:bodyPr/>
                    <a:lstStyle/>
                    <a:p>
                      <a:pPr>
                        <a:buNone/>
                      </a:pPr>
                      <a:r>
                        <a:rPr lang="en-IN" b="1" dirty="0"/>
                        <a:t>Solver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Variable-step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6574497"/>
                  </a:ext>
                </a:extLst>
              </a:tr>
              <a:tr h="302869">
                <a:tc>
                  <a:txBody>
                    <a:bodyPr/>
                    <a:lstStyle/>
                    <a:p>
                      <a:pPr>
                        <a:buNone/>
                      </a:pPr>
                      <a:r>
                        <a:rPr lang="en-IN" b="1" dirty="0"/>
                        <a:t>Stop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0.2 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1953920"/>
                  </a:ext>
                </a:extLst>
              </a:tr>
            </a:tbl>
          </a:graphicData>
        </a:graphic>
      </p:graphicFrame>
    </p:spTree>
    <p:extLst>
      <p:ext uri="{BB962C8B-B14F-4D97-AF65-F5344CB8AC3E}">
        <p14:creationId xmlns:p14="http://schemas.microsoft.com/office/powerpoint/2010/main" val="3868959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BA20F7B-5009-013E-0847-31FD50801F6F}"/>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6D991518-BAFF-68ED-42B3-FCEE953A702A}"/>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DATASET GENERATION</a:t>
            </a:r>
            <a:endParaRPr dirty="0"/>
          </a:p>
        </p:txBody>
      </p:sp>
      <p:sp>
        <p:nvSpPr>
          <p:cNvPr id="132" name="Google Shape;132;p17">
            <a:extLst>
              <a:ext uri="{FF2B5EF4-FFF2-40B4-BE49-F238E27FC236}">
                <a16:creationId xmlns:a16="http://schemas.microsoft.com/office/drawing/2014/main" id="{395C5BE9-F2F6-47BA-12EE-B179F5486EBC}"/>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12</a:t>
            </a:fld>
            <a:endParaRPr/>
          </a:p>
        </p:txBody>
      </p:sp>
      <p:sp>
        <p:nvSpPr>
          <p:cNvPr id="4" name="TextBox 3">
            <a:extLst>
              <a:ext uri="{FF2B5EF4-FFF2-40B4-BE49-F238E27FC236}">
                <a16:creationId xmlns:a16="http://schemas.microsoft.com/office/drawing/2014/main" id="{861D1011-E342-C847-819A-46E9A8837DE8}"/>
              </a:ext>
            </a:extLst>
          </p:cNvPr>
          <p:cNvSpPr txBox="1"/>
          <p:nvPr/>
        </p:nvSpPr>
        <p:spPr>
          <a:xfrm>
            <a:off x="344129" y="1022555"/>
            <a:ext cx="11277600" cy="4832092"/>
          </a:xfrm>
          <a:prstGeom prst="rect">
            <a:avLst/>
          </a:prstGeom>
          <a:noFill/>
        </p:spPr>
        <p:txBody>
          <a:bodyPr wrap="square" rtlCol="0">
            <a:spAutoFit/>
          </a:bodyPr>
          <a:lstStyle/>
          <a:p>
            <a:r>
              <a:rPr lang="en-US" dirty="0"/>
              <a:t>4. </a:t>
            </a:r>
            <a:r>
              <a:rPr lang="en-US" b="1" dirty="0"/>
              <a:t>The Simulink model of Vanderpol was executed.</a:t>
            </a:r>
          </a:p>
          <a:p>
            <a:endParaRPr lang="en-US" b="1" dirty="0"/>
          </a:p>
          <a:p>
            <a:r>
              <a:rPr lang="en-US" dirty="0"/>
              <a:t>5. </a:t>
            </a:r>
            <a:r>
              <a:rPr lang="en-US" b="1" dirty="0"/>
              <a:t>The following signals were extracted from Simulink outputs via the To Workspace blocks:</a:t>
            </a:r>
          </a:p>
          <a:p>
            <a:endParaRPr lang="en-US" b="1" dirty="0"/>
          </a:p>
          <a:p>
            <a:endParaRPr lang="en-US" dirty="0"/>
          </a:p>
          <a:p>
            <a:endParaRPr lang="en-US" dirty="0"/>
          </a:p>
          <a:p>
            <a:endParaRPr lang="en-US" dirty="0"/>
          </a:p>
          <a:p>
            <a:endParaRPr lang="en-US" dirty="0"/>
          </a:p>
          <a:p>
            <a:endParaRPr lang="en-US" dirty="0"/>
          </a:p>
          <a:p>
            <a:endParaRPr lang="en-US" dirty="0"/>
          </a:p>
          <a:p>
            <a:r>
              <a:rPr lang="en-US" dirty="0"/>
              <a:t>6. </a:t>
            </a:r>
            <a:r>
              <a:rPr lang="en-US" b="1" dirty="0"/>
              <a:t>Data Validation:</a:t>
            </a:r>
          </a:p>
          <a:p>
            <a:r>
              <a:rPr lang="en-IN" dirty="0"/>
              <a:t>Before processing, the generated signals were checked for invalid values.</a:t>
            </a:r>
          </a:p>
          <a:p>
            <a:r>
              <a:rPr lang="en-IN" dirty="0"/>
              <a:t>The simulation output was rejected if:</a:t>
            </a:r>
          </a:p>
          <a:p>
            <a:pPr marL="285750" indent="-285750">
              <a:buFont typeface="Arial" panose="020B0604020202020204" pitchFamily="34" charset="0"/>
              <a:buChar char="•"/>
            </a:pPr>
            <a:r>
              <a:rPr lang="en-IN" dirty="0"/>
              <a:t>the signal was empty, </a:t>
            </a:r>
          </a:p>
          <a:p>
            <a:pPr marL="285750" indent="-285750">
              <a:buFont typeface="Arial" panose="020B0604020202020204" pitchFamily="34" charset="0"/>
              <a:buChar char="•"/>
            </a:pPr>
            <a:r>
              <a:rPr lang="en-IN" dirty="0" err="1"/>
              <a:t>NaN</a:t>
            </a:r>
            <a:r>
              <a:rPr lang="en-IN" dirty="0"/>
              <a:t> values existed, </a:t>
            </a:r>
          </a:p>
          <a:p>
            <a:pPr marL="285750" indent="-285750">
              <a:buFont typeface="Arial" panose="020B0604020202020204" pitchFamily="34" charset="0"/>
              <a:buChar char="•"/>
            </a:pPr>
            <a:r>
              <a:rPr lang="en-IN" dirty="0"/>
              <a:t>Infinite values existed, </a:t>
            </a:r>
          </a:p>
          <a:p>
            <a:r>
              <a:rPr lang="en-IN" dirty="0"/>
              <a:t>This ensured numerical stability and prevented corrupted samples from entering the dataset.</a:t>
            </a:r>
          </a:p>
          <a:p>
            <a:endParaRPr lang="en-US" dirty="0"/>
          </a:p>
          <a:p>
            <a:r>
              <a:rPr lang="en-IN" dirty="0"/>
              <a:t>7. </a:t>
            </a:r>
            <a:r>
              <a:rPr lang="en-IN" b="1" dirty="0"/>
              <a:t>Removal of Initial Transient:</a:t>
            </a:r>
          </a:p>
          <a:p>
            <a:r>
              <a:rPr lang="en-IN" dirty="0"/>
              <a:t>The first 20% of samples were removed. Initial transient portions do not represent steady oscillatory behaviour. Removing them ensures that extracted features correspond only to stable system dynamics.</a:t>
            </a:r>
          </a:p>
          <a:p>
            <a:endParaRPr lang="en-IN" dirty="0"/>
          </a:p>
        </p:txBody>
      </p:sp>
      <p:graphicFrame>
        <p:nvGraphicFramePr>
          <p:cNvPr id="6" name="Table 5">
            <a:extLst>
              <a:ext uri="{FF2B5EF4-FFF2-40B4-BE49-F238E27FC236}">
                <a16:creationId xmlns:a16="http://schemas.microsoft.com/office/drawing/2014/main" id="{07BB6033-97D9-61D1-3AF7-C804B72FDE6A}"/>
              </a:ext>
            </a:extLst>
          </p:cNvPr>
          <p:cNvGraphicFramePr>
            <a:graphicFrameLocks noGrp="1"/>
          </p:cNvGraphicFramePr>
          <p:nvPr>
            <p:extLst>
              <p:ext uri="{D42A27DB-BD31-4B8C-83A1-F6EECF244321}">
                <p14:modId xmlns:p14="http://schemas.microsoft.com/office/powerpoint/2010/main" val="1974924829"/>
              </p:ext>
            </p:extLst>
          </p:nvPr>
        </p:nvGraphicFramePr>
        <p:xfrm>
          <a:off x="2418735" y="1827964"/>
          <a:ext cx="5618162" cy="1219200"/>
        </p:xfrm>
        <a:graphic>
          <a:graphicData uri="http://schemas.openxmlformats.org/drawingml/2006/table">
            <a:tbl>
              <a:tblPr/>
              <a:tblGrid>
                <a:gridCol w="2809081">
                  <a:extLst>
                    <a:ext uri="{9D8B030D-6E8A-4147-A177-3AD203B41FA5}">
                      <a16:colId xmlns:a16="http://schemas.microsoft.com/office/drawing/2014/main" val="1816974551"/>
                    </a:ext>
                  </a:extLst>
                </a:gridCol>
                <a:gridCol w="2809081">
                  <a:extLst>
                    <a:ext uri="{9D8B030D-6E8A-4147-A177-3AD203B41FA5}">
                      <a16:colId xmlns:a16="http://schemas.microsoft.com/office/drawing/2014/main" val="3526405785"/>
                    </a:ext>
                  </a:extLst>
                </a:gridCol>
              </a:tblGrid>
              <a:tr h="0">
                <a:tc>
                  <a:txBody>
                    <a:bodyPr/>
                    <a:lstStyle/>
                    <a:p>
                      <a:pPr>
                        <a:buNone/>
                      </a:pPr>
                      <a:r>
                        <a:rPr lang="en-IN"/>
                        <a:t>Signal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4102018"/>
                  </a:ext>
                </a:extLst>
              </a:tr>
              <a:tr h="0">
                <a:tc>
                  <a:txBody>
                    <a:bodyPr/>
                    <a:lstStyle/>
                    <a:p>
                      <a:pPr>
                        <a:buNone/>
                      </a:pPr>
                      <a:r>
                        <a:rPr lang="en-US" dirty="0">
                          <a:latin typeface="+mj-lt"/>
                        </a:rPr>
                        <a:t>y</a:t>
                      </a:r>
                      <a:endParaRPr lang="en-IN"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mj-lt"/>
                        </a:rPr>
                        <a:t>Oscillator displacement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2277528"/>
                  </a:ext>
                </a:extLst>
              </a:tr>
              <a:tr h="0">
                <a:tc>
                  <a:txBody>
                    <a:bodyPr/>
                    <a:lstStyle/>
                    <a:p>
                      <a:pPr>
                        <a:buNone/>
                      </a:pPr>
                      <a:r>
                        <a:rPr lang="en-IN">
                          <a:latin typeface="+mj-lt"/>
                        </a:rPr>
                        <a:t>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mj-lt"/>
                        </a:rPr>
                        <a:t>First derivative (velocity)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09098"/>
                  </a:ext>
                </a:extLst>
              </a:tr>
              <a:tr h="0">
                <a:tc>
                  <a:txBody>
                    <a:bodyPr/>
                    <a:lstStyle/>
                    <a:p>
                      <a:pPr>
                        <a:buNone/>
                      </a:pPr>
                      <a:r>
                        <a:rPr lang="en-IN" dirty="0" err="1">
                          <a:latin typeface="+mj-lt"/>
                        </a:rPr>
                        <a:t>ddy</a:t>
                      </a:r>
                      <a:endParaRPr lang="en-IN" dirty="0">
                        <a:latin typeface="+mj-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latin typeface="+mj-lt"/>
                        </a:rPr>
                        <a:t>Second derivative (acceleration)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4707887"/>
                  </a:ext>
                </a:extLst>
              </a:tr>
            </a:tbl>
          </a:graphicData>
        </a:graphic>
      </p:graphicFrame>
    </p:spTree>
    <p:extLst>
      <p:ext uri="{BB962C8B-B14F-4D97-AF65-F5344CB8AC3E}">
        <p14:creationId xmlns:p14="http://schemas.microsoft.com/office/powerpoint/2010/main" val="4174611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936CDA80-195D-7F87-6172-4F7C3A3E11ED}"/>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275AFB08-DB64-CC2C-97E3-0A29DD8DD7D6}"/>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DATASET GENERATION</a:t>
            </a:r>
            <a:endParaRPr dirty="0"/>
          </a:p>
        </p:txBody>
      </p:sp>
      <p:sp>
        <p:nvSpPr>
          <p:cNvPr id="132" name="Google Shape;132;p17">
            <a:extLst>
              <a:ext uri="{FF2B5EF4-FFF2-40B4-BE49-F238E27FC236}">
                <a16:creationId xmlns:a16="http://schemas.microsoft.com/office/drawing/2014/main" id="{D5F373DB-A884-A471-5DBC-510DFC14210D}"/>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13</a:t>
            </a:fld>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078DC94-2DF3-B44D-1625-58C3F84EBC31}"/>
                  </a:ext>
                </a:extLst>
              </p:cNvPr>
              <p:cNvSpPr txBox="1"/>
              <p:nvPr/>
            </p:nvSpPr>
            <p:spPr>
              <a:xfrm>
                <a:off x="226142" y="845575"/>
                <a:ext cx="11277600" cy="5515100"/>
              </a:xfrm>
              <a:prstGeom prst="rect">
                <a:avLst/>
              </a:prstGeom>
              <a:noFill/>
            </p:spPr>
            <p:txBody>
              <a:bodyPr wrap="square" rtlCol="0">
                <a:spAutoFit/>
              </a:bodyPr>
              <a:lstStyle/>
              <a:p>
                <a:r>
                  <a:rPr lang="en-US" dirty="0"/>
                  <a:t>8. </a:t>
                </a:r>
                <a:r>
                  <a:rPr lang="en-US" b="1" dirty="0"/>
                  <a:t>Regime labelling: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This created a supervised learning dataset.</a:t>
                </a:r>
              </a:p>
              <a:p>
                <a:endParaRPr lang="en-US" dirty="0"/>
              </a:p>
              <a:p>
                <a:r>
                  <a:rPr lang="en-US" dirty="0"/>
                  <a:t>9. </a:t>
                </a:r>
                <a:r>
                  <a:rPr lang="en-IN" b="1" dirty="0"/>
                  <a:t>Sliding Window Segmentation:</a:t>
                </a:r>
              </a:p>
              <a:p>
                <a:r>
                  <a:rPr lang="en-IN" dirty="0"/>
                  <a:t>The continuous signal was divided into smaller overlapping windows.</a:t>
                </a:r>
              </a:p>
              <a:p>
                <a:endParaRPr lang="en-IN" b="1" dirty="0"/>
              </a:p>
              <a:p>
                <a:endParaRPr lang="en-IN" b="1" dirty="0"/>
              </a:p>
              <a:p>
                <a:endParaRPr lang="en-IN" b="1" dirty="0"/>
              </a:p>
              <a:p>
                <a:endParaRPr lang="en-IN" b="1" dirty="0"/>
              </a:p>
              <a:p>
                <a:endParaRPr lang="en-IN" b="1" dirty="0"/>
              </a:p>
              <a:p>
                <a:r>
                  <a:rPr lang="en-IN" dirty="0"/>
                  <a:t>For each iteration 100 consecutive samples were selected, window shifted by 50 samples, next segment extracted. This produced overlapping windows and increased dataset size.</a:t>
                </a:r>
              </a:p>
              <a:p>
                <a:endParaRPr lang="en-US" dirty="0"/>
              </a:p>
              <a:p>
                <a:r>
                  <a:rPr lang="en-US" dirty="0"/>
                  <a:t>10. </a:t>
                </a:r>
                <a:r>
                  <a:rPr lang="en-US" b="1" dirty="0"/>
                  <a:t>Window normalization:</a:t>
                </a:r>
              </a:p>
              <a:p>
                <a:r>
                  <a:rPr lang="en-US" dirty="0"/>
                  <a:t>Each displacement window was normalized using z-score normalization:</a:t>
                </a:r>
              </a:p>
              <a:p>
                <a:r>
                  <a:rPr lang="en-US" dirty="0" err="1"/>
                  <a:t>y</a:t>
                </a:r>
                <a:r>
                  <a:rPr lang="en-US" baseline="-25000" dirty="0" err="1"/>
                  <a:t>norm</a:t>
                </a:r>
                <a:r>
                  <a:rPr lang="en-US" dirty="0"/>
                  <a:t>​=</a:t>
                </a:r>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𝜎</m:t>
                        </m:r>
                      </m:e>
                      <m:sub>
                        <m:r>
                          <a:rPr lang="en-IN" i="1">
                            <a:latin typeface="Cambria Math" panose="02040503050406030204" pitchFamily="18" charset="0"/>
                          </a:rPr>
                          <m:t>𝑦</m:t>
                        </m:r>
                      </m:sub>
                    </m:sSub>
                    <m:r>
                      <a:rPr lang="en-IN" i="1">
                        <a:latin typeface="Cambria Math" panose="02040503050406030204" pitchFamily="18" charset="0"/>
                      </a:rPr>
                      <m:t> </m:t>
                    </m:r>
                  </m:oMath>
                </a14:m>
                <a:r>
                  <a:rPr lang="en-US" dirty="0"/>
                  <a:t>+</a:t>
                </a:r>
                <a:r>
                  <a:rPr lang="en-IN" dirty="0"/>
                  <a:t> </a:t>
                </a:r>
                <a14:m>
                  <m:oMath xmlns:m="http://schemas.openxmlformats.org/officeDocument/2006/math">
                    <m:r>
                      <a:rPr lang="en-IN" i="1">
                        <a:latin typeface="Cambria Math" panose="02040503050406030204" pitchFamily="18" charset="0"/>
                      </a:rPr>
                      <m:t>𝜖</m:t>
                    </m:r>
                    <m:r>
                      <a:rPr lang="en-IN" i="1">
                        <a:latin typeface="Cambria Math" panose="02040503050406030204" pitchFamily="18" charset="0"/>
                      </a:rPr>
                      <m:t> </m:t>
                    </m:r>
                  </m:oMath>
                </a14:m>
                <a:r>
                  <a:rPr lang="en-US"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𝜇</m:t>
                        </m:r>
                      </m:e>
                      <m:sub>
                        <m:r>
                          <a:rPr lang="en-IN" i="1">
                            <a:latin typeface="Cambria Math" panose="02040503050406030204" pitchFamily="18" charset="0"/>
                          </a:rPr>
                          <m:t>𝑦</m:t>
                        </m:r>
                      </m:sub>
                    </m:sSub>
                  </m:oMath>
                </a14:m>
                <a:r>
                  <a:rPr lang="en-US" dirty="0"/>
                  <a:t> </a:t>
                </a:r>
                <a:r>
                  <a:rPr lang="en-IN" dirty="0"/>
                  <a:t>where:</a:t>
                </a:r>
              </a:p>
              <a:p>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𝜇</m:t>
                        </m:r>
                      </m:e>
                      <m:sub>
                        <m:r>
                          <a:rPr lang="en-IN" i="1">
                            <a:latin typeface="Cambria Math" panose="02040503050406030204" pitchFamily="18" charset="0"/>
                          </a:rPr>
                          <m:t>𝑦</m:t>
                        </m:r>
                      </m:sub>
                    </m:sSub>
                  </m:oMath>
                </a14:m>
                <a:r>
                  <a:rPr lang="en-IN" dirty="0"/>
                  <a:t>→ mean of window,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𝜎</m:t>
                        </m:r>
                      </m:e>
                      <m:sub>
                        <m:r>
                          <a:rPr lang="en-IN" i="1">
                            <a:latin typeface="Cambria Math" panose="02040503050406030204" pitchFamily="18" charset="0"/>
                          </a:rPr>
                          <m:t>𝑦</m:t>
                        </m:r>
                      </m:sub>
                    </m:sSub>
                  </m:oMath>
                </a14:m>
                <a:r>
                  <a:rPr lang="en-IN" dirty="0"/>
                  <a:t>→ standard deviation, </a:t>
                </a:r>
                <a14:m>
                  <m:oMath xmlns:m="http://schemas.openxmlformats.org/officeDocument/2006/math">
                    <m:r>
                      <a:rPr lang="en-IN" i="1">
                        <a:latin typeface="Cambria Math" panose="02040503050406030204" pitchFamily="18" charset="0"/>
                      </a:rPr>
                      <m:t>𝜖</m:t>
                    </m:r>
                  </m:oMath>
                </a14:m>
                <a:r>
                  <a:rPr lang="en-IN" dirty="0"/>
                  <a:t>→ small constant to avoid division by zero.</a:t>
                </a:r>
              </a:p>
            </p:txBody>
          </p:sp>
        </mc:Choice>
        <mc:Fallback xmlns="">
          <p:sp>
            <p:nvSpPr>
              <p:cNvPr id="4" name="TextBox 3">
                <a:extLst>
                  <a:ext uri="{FF2B5EF4-FFF2-40B4-BE49-F238E27FC236}">
                    <a16:creationId xmlns:a16="http://schemas.microsoft.com/office/drawing/2014/main" id="{8078DC94-2DF3-B44D-1625-58C3F84EBC31}"/>
                  </a:ext>
                </a:extLst>
              </p:cNvPr>
              <p:cNvSpPr txBox="1">
                <a:spLocks noRot="1" noChangeAspect="1" noMove="1" noResize="1" noEditPoints="1" noAdjustHandles="1" noChangeArrowheads="1" noChangeShapeType="1" noTextEdit="1"/>
              </p:cNvSpPr>
              <p:nvPr/>
            </p:nvSpPr>
            <p:spPr>
              <a:xfrm>
                <a:off x="226142" y="845575"/>
                <a:ext cx="11277600" cy="5515100"/>
              </a:xfrm>
              <a:prstGeom prst="rect">
                <a:avLst/>
              </a:prstGeom>
              <a:blipFill>
                <a:blip r:embed="rId3"/>
                <a:stretch>
                  <a:fillRect l="-162" t="-221"/>
                </a:stretch>
              </a:blipFill>
            </p:spPr>
            <p:txBody>
              <a:bodyPr/>
              <a:lstStyle/>
              <a:p>
                <a:r>
                  <a:rPr lang="en-IN">
                    <a:noFill/>
                  </a:rPr>
                  <a:t> </a:t>
                </a:r>
              </a:p>
            </p:txBody>
          </p:sp>
        </mc:Fallback>
      </mc:AlternateContent>
      <p:graphicFrame>
        <p:nvGraphicFramePr>
          <p:cNvPr id="2" name="Table 1">
            <a:extLst>
              <a:ext uri="{FF2B5EF4-FFF2-40B4-BE49-F238E27FC236}">
                <a16:creationId xmlns:a16="http://schemas.microsoft.com/office/drawing/2014/main" id="{691329BB-5D28-F44A-B5A9-C62DDAE27AA0}"/>
              </a:ext>
            </a:extLst>
          </p:cNvPr>
          <p:cNvGraphicFramePr>
            <a:graphicFrameLocks noGrp="1"/>
          </p:cNvGraphicFramePr>
          <p:nvPr>
            <p:extLst>
              <p:ext uri="{D42A27DB-BD31-4B8C-83A1-F6EECF244321}">
                <p14:modId xmlns:p14="http://schemas.microsoft.com/office/powerpoint/2010/main" val="1453787491"/>
              </p:ext>
            </p:extLst>
          </p:nvPr>
        </p:nvGraphicFramePr>
        <p:xfrm>
          <a:off x="1861728" y="1226033"/>
          <a:ext cx="5305988" cy="1524000"/>
        </p:xfrm>
        <a:graphic>
          <a:graphicData uri="http://schemas.openxmlformats.org/drawingml/2006/table">
            <a:tbl>
              <a:tblPr/>
              <a:tblGrid>
                <a:gridCol w="2652994">
                  <a:extLst>
                    <a:ext uri="{9D8B030D-6E8A-4147-A177-3AD203B41FA5}">
                      <a16:colId xmlns:a16="http://schemas.microsoft.com/office/drawing/2014/main" val="3205847"/>
                    </a:ext>
                  </a:extLst>
                </a:gridCol>
                <a:gridCol w="2652994">
                  <a:extLst>
                    <a:ext uri="{9D8B030D-6E8A-4147-A177-3AD203B41FA5}">
                      <a16:colId xmlns:a16="http://schemas.microsoft.com/office/drawing/2014/main" val="643852929"/>
                    </a:ext>
                  </a:extLst>
                </a:gridCol>
              </a:tblGrid>
              <a:tr h="263249">
                <a:tc>
                  <a:txBody>
                    <a:bodyPr/>
                    <a:lstStyle/>
                    <a:p>
                      <a:pPr>
                        <a:buNone/>
                      </a:pPr>
                      <a:r>
                        <a:rPr lang="en-IN" dirty="0"/>
                        <a:t>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5847024"/>
                  </a:ext>
                </a:extLst>
              </a:tr>
              <a:tr h="263249">
                <a:tc>
                  <a:txBody>
                    <a:bodyPr/>
                    <a:lstStyle/>
                    <a:p>
                      <a:pPr>
                        <a:buNone/>
                      </a:pPr>
                      <a:r>
                        <a:rPr lang="en-IN" dirty="0"/>
                        <a:t>μ ≤10</a:t>
                      </a:r>
                      <a:r>
                        <a:rPr lang="en-IN" b="1" baseline="300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Harmonic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9751596"/>
                  </a:ext>
                </a:extLst>
              </a:tr>
              <a:tr h="263249">
                <a:tc>
                  <a:txBody>
                    <a:bodyPr/>
                    <a:lstStyle/>
                    <a:p>
                      <a:pPr>
                        <a:buNone/>
                      </a:pPr>
                      <a:r>
                        <a:rPr lang="en-IN" dirty="0"/>
                        <a:t>10</a:t>
                      </a:r>
                      <a:r>
                        <a:rPr lang="en-IN" baseline="30000" dirty="0"/>
                        <a:t>−7</a:t>
                      </a:r>
                      <a:r>
                        <a:rPr lang="en-IN" dirty="0"/>
                        <a:t>&lt;μ&lt;1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Weak_Nonlinear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7412865"/>
                  </a:ext>
                </a:extLst>
              </a:tr>
              <a:tr h="263249">
                <a:tc>
                  <a:txBody>
                    <a:bodyPr/>
                    <a:lstStyle/>
                    <a:p>
                      <a:pPr>
                        <a:buNone/>
                      </a:pPr>
                      <a:r>
                        <a:rPr lang="el-GR" dirty="0"/>
                        <a:t>1≤μ&lt;10</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Strong_Nonlinear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6847300"/>
                  </a:ext>
                </a:extLst>
              </a:tr>
              <a:tr h="263249">
                <a:tc>
                  <a:txBody>
                    <a:bodyPr/>
                    <a:lstStyle/>
                    <a:p>
                      <a:pPr>
                        <a:buNone/>
                      </a:pPr>
                      <a:r>
                        <a:rPr lang="en-IN" dirty="0"/>
                        <a:t>μ≥10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Relaxation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8451070"/>
                  </a:ext>
                </a:extLst>
              </a:tr>
            </a:tbl>
          </a:graphicData>
        </a:graphic>
      </p:graphicFrame>
      <p:graphicFrame>
        <p:nvGraphicFramePr>
          <p:cNvPr id="7" name="Table 6">
            <a:extLst>
              <a:ext uri="{FF2B5EF4-FFF2-40B4-BE49-F238E27FC236}">
                <a16:creationId xmlns:a16="http://schemas.microsoft.com/office/drawing/2014/main" id="{994BCCFA-635B-1E33-72CD-964D5661EC04}"/>
              </a:ext>
            </a:extLst>
          </p:cNvPr>
          <p:cNvGraphicFramePr>
            <a:graphicFrameLocks noGrp="1"/>
          </p:cNvGraphicFramePr>
          <p:nvPr>
            <p:extLst>
              <p:ext uri="{D42A27DB-BD31-4B8C-83A1-F6EECF244321}">
                <p14:modId xmlns:p14="http://schemas.microsoft.com/office/powerpoint/2010/main" val="4017003110"/>
              </p:ext>
            </p:extLst>
          </p:nvPr>
        </p:nvGraphicFramePr>
        <p:xfrm>
          <a:off x="1705641" y="3759019"/>
          <a:ext cx="5618162" cy="914400"/>
        </p:xfrm>
        <a:graphic>
          <a:graphicData uri="http://schemas.openxmlformats.org/drawingml/2006/table">
            <a:tbl>
              <a:tblPr/>
              <a:tblGrid>
                <a:gridCol w="2809081">
                  <a:extLst>
                    <a:ext uri="{9D8B030D-6E8A-4147-A177-3AD203B41FA5}">
                      <a16:colId xmlns:a16="http://schemas.microsoft.com/office/drawing/2014/main" val="2311890715"/>
                    </a:ext>
                  </a:extLst>
                </a:gridCol>
                <a:gridCol w="2809081">
                  <a:extLst>
                    <a:ext uri="{9D8B030D-6E8A-4147-A177-3AD203B41FA5}">
                      <a16:colId xmlns:a16="http://schemas.microsoft.com/office/drawing/2014/main" val="2839348888"/>
                    </a:ext>
                  </a:extLst>
                </a:gridCol>
              </a:tblGrid>
              <a:tr h="0">
                <a:tc>
                  <a:txBody>
                    <a:bodyPr/>
                    <a:lstStyle/>
                    <a:p>
                      <a:pPr>
                        <a:buNone/>
                      </a:pPr>
                      <a:r>
                        <a:rPr lang="en-IN" dirty="0"/>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5018655"/>
                  </a:ext>
                </a:extLst>
              </a:tr>
              <a:tr h="0">
                <a:tc>
                  <a:txBody>
                    <a:bodyPr/>
                    <a:lstStyle/>
                    <a:p>
                      <a:pPr>
                        <a:buNone/>
                      </a:pPr>
                      <a:r>
                        <a:rPr lang="en-IN" dirty="0"/>
                        <a:t>Window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100 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4347471"/>
                  </a:ext>
                </a:extLst>
              </a:tr>
              <a:tr h="0">
                <a:tc>
                  <a:txBody>
                    <a:bodyPr/>
                    <a:lstStyle/>
                    <a:p>
                      <a:pPr>
                        <a:buNone/>
                      </a:pPr>
                      <a:r>
                        <a:rPr lang="en-IN" dirty="0"/>
                        <a:t>Stride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50 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965813"/>
                  </a:ext>
                </a:extLst>
              </a:tr>
            </a:tbl>
          </a:graphicData>
        </a:graphic>
      </p:graphicFrame>
    </p:spTree>
    <p:extLst>
      <p:ext uri="{BB962C8B-B14F-4D97-AF65-F5344CB8AC3E}">
        <p14:creationId xmlns:p14="http://schemas.microsoft.com/office/powerpoint/2010/main" val="658451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8189ACA5-78B0-530B-EB00-2831BEE4D5AC}"/>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87D3A9C4-BDA7-F529-46DA-13B23828BE83}"/>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DATASET GENERATION</a:t>
            </a:r>
            <a:endParaRPr dirty="0"/>
          </a:p>
        </p:txBody>
      </p:sp>
      <p:sp>
        <p:nvSpPr>
          <p:cNvPr id="132" name="Google Shape;132;p17">
            <a:extLst>
              <a:ext uri="{FF2B5EF4-FFF2-40B4-BE49-F238E27FC236}">
                <a16:creationId xmlns:a16="http://schemas.microsoft.com/office/drawing/2014/main" id="{5C7D1ED7-40F7-2D7D-3825-87FCF870A5E3}"/>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14</a:t>
            </a:fld>
            <a:endParaRPr/>
          </a:p>
        </p:txBody>
      </p:sp>
      <p:sp>
        <p:nvSpPr>
          <p:cNvPr id="4" name="TextBox 3">
            <a:extLst>
              <a:ext uri="{FF2B5EF4-FFF2-40B4-BE49-F238E27FC236}">
                <a16:creationId xmlns:a16="http://schemas.microsoft.com/office/drawing/2014/main" id="{2411AA35-A4AC-626E-4DC9-9504AD46F304}"/>
              </a:ext>
            </a:extLst>
          </p:cNvPr>
          <p:cNvSpPr txBox="1"/>
          <p:nvPr/>
        </p:nvSpPr>
        <p:spPr>
          <a:xfrm>
            <a:off x="226142" y="845575"/>
            <a:ext cx="11277600" cy="5324535"/>
          </a:xfrm>
          <a:prstGeom prst="rect">
            <a:avLst/>
          </a:prstGeom>
          <a:noFill/>
        </p:spPr>
        <p:txBody>
          <a:bodyPr wrap="square" rtlCol="0">
            <a:spAutoFit/>
          </a:bodyPr>
          <a:lstStyle/>
          <a:p>
            <a:r>
              <a:rPr lang="en-US" sz="1700" b="1" dirty="0"/>
              <a:t>Necessity of windowing:</a:t>
            </a:r>
          </a:p>
          <a:p>
            <a:r>
              <a:rPr lang="en-IN" sz="1700" b="1" dirty="0"/>
              <a:t>1. Increases Dataset Size</a:t>
            </a:r>
          </a:p>
          <a:p>
            <a:r>
              <a:rPr lang="en-IN" sz="1700" dirty="0"/>
              <a:t>One long signal produces many samples.</a:t>
            </a:r>
          </a:p>
          <a:p>
            <a:r>
              <a:rPr lang="en-IN" sz="1700" dirty="0"/>
              <a:t>Single signal → hundreds of windows </a:t>
            </a:r>
          </a:p>
          <a:p>
            <a:r>
              <a:rPr lang="en-IN" sz="1700" dirty="0"/>
              <a:t>More windows → more training data </a:t>
            </a:r>
            <a:br>
              <a:rPr lang="en-IN" sz="1700" dirty="0"/>
            </a:br>
            <a:endParaRPr lang="en-IN" sz="1700" dirty="0"/>
          </a:p>
          <a:p>
            <a:r>
              <a:rPr lang="en-IN" sz="1700" b="1" dirty="0"/>
              <a:t>2. Captures Local Signal Dynamics</a:t>
            </a:r>
          </a:p>
          <a:p>
            <a:r>
              <a:rPr lang="en-IN" sz="1700" dirty="0"/>
              <a:t>Different regions may contain: varying nonlinearities, different oscillatory characteristics. Windowing preserves local behaviour.</a:t>
            </a:r>
            <a:br>
              <a:rPr lang="en-IN" sz="1700" dirty="0"/>
            </a:br>
            <a:endParaRPr lang="en-IN" sz="1700" dirty="0"/>
          </a:p>
          <a:p>
            <a:r>
              <a:rPr lang="en-IN" sz="1700" b="1" dirty="0"/>
              <a:t>3. Reduces Computational Complexity</a:t>
            </a:r>
          </a:p>
          <a:p>
            <a:r>
              <a:rPr lang="en-IN" sz="1700" dirty="0"/>
              <a:t>Feature extraction on small windows is faster than processing an entire long signal at once.</a:t>
            </a:r>
          </a:p>
          <a:p>
            <a:endParaRPr lang="en-IN" sz="1700" dirty="0"/>
          </a:p>
          <a:p>
            <a:r>
              <a:rPr lang="en-IN" sz="1700" b="1" dirty="0"/>
              <a:t>Without windowing:</a:t>
            </a:r>
          </a:p>
          <a:p>
            <a:pPr marL="285750" indent="-285750">
              <a:buFont typeface="Arial" panose="020B0604020202020204" pitchFamily="34" charset="0"/>
              <a:buChar char="•"/>
            </a:pPr>
            <a:r>
              <a:rPr lang="en-IN" sz="1700" dirty="0"/>
              <a:t>Longer simulations are required to generate enough samples.</a:t>
            </a:r>
          </a:p>
          <a:p>
            <a:pPr marL="285750" indent="-285750">
              <a:buFont typeface="Arial" panose="020B0604020202020204" pitchFamily="34" charset="0"/>
              <a:buChar char="•"/>
            </a:pPr>
            <a:r>
              <a:rPr lang="en-IN" sz="1700" dirty="0"/>
              <a:t>Entire long-duration signals must be processed together.</a:t>
            </a:r>
          </a:p>
          <a:p>
            <a:pPr marL="285750" indent="-285750">
              <a:buFont typeface="Arial" panose="020B0604020202020204" pitchFamily="34" charset="0"/>
              <a:buChar char="•"/>
            </a:pPr>
            <a:r>
              <a:rPr lang="en-IN" sz="1700" dirty="0"/>
              <a:t>Feature extraction becomes computationally expensive.</a:t>
            </a:r>
          </a:p>
          <a:p>
            <a:endParaRPr lang="en-IN" sz="1700" dirty="0"/>
          </a:p>
          <a:p>
            <a:r>
              <a:rPr lang="en-IN" sz="1700" b="1" dirty="0"/>
              <a:t>With windowing:</a:t>
            </a:r>
          </a:p>
          <a:p>
            <a:r>
              <a:rPr lang="en-IN" sz="1700" dirty="0"/>
              <a:t>Shorter simulation duration can generate many overlapping samples efficiently. </a:t>
            </a:r>
            <a:endParaRPr lang="en-US" sz="1700" dirty="0"/>
          </a:p>
        </p:txBody>
      </p:sp>
    </p:spTree>
    <p:extLst>
      <p:ext uri="{BB962C8B-B14F-4D97-AF65-F5344CB8AC3E}">
        <p14:creationId xmlns:p14="http://schemas.microsoft.com/office/powerpoint/2010/main" val="1673629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2DA2AE94-427E-CD31-4274-969DC9EA6DDB}"/>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810D79F1-0E72-F5CA-6AFE-D49CAEA998E6}"/>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FEATURE EXTRACTION</a:t>
            </a:r>
            <a:endParaRPr dirty="0"/>
          </a:p>
        </p:txBody>
      </p:sp>
      <p:sp>
        <p:nvSpPr>
          <p:cNvPr id="132" name="Google Shape;132;p17">
            <a:extLst>
              <a:ext uri="{FF2B5EF4-FFF2-40B4-BE49-F238E27FC236}">
                <a16:creationId xmlns:a16="http://schemas.microsoft.com/office/drawing/2014/main" id="{4EA1117E-5825-9CBA-4B7B-793371484BB5}"/>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15</a:t>
            </a:fld>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36A12EC-33F5-EF3E-067F-A4CB63B4B1B6}"/>
                  </a:ext>
                </a:extLst>
              </p:cNvPr>
              <p:cNvSpPr txBox="1"/>
              <p:nvPr/>
            </p:nvSpPr>
            <p:spPr>
              <a:xfrm>
                <a:off x="-1" y="732929"/>
                <a:ext cx="6351639" cy="5889689"/>
              </a:xfrm>
              <a:prstGeom prst="rect">
                <a:avLst/>
              </a:prstGeom>
              <a:noFill/>
            </p:spPr>
            <p:txBody>
              <a:bodyPr wrap="square" rtlCol="0">
                <a:spAutoFit/>
              </a:bodyPr>
              <a:lstStyle/>
              <a:p>
                <a:r>
                  <a:rPr lang="en-US" dirty="0"/>
                  <a:t>11. Feature Extraction:</a:t>
                </a:r>
              </a:p>
              <a:p>
                <a:r>
                  <a:rPr lang="en-IN" dirty="0"/>
                  <a:t>For every window, statistical and signal-processing features were extracted.</a:t>
                </a:r>
              </a:p>
              <a:p>
                <a:r>
                  <a:rPr lang="en-IN" dirty="0"/>
                  <a:t>Feature extraction converts raw oscillatory signals into numerical descriptors that characterize:</a:t>
                </a:r>
              </a:p>
              <a:p>
                <a:pPr marL="285750" indent="-285750">
                  <a:buFont typeface="Arial" panose="020B0604020202020204" pitchFamily="34" charset="0"/>
                  <a:buChar char="•"/>
                </a:pPr>
                <a:r>
                  <a:rPr lang="en-IN" dirty="0"/>
                  <a:t>Amplitude.</a:t>
                </a:r>
              </a:p>
              <a:p>
                <a:pPr marL="285750" indent="-285750">
                  <a:buFont typeface="Arial" panose="020B0604020202020204" pitchFamily="34" charset="0"/>
                  <a:buChar char="•"/>
                </a:pPr>
                <a:r>
                  <a:rPr lang="en-IN" dirty="0"/>
                  <a:t>Energy.</a:t>
                </a:r>
              </a:p>
              <a:p>
                <a:pPr marL="285750" indent="-285750">
                  <a:buFont typeface="Arial" panose="020B0604020202020204" pitchFamily="34" charset="0"/>
                  <a:buChar char="•"/>
                </a:pPr>
                <a:r>
                  <a:rPr lang="en-IN" dirty="0"/>
                  <a:t>Oscillation pattern. </a:t>
                </a:r>
              </a:p>
              <a:p>
                <a:pPr marL="285750" indent="-285750">
                  <a:buFont typeface="Arial" panose="020B0604020202020204" pitchFamily="34" charset="0"/>
                  <a:buChar char="•"/>
                </a:pPr>
                <a:r>
                  <a:rPr lang="en-IN" dirty="0"/>
                  <a:t>Waveform shape. </a:t>
                </a:r>
              </a:p>
              <a:p>
                <a:br>
                  <a:rPr lang="en-IN" dirty="0"/>
                </a:br>
                <a:r>
                  <a:rPr lang="en-IN" b="1" dirty="0"/>
                  <a:t>1. Variability Feature</a:t>
                </a:r>
              </a:p>
              <a:p>
                <a:r>
                  <a:rPr lang="en-IN" b="1" dirty="0"/>
                  <a:t>Standard Deviation</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𝜎</m:t>
                      </m:r>
                      <m:r>
                        <a:rPr lang="en-IN">
                          <a:latin typeface="Cambria Math" panose="02040503050406030204" pitchFamily="18" charset="0"/>
                        </a:rPr>
                        <m:t>=</m:t>
                      </m:r>
                      <m:rad>
                        <m:radPr>
                          <m:degHide m:val="on"/>
                          <m:ctrlPr>
                            <a:rPr lang="en-IN" i="1">
                              <a:latin typeface="Cambria Math" panose="02040503050406030204" pitchFamily="18" charset="0"/>
                            </a:rPr>
                          </m:ctrlPr>
                        </m:radPr>
                        <m:deg/>
                        <m:e>
                          <m:f>
                            <m:fPr>
                              <m:ctrlPr>
                                <a:rPr lang="en-IN" i="1">
                                  <a:latin typeface="Cambria Math" panose="02040503050406030204" pitchFamily="18" charset="0"/>
                                </a:rPr>
                              </m:ctrlPr>
                            </m:fPr>
                            <m:num>
                              <m:r>
                                <a:rPr lang="en-IN">
                                  <a:latin typeface="Cambria Math" panose="02040503050406030204" pitchFamily="18" charset="0"/>
                                </a:rPr>
                                <m:t>1</m:t>
                              </m:r>
                            </m:num>
                            <m:den>
                              <m:r>
                                <a:rPr lang="en-IN" i="1">
                                  <a:latin typeface="Cambria Math" panose="02040503050406030204" pitchFamily="18" charset="0"/>
                                </a:rPr>
                                <m:t>𝑁</m:t>
                              </m:r>
                            </m:den>
                          </m:f>
                          <m:nary>
                            <m:naryPr>
                              <m:chr m:val="∑"/>
                              <m:grow m:val="on"/>
                              <m:subHide m:val="on"/>
                              <m:supHide m:val="on"/>
                              <m:ctrlPr>
                                <a:rPr lang="en-IN" i="1">
                                  <a:latin typeface="Cambria Math" panose="02040503050406030204" pitchFamily="18" charset="0"/>
                                </a:rPr>
                              </m:ctrlPr>
                            </m:naryPr>
                            <m:sub/>
                            <m:sup/>
                            <m:e>
                              <m:r>
                                <a:rPr lang="en-IN">
                                  <a:latin typeface="Cambria Math" panose="02040503050406030204" pitchFamily="18" charset="0"/>
                                </a:rPr>
                                <m:t>(</m:t>
                              </m:r>
                            </m:e>
                          </m:nary>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𝑖</m:t>
                                  </m:r>
                                </m:sub>
                              </m:sSub>
                              <m:r>
                                <a:rPr lang="en-IN">
                                  <a:latin typeface="Cambria Math" panose="02040503050406030204" pitchFamily="18" charset="0"/>
                                </a:rPr>
                                <m:t>−</m:t>
                              </m:r>
                              <m:limUpp>
                                <m:limUppPr>
                                  <m:ctrlPr>
                                    <a:rPr lang="en-IN" i="1">
                                      <a:latin typeface="Cambria Math" panose="02040503050406030204" pitchFamily="18" charset="0"/>
                                    </a:rPr>
                                  </m:ctrlPr>
                                </m:limUppPr>
                                <m:e>
                                  <m:r>
                                    <a:rPr lang="en-IN" i="1">
                                      <a:latin typeface="Cambria Math" panose="02040503050406030204" pitchFamily="18" charset="0"/>
                                    </a:rPr>
                                    <m:t>𝑥</m:t>
                                  </m:r>
                                </m:e>
                                <m:lim>
                                  <m:r>
                                    <a:rPr lang="en-IN">
                                      <a:latin typeface="Cambria Math" panose="02040503050406030204" pitchFamily="18" charset="0"/>
                                    </a:rPr>
                                    <m:t>ˉ</m:t>
                                  </m:r>
                                </m:lim>
                              </m:limUpp>
                              <m:sSup>
                                <m:sSupPr>
                                  <m:ctrlPr>
                                    <a:rPr lang="en-IN" i="1">
                                      <a:latin typeface="Cambria Math" panose="02040503050406030204" pitchFamily="18" charset="0"/>
                                    </a:rPr>
                                  </m:ctrlPr>
                                </m:sSupPr>
                                <m:e>
                                  <m:d>
                                    <m:dPr>
                                      <m:begChr m:val=""/>
                                      <m:endChr m:val=""/>
                                      <m:ctrlPr>
                                        <a:rPr lang="en-IN" i="1">
                                          <a:latin typeface="Cambria Math" panose="02040503050406030204" pitchFamily="18" charset="0"/>
                                        </a:rPr>
                                      </m:ctrlPr>
                                    </m:dPr>
                                    <m:e>
                                      <m:r>
                                        <a:rPr lang="en-IN">
                                          <a:latin typeface="Cambria Math" panose="02040503050406030204" pitchFamily="18" charset="0"/>
                                        </a:rPr>
                                        <m:t>)</m:t>
                                      </m:r>
                                    </m:e>
                                  </m:d>
                                </m:e>
                                <m:sup>
                                  <m:r>
                                    <a:rPr lang="en-IN">
                                      <a:latin typeface="Cambria Math" panose="02040503050406030204" pitchFamily="18" charset="0"/>
                                    </a:rPr>
                                    <m:t>2</m:t>
                                  </m:r>
                                </m:sup>
                              </m:sSup>
                            </m:e>
                          </m:d>
                        </m:e>
                      </m:rad>
                    </m:oMath>
                  </m:oMathPara>
                </a14:m>
                <a:endParaRPr lang="en-IN" dirty="0"/>
              </a:p>
              <a:p>
                <a:r>
                  <a:rPr lang="en-IN" dirty="0"/>
                  <a:t>Measures signal spread </a:t>
                </a:r>
              </a:p>
              <a:p>
                <a:r>
                  <a:rPr lang="en-IN" dirty="0"/>
                  <a:t>Higher value → larger oscillation variation </a:t>
                </a:r>
              </a:p>
              <a:p>
                <a:endParaRPr lang="en-IN" b="1" dirty="0"/>
              </a:p>
              <a:p>
                <a:r>
                  <a:rPr lang="en-IN" b="1" dirty="0"/>
                  <a:t>2. RMS Features</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𝑅𝑀𝑆</m:t>
                      </m:r>
                      <m:r>
                        <a:rPr lang="en-IN">
                          <a:latin typeface="Cambria Math" panose="02040503050406030204" pitchFamily="18" charset="0"/>
                        </a:rPr>
                        <m:t>=</m:t>
                      </m:r>
                      <m:rad>
                        <m:radPr>
                          <m:degHide m:val="on"/>
                          <m:ctrlPr>
                            <a:rPr lang="en-IN" i="1">
                              <a:latin typeface="Cambria Math" panose="02040503050406030204" pitchFamily="18" charset="0"/>
                            </a:rPr>
                          </m:ctrlPr>
                        </m:radPr>
                        <m:deg/>
                        <m:e>
                          <m:f>
                            <m:fPr>
                              <m:ctrlPr>
                                <a:rPr lang="en-IN" i="1">
                                  <a:latin typeface="Cambria Math" panose="02040503050406030204" pitchFamily="18" charset="0"/>
                                </a:rPr>
                              </m:ctrlPr>
                            </m:fPr>
                            <m:num>
                              <m:r>
                                <a:rPr lang="en-IN">
                                  <a:latin typeface="Cambria Math" panose="02040503050406030204" pitchFamily="18" charset="0"/>
                                </a:rPr>
                                <m:t>1</m:t>
                              </m:r>
                            </m:num>
                            <m:den>
                              <m:r>
                                <a:rPr lang="en-IN" i="1">
                                  <a:latin typeface="Cambria Math" panose="02040503050406030204" pitchFamily="18" charset="0"/>
                                </a:rPr>
                                <m:t>𝑁</m:t>
                              </m:r>
                            </m:den>
                          </m:f>
                          <m:nary>
                            <m:naryPr>
                              <m:chr m:val="∑"/>
                              <m:grow m:val="on"/>
                              <m:subHide m:val="on"/>
                              <m:supHide m:val="on"/>
                              <m:ctrlPr>
                                <a:rPr lang="en-IN" i="1">
                                  <a:latin typeface="Cambria Math" panose="02040503050406030204" pitchFamily="18" charset="0"/>
                                </a:rPr>
                              </m:ctrlPr>
                            </m:naryPr>
                            <m:sub/>
                            <m:sup/>
                            <m:e>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𝑖</m:t>
                                  </m:r>
                                </m:sub>
                                <m:sup>
                                  <m:r>
                                    <a:rPr lang="en-IN">
                                      <a:latin typeface="Cambria Math" panose="02040503050406030204" pitchFamily="18" charset="0"/>
                                    </a:rPr>
                                    <m:t>2</m:t>
                                  </m:r>
                                </m:sup>
                              </m:sSubSup>
                            </m:e>
                          </m:nary>
                        </m:e>
                      </m:rad>
                    </m:oMath>
                  </m:oMathPara>
                </a14:m>
                <a:endParaRPr lang="en-IN" dirty="0"/>
              </a:p>
              <a:p>
                <a:r>
                  <a:rPr lang="en-IN" b="1" dirty="0"/>
                  <a:t>Features Extracted</a:t>
                </a:r>
              </a:p>
              <a:p>
                <a:r>
                  <a:rPr lang="en-IN" dirty="0" err="1"/>
                  <a:t>rms_y</a:t>
                </a:r>
                <a:r>
                  <a:rPr lang="en-IN" dirty="0"/>
                  <a:t>, </a:t>
                </a:r>
                <a:r>
                  <a:rPr lang="en-IN" dirty="0" err="1"/>
                  <a:t>rms_dy</a:t>
                </a:r>
                <a:r>
                  <a:rPr lang="en-IN" dirty="0"/>
                  <a:t> ,</a:t>
                </a:r>
                <a:r>
                  <a:rPr lang="en-IN" dirty="0" err="1"/>
                  <a:t>rms_ddy</a:t>
                </a:r>
                <a:r>
                  <a:rPr lang="en-IN" dirty="0"/>
                  <a:t> </a:t>
                </a:r>
              </a:p>
              <a:p>
                <a:endParaRPr lang="en-IN" dirty="0"/>
              </a:p>
              <a:p>
                <a:r>
                  <a:rPr lang="en-IN" dirty="0"/>
                  <a:t>Measures effective signal magnitude </a:t>
                </a:r>
              </a:p>
              <a:p>
                <a:r>
                  <a:rPr lang="en-IN" dirty="0"/>
                  <a:t>Indicates oscillation intensity </a:t>
                </a:r>
              </a:p>
            </p:txBody>
          </p:sp>
        </mc:Choice>
        <mc:Fallback xmlns="">
          <p:sp>
            <p:nvSpPr>
              <p:cNvPr id="4" name="TextBox 3">
                <a:extLst>
                  <a:ext uri="{FF2B5EF4-FFF2-40B4-BE49-F238E27FC236}">
                    <a16:creationId xmlns:a16="http://schemas.microsoft.com/office/drawing/2014/main" id="{A36A12EC-33F5-EF3E-067F-A4CB63B4B1B6}"/>
                  </a:ext>
                </a:extLst>
              </p:cNvPr>
              <p:cNvSpPr txBox="1">
                <a:spLocks noRot="1" noChangeAspect="1" noMove="1" noResize="1" noEditPoints="1" noAdjustHandles="1" noChangeArrowheads="1" noChangeShapeType="1" noTextEdit="1"/>
              </p:cNvSpPr>
              <p:nvPr/>
            </p:nvSpPr>
            <p:spPr>
              <a:xfrm>
                <a:off x="-1" y="732929"/>
                <a:ext cx="6351639" cy="5889689"/>
              </a:xfrm>
              <a:prstGeom prst="rect">
                <a:avLst/>
              </a:prstGeom>
              <a:blipFill>
                <a:blip r:embed="rId3"/>
                <a:stretch>
                  <a:fillRect l="-288" t="-2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6E981EE-65E9-F0EA-198A-4BB7B149FEBB}"/>
                  </a:ext>
                </a:extLst>
              </p:cNvPr>
              <p:cNvSpPr txBox="1"/>
              <p:nvPr/>
            </p:nvSpPr>
            <p:spPr>
              <a:xfrm>
                <a:off x="6351638" y="855406"/>
                <a:ext cx="5515897" cy="5432000"/>
              </a:xfrm>
              <a:prstGeom prst="rect">
                <a:avLst/>
              </a:prstGeom>
              <a:noFill/>
            </p:spPr>
            <p:txBody>
              <a:bodyPr wrap="square" rtlCol="0">
                <a:spAutoFit/>
              </a:bodyPr>
              <a:lstStyle/>
              <a:p>
                <a:r>
                  <a:rPr lang="en-IN" b="1" dirty="0"/>
                  <a:t>3. Energy Features</a:t>
                </a:r>
              </a:p>
              <a:p>
                <a:r>
                  <a:rPr lang="en-IN" b="1" dirty="0"/>
                  <a:t>Signal Energy</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𝐸</m:t>
                      </m:r>
                      <m:r>
                        <a:rPr lang="en-IN">
                          <a:latin typeface="Cambria Math" panose="02040503050406030204" pitchFamily="18" charset="0"/>
                        </a:rPr>
                        <m:t>=</m:t>
                      </m:r>
                      <m:nary>
                        <m:naryPr>
                          <m:chr m:val="∑"/>
                          <m:grow m:val="on"/>
                          <m:subHide m:val="on"/>
                          <m:supHide m:val="on"/>
                          <m:ctrlPr>
                            <a:rPr lang="en-IN" i="1">
                              <a:latin typeface="Cambria Math" panose="02040503050406030204" pitchFamily="18" charset="0"/>
                            </a:rPr>
                          </m:ctrlPr>
                        </m:naryPr>
                        <m:sub/>
                        <m:sup/>
                        <m:e>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𝑖</m:t>
                              </m:r>
                            </m:sub>
                            <m:sup>
                              <m:r>
                                <a:rPr lang="en-IN">
                                  <a:latin typeface="Cambria Math" panose="02040503050406030204" pitchFamily="18" charset="0"/>
                                </a:rPr>
                                <m:t>2</m:t>
                              </m:r>
                            </m:sup>
                          </m:sSubSup>
                        </m:e>
                      </m:nary>
                    </m:oMath>
                  </m:oMathPara>
                </a14:m>
                <a:endParaRPr lang="en-IN" dirty="0"/>
              </a:p>
              <a:p>
                <a:r>
                  <a:rPr lang="en-IN" dirty="0"/>
                  <a:t>Represents total signal strength </a:t>
                </a:r>
              </a:p>
              <a:p>
                <a:endParaRPr lang="en-IN" dirty="0"/>
              </a:p>
              <a:p>
                <a:r>
                  <a:rPr lang="en-IN" b="1" dirty="0"/>
                  <a:t>Signal Power</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1</m:t>
                          </m:r>
                        </m:num>
                        <m:den>
                          <m:r>
                            <a:rPr lang="en-IN" i="1">
                              <a:latin typeface="Cambria Math" panose="02040503050406030204" pitchFamily="18" charset="0"/>
                            </a:rPr>
                            <m:t>𝑁</m:t>
                          </m:r>
                        </m:den>
                      </m:f>
                      <m:nary>
                        <m:naryPr>
                          <m:chr m:val="∑"/>
                          <m:grow m:val="on"/>
                          <m:subHide m:val="on"/>
                          <m:supHide m:val="on"/>
                          <m:ctrlPr>
                            <a:rPr lang="en-IN" i="1">
                              <a:latin typeface="Cambria Math" panose="02040503050406030204" pitchFamily="18" charset="0"/>
                            </a:rPr>
                          </m:ctrlPr>
                        </m:naryPr>
                        <m:sub/>
                        <m:sup/>
                        <m:e>
                          <m:sSubSup>
                            <m:sSubSupPr>
                              <m:ctrlPr>
                                <a:rPr lang="en-IN" i="1">
                                  <a:latin typeface="Cambria Math" panose="02040503050406030204" pitchFamily="18" charset="0"/>
                                </a:rPr>
                              </m:ctrlPr>
                            </m:sSubSupPr>
                            <m:e>
                              <m:r>
                                <a:rPr lang="en-IN" i="1">
                                  <a:latin typeface="Cambria Math" panose="02040503050406030204" pitchFamily="18" charset="0"/>
                                </a:rPr>
                                <m:t>𝑥</m:t>
                              </m:r>
                            </m:e>
                            <m:sub>
                              <m:r>
                                <a:rPr lang="en-IN" i="1">
                                  <a:latin typeface="Cambria Math" panose="02040503050406030204" pitchFamily="18" charset="0"/>
                                </a:rPr>
                                <m:t>𝑖</m:t>
                              </m:r>
                            </m:sub>
                            <m:sup>
                              <m:r>
                                <a:rPr lang="en-IN">
                                  <a:latin typeface="Cambria Math" panose="02040503050406030204" pitchFamily="18" charset="0"/>
                                </a:rPr>
                                <m:t>2</m:t>
                              </m:r>
                            </m:sup>
                          </m:sSubSup>
                        </m:e>
                      </m:nary>
                    </m:oMath>
                  </m:oMathPara>
                </a14:m>
                <a:endParaRPr lang="en-IN" b="1" dirty="0"/>
              </a:p>
              <a:p>
                <a:r>
                  <a:rPr lang="en-IN" dirty="0"/>
                  <a:t>Average energy per sample </a:t>
                </a:r>
              </a:p>
              <a:p>
                <a:r>
                  <a:rPr lang="en-IN" dirty="0"/>
                  <a:t>Indicates signal intensity </a:t>
                </a:r>
              </a:p>
              <a:p>
                <a:endParaRPr lang="en-IN" dirty="0"/>
              </a:p>
              <a:p>
                <a:r>
                  <a:rPr lang="en-IN" b="1" dirty="0"/>
                  <a:t>4. Amplitude Features</a:t>
                </a:r>
              </a:p>
              <a:p>
                <a:r>
                  <a:rPr lang="en-IN" b="1" dirty="0"/>
                  <a:t>Peak-to-Peak Value</a:t>
                </a:r>
              </a:p>
              <a:p>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max</m:t>
                      </m:r>
                      <m:r>
                        <a:rPr lang="en-IN">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𝑥</m:t>
                          </m:r>
                        </m:e>
                      </m:d>
                      <m:r>
                        <a:rPr lang="en-IN">
                          <a:latin typeface="Cambria Math" panose="02040503050406030204" pitchFamily="18" charset="0"/>
                        </a:rPr>
                        <m:t>−</m:t>
                      </m:r>
                      <m:r>
                        <m:rPr>
                          <m:sty m:val="p"/>
                        </m:rPr>
                        <a:rPr lang="en-IN">
                          <a:latin typeface="Cambria Math" panose="02040503050406030204" pitchFamily="18" charset="0"/>
                        </a:rPr>
                        <m:t>min</m:t>
                      </m:r>
                      <m:r>
                        <a:rPr lang="en-IN">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𝑥</m:t>
                          </m:r>
                        </m:e>
                      </m:d>
                    </m:oMath>
                  </m:oMathPara>
                </a14:m>
                <a:endParaRPr lang="en-IN" dirty="0"/>
              </a:p>
              <a:p>
                <a:r>
                  <a:rPr lang="en-IN" dirty="0"/>
                  <a:t>Measures total amplitude swing </a:t>
                </a:r>
              </a:p>
              <a:p>
                <a:endParaRPr lang="en-IN" dirty="0"/>
              </a:p>
              <a:p>
                <a:r>
                  <a:rPr lang="en-IN" b="1" dirty="0"/>
                  <a:t>Crest Factor</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𝐶𝐹</m:t>
                      </m:r>
                      <m:r>
                        <a:rPr lang="en-IN">
                          <a:latin typeface="Cambria Math" panose="02040503050406030204" pitchFamily="18" charset="0"/>
                        </a:rPr>
                        <m:t>=</m:t>
                      </m:r>
                      <m:f>
                        <m:fPr>
                          <m:ctrlPr>
                            <a:rPr lang="en-IN" i="1">
                              <a:latin typeface="Cambria Math" panose="02040503050406030204" pitchFamily="18" charset="0"/>
                            </a:rPr>
                          </m:ctrlPr>
                        </m:fPr>
                        <m:num>
                          <m:r>
                            <m:rPr>
                              <m:sty m:val="p"/>
                            </m:rPr>
                            <a:rPr lang="en-IN">
                              <a:latin typeface="Cambria Math" panose="02040503050406030204" pitchFamily="18" charset="0"/>
                            </a:rPr>
                            <m:t>max</m:t>
                          </m:r>
                          <m:r>
                            <a:rPr lang="en-IN">
                              <a:latin typeface="Cambria Math" panose="02040503050406030204" pitchFamily="18" charset="0"/>
                            </a:rPr>
                            <m:t>⁡</m:t>
                          </m:r>
                          <m:d>
                            <m:dPr>
                              <m:ctrlPr>
                                <a:rPr lang="en-IN" i="1">
                                  <a:latin typeface="Cambria Math" panose="02040503050406030204" pitchFamily="18" charset="0"/>
                                </a:rPr>
                              </m:ctrlPr>
                            </m:dPr>
                            <m:e>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e>
                          </m:d>
                        </m:num>
                        <m:den>
                          <m:r>
                            <a:rPr lang="en-IN" i="1">
                              <a:latin typeface="Cambria Math" panose="02040503050406030204" pitchFamily="18" charset="0"/>
                            </a:rPr>
                            <m:t>𝑅𝑀𝑆</m:t>
                          </m:r>
                        </m:den>
                      </m:f>
                    </m:oMath>
                  </m:oMathPara>
                </a14:m>
                <a:endParaRPr lang="en-IN" dirty="0"/>
              </a:p>
              <a:p>
                <a:r>
                  <a:rPr lang="en-IN" dirty="0"/>
                  <a:t>Detects sharp peaks </a:t>
                </a:r>
              </a:p>
              <a:p>
                <a:r>
                  <a:rPr lang="en-IN" dirty="0"/>
                  <a:t>Higher in relaxation oscillations </a:t>
                </a:r>
              </a:p>
              <a:p>
                <a:endParaRPr lang="en-IN" dirty="0"/>
              </a:p>
              <a:p>
                <a:endParaRPr lang="en-IN" dirty="0"/>
              </a:p>
            </p:txBody>
          </p:sp>
        </mc:Choice>
        <mc:Fallback xmlns="">
          <p:sp>
            <p:nvSpPr>
              <p:cNvPr id="3" name="TextBox 2">
                <a:extLst>
                  <a:ext uri="{FF2B5EF4-FFF2-40B4-BE49-F238E27FC236}">
                    <a16:creationId xmlns:a16="http://schemas.microsoft.com/office/drawing/2014/main" id="{F6E981EE-65E9-F0EA-198A-4BB7B149FEBB}"/>
                  </a:ext>
                </a:extLst>
              </p:cNvPr>
              <p:cNvSpPr txBox="1">
                <a:spLocks noRot="1" noChangeAspect="1" noMove="1" noResize="1" noEditPoints="1" noAdjustHandles="1" noChangeArrowheads="1" noChangeShapeType="1" noTextEdit="1"/>
              </p:cNvSpPr>
              <p:nvPr/>
            </p:nvSpPr>
            <p:spPr>
              <a:xfrm>
                <a:off x="6351638" y="855406"/>
                <a:ext cx="5515897" cy="5432000"/>
              </a:xfrm>
              <a:prstGeom prst="rect">
                <a:avLst/>
              </a:prstGeom>
              <a:blipFill>
                <a:blip r:embed="rId4"/>
                <a:stretch>
                  <a:fillRect l="-331" t="-5275"/>
                </a:stretch>
              </a:blipFill>
            </p:spPr>
            <p:txBody>
              <a:bodyPr/>
              <a:lstStyle/>
              <a:p>
                <a:r>
                  <a:rPr lang="en-IN">
                    <a:noFill/>
                  </a:rPr>
                  <a:t> </a:t>
                </a:r>
              </a:p>
            </p:txBody>
          </p:sp>
        </mc:Fallback>
      </mc:AlternateContent>
    </p:spTree>
    <p:extLst>
      <p:ext uri="{BB962C8B-B14F-4D97-AF65-F5344CB8AC3E}">
        <p14:creationId xmlns:p14="http://schemas.microsoft.com/office/powerpoint/2010/main" val="3702062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0D4E5922-51A9-DDA7-EB35-6689E8B86EC4}"/>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E7CAC66A-DC89-0F48-FDB4-4A972291AE87}"/>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FEATURE EXTRACTION</a:t>
            </a:r>
            <a:endParaRPr dirty="0"/>
          </a:p>
        </p:txBody>
      </p:sp>
      <p:sp>
        <p:nvSpPr>
          <p:cNvPr id="132" name="Google Shape;132;p17">
            <a:extLst>
              <a:ext uri="{FF2B5EF4-FFF2-40B4-BE49-F238E27FC236}">
                <a16:creationId xmlns:a16="http://schemas.microsoft.com/office/drawing/2014/main" id="{E3C6ED7C-B0AB-852E-4B76-B069BDD101B2}"/>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16</a:t>
            </a:fld>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23A30AE-829A-A008-F07B-9B63D54469AC}"/>
                  </a:ext>
                </a:extLst>
              </p:cNvPr>
              <p:cNvSpPr txBox="1"/>
              <p:nvPr/>
            </p:nvSpPr>
            <p:spPr>
              <a:xfrm>
                <a:off x="0" y="1293367"/>
                <a:ext cx="6302478" cy="3845733"/>
              </a:xfrm>
              <a:prstGeom prst="rect">
                <a:avLst/>
              </a:prstGeom>
              <a:noFill/>
            </p:spPr>
            <p:txBody>
              <a:bodyPr wrap="square" rtlCol="0">
                <a:spAutoFit/>
              </a:bodyPr>
              <a:lstStyle/>
              <a:p>
                <a:r>
                  <a:rPr lang="en-IN" b="1" dirty="0"/>
                  <a:t>5. Oscillation Feature</a:t>
                </a:r>
              </a:p>
              <a:p>
                <a:r>
                  <a:rPr lang="en-IN" b="1" dirty="0"/>
                  <a:t>Zero Crossing Rate</a:t>
                </a:r>
              </a:p>
              <a:p>
                <a:r>
                  <a:rPr lang="en-IN" dirty="0"/>
                  <a:t>ZCR=​ </a:t>
                </a:r>
                <a14:m>
                  <m:oMath xmlns:m="http://schemas.openxmlformats.org/officeDocument/2006/math">
                    <m:nary>
                      <m:naryPr>
                        <m:chr m:val="∑"/>
                        <m:grow m:val="on"/>
                        <m:subHide m:val="on"/>
                        <m:supHide m:val="on"/>
                        <m:ctrlPr>
                          <a:rPr lang="en-IN" i="1">
                            <a:latin typeface="Cambria Math" panose="02040503050406030204" pitchFamily="18" charset="0"/>
                          </a:rPr>
                        </m:ctrlPr>
                      </m:naryPr>
                      <m:sub/>
                      <m:sup/>
                      <m:e>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𝑛</m:t>
                        </m:r>
                      </m:e>
                    </m:nary>
                    <m:r>
                      <a:rPr lang="en-IN" i="1">
                        <a:latin typeface="Cambria Math" panose="02040503050406030204" pitchFamily="18" charset="0"/>
                      </a:rPr>
                      <m:t> </m:t>
                    </m:r>
                  </m:oMath>
                </a14:m>
                <a:r>
                  <a:rPr lang="en-IN" dirty="0"/>
                  <a:t>∣</a:t>
                </a:r>
                <a:r>
                  <a:rPr lang="en-IN" dirty="0" err="1"/>
                  <a:t>sgn</a:t>
                </a:r>
                <a:r>
                  <a:rPr lang="en-IN" dirty="0"/>
                  <a:t> x([n])−</a:t>
                </a:r>
                <a:r>
                  <a:rPr lang="en-IN" dirty="0" err="1"/>
                  <a:t>sgn</a:t>
                </a:r>
                <a:r>
                  <a:rPr lang="en-IN" dirty="0"/>
                  <a:t>(x[n−1])∣</a:t>
                </a:r>
              </a:p>
              <a:p>
                <a:r>
                  <a:rPr lang="en-IN" dirty="0"/>
                  <a:t>Where:</a:t>
                </a:r>
              </a:p>
              <a:p>
                <a14:m>
                  <m:oMath xmlns:m="http://schemas.openxmlformats.org/officeDocument/2006/math">
                    <m:r>
                      <m:rPr>
                        <m:sty m:val="p"/>
                      </m:rPr>
                      <a:rPr lang="en-IN">
                        <a:latin typeface="Cambria Math" panose="02040503050406030204" pitchFamily="18" charset="0"/>
                      </a:rPr>
                      <m:t>sgn</m:t>
                    </m:r>
                    <m:r>
                      <a:rPr lang="en-IN">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𝑥</m:t>
                        </m:r>
                      </m:e>
                    </m:d>
                  </m:oMath>
                </a14:m>
                <a:r>
                  <a:rPr lang="en-IN" dirty="0"/>
                  <a:t>is the sign function </a:t>
                </a:r>
              </a:p>
              <a:p>
                <a14:m>
                  <m:oMath xmlns:m="http://schemas.openxmlformats.org/officeDocument/2006/math">
                    <m:r>
                      <a:rPr lang="en-IN" i="1">
                        <a:latin typeface="Cambria Math" panose="02040503050406030204" pitchFamily="18" charset="0"/>
                      </a:rPr>
                      <m:t>𝑁</m:t>
                    </m:r>
                  </m:oMath>
                </a14:m>
                <a:r>
                  <a:rPr lang="en-IN" dirty="0"/>
                  <a:t>is the number of samples in the window </a:t>
                </a:r>
              </a:p>
              <a:p>
                <a:endParaRPr lang="en-IN" dirty="0"/>
              </a:p>
              <a:p>
                <a:r>
                  <a:rPr lang="en-IN" dirty="0"/>
                  <a:t>Measures how many times the signal crosses zero </a:t>
                </a:r>
              </a:p>
              <a:p>
                <a:r>
                  <a:rPr lang="en-IN" dirty="0"/>
                  <a:t>Higher zero crossing count indicates faster oscillations </a:t>
                </a:r>
              </a:p>
              <a:p>
                <a:r>
                  <a:rPr lang="en-IN" dirty="0"/>
                  <a:t>Useful for distinguishing oscillation regimes </a:t>
                </a:r>
              </a:p>
              <a:p>
                <a:endParaRPr lang="en-IN" b="1" dirty="0"/>
              </a:p>
              <a:p>
                <a:r>
                  <a:rPr lang="en-IN" b="1" dirty="0"/>
                  <a:t>6. Entropy Feature</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𝐻</m:t>
                      </m:r>
                      <m:r>
                        <a:rPr lang="en-IN">
                          <a:latin typeface="Cambria Math" panose="02040503050406030204" pitchFamily="18" charset="0"/>
                        </a:rPr>
                        <m:t>=−</m:t>
                      </m:r>
                      <m:nary>
                        <m:naryPr>
                          <m:chr m:val="∑"/>
                          <m:grow m:val="on"/>
                          <m:subHide m:val="on"/>
                          <m:supHide m:val="on"/>
                          <m:ctrlPr>
                            <a:rPr lang="en-IN" i="1">
                              <a:latin typeface="Cambria Math" panose="02040503050406030204" pitchFamily="18" charset="0"/>
                            </a:rPr>
                          </m:ctrlPr>
                        </m:naryPr>
                        <m:sub/>
                        <m:sup/>
                        <m:e>
                          <m:sSub>
                            <m:sSubPr>
                              <m:ctrlPr>
                                <a:rPr lang="en-IN" i="1">
                                  <a:latin typeface="Cambria Math" panose="02040503050406030204" pitchFamily="18" charset="0"/>
                                </a:rPr>
                              </m:ctrlPr>
                            </m:sSubPr>
                            <m:e>
                              <m:r>
                                <a:rPr lang="en-IN" i="1">
                                  <a:latin typeface="Cambria Math" panose="02040503050406030204" pitchFamily="18" charset="0"/>
                                </a:rPr>
                                <m:t>𝑝</m:t>
                              </m:r>
                            </m:e>
                            <m:sub>
                              <m:r>
                                <a:rPr lang="en-IN" i="1">
                                  <a:latin typeface="Cambria Math" panose="02040503050406030204" pitchFamily="18" charset="0"/>
                                </a:rPr>
                                <m:t>𝑖</m:t>
                              </m:r>
                            </m:sub>
                          </m:sSub>
                        </m:e>
                      </m:nary>
                      <m:sSub>
                        <m:sSubPr>
                          <m:ctrlPr>
                            <a:rPr lang="en-IN" i="1">
                              <a:latin typeface="Cambria Math" panose="02040503050406030204" pitchFamily="18" charset="0"/>
                            </a:rPr>
                          </m:ctrlPr>
                        </m:sSubPr>
                        <m:e>
                          <m:func>
                            <m:funcPr>
                              <m:ctrlPr>
                                <a:rPr lang="en-IN" i="1">
                                  <a:latin typeface="Cambria Math" panose="02040503050406030204" pitchFamily="18" charset="0"/>
                                </a:rPr>
                              </m:ctrlPr>
                            </m:funcPr>
                            <m:fName>
                              <m:r>
                                <m:rPr>
                                  <m:sty m:val="p"/>
                                </m:rPr>
                                <a:rPr lang="en-IN">
                                  <a:latin typeface="Cambria Math" panose="02040503050406030204" pitchFamily="18" charset="0"/>
                                </a:rPr>
                                <m:t>log</m:t>
                              </m:r>
                            </m:fName>
                            <m:e>
                              <m:r>
                                <a:rPr lang="en-US" b="0" i="1" smtClean="0">
                                  <a:latin typeface="Cambria Math" panose="02040503050406030204" pitchFamily="18" charset="0"/>
                                </a:rPr>
                                <m:t>(</m:t>
                              </m:r>
                              <m:r>
                                <a:rPr lang="en-US" b="0" i="1" smtClean="0">
                                  <a:latin typeface="Cambria Math" panose="02040503050406030204" pitchFamily="18" charset="0"/>
                                </a:rPr>
                                <m:t>𝑝𝑖</m:t>
                              </m:r>
                              <m:r>
                                <a:rPr lang="en-US" b="0" i="1" smtClean="0">
                                  <a:latin typeface="Cambria Math" panose="02040503050406030204" pitchFamily="18" charset="0"/>
                                </a:rPr>
                                <m:t>)</m:t>
                              </m:r>
                            </m:e>
                          </m:func>
                        </m:e>
                        <m:sub>
                          <m:r>
                            <a:rPr lang="en-IN">
                              <a:latin typeface="Cambria Math" panose="02040503050406030204" pitchFamily="18" charset="0"/>
                            </a:rPr>
                            <m:t>2</m:t>
                          </m:r>
                        </m:sub>
                      </m:sSub>
                    </m:oMath>
                  </m:oMathPara>
                </a14:m>
                <a:endParaRPr lang="en-IN" b="1" dirty="0"/>
              </a:p>
              <a:p>
                <a:r>
                  <a:rPr lang="en-IN" dirty="0"/>
                  <a:t>Measures randomness/complexity </a:t>
                </a:r>
              </a:p>
              <a:p>
                <a:r>
                  <a:rPr lang="en-IN" dirty="0"/>
                  <a:t>Higher entropy → more nonlinear </a:t>
                </a:r>
                <a:r>
                  <a:rPr lang="en-IN" dirty="0" err="1"/>
                  <a:t>behavior</a:t>
                </a:r>
                <a:endParaRPr lang="en-IN" dirty="0"/>
              </a:p>
              <a:p>
                <a:endParaRPr lang="en-IN" dirty="0"/>
              </a:p>
            </p:txBody>
          </p:sp>
        </mc:Choice>
        <mc:Fallback xmlns="">
          <p:sp>
            <p:nvSpPr>
              <p:cNvPr id="4" name="TextBox 3">
                <a:extLst>
                  <a:ext uri="{FF2B5EF4-FFF2-40B4-BE49-F238E27FC236}">
                    <a16:creationId xmlns:a16="http://schemas.microsoft.com/office/drawing/2014/main" id="{223A30AE-829A-A008-F07B-9B63D54469AC}"/>
                  </a:ext>
                </a:extLst>
              </p:cNvPr>
              <p:cNvSpPr txBox="1">
                <a:spLocks noRot="1" noChangeAspect="1" noMove="1" noResize="1" noEditPoints="1" noAdjustHandles="1" noChangeArrowheads="1" noChangeShapeType="1" noTextEdit="1"/>
              </p:cNvSpPr>
              <p:nvPr/>
            </p:nvSpPr>
            <p:spPr>
              <a:xfrm>
                <a:off x="0" y="1293367"/>
                <a:ext cx="6302478" cy="3845733"/>
              </a:xfrm>
              <a:prstGeom prst="rect">
                <a:avLst/>
              </a:prstGeom>
              <a:blipFill>
                <a:blip r:embed="rId3"/>
                <a:stretch>
                  <a:fillRect l="-290" t="-317" b="-919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6F9550F-ADDC-6253-DEFC-788A479C4E72}"/>
                  </a:ext>
                </a:extLst>
              </p:cNvPr>
              <p:cNvSpPr txBox="1"/>
              <p:nvPr/>
            </p:nvSpPr>
            <p:spPr>
              <a:xfrm>
                <a:off x="6302478" y="980573"/>
                <a:ext cx="5515897" cy="5112297"/>
              </a:xfrm>
              <a:prstGeom prst="rect">
                <a:avLst/>
              </a:prstGeom>
              <a:noFill/>
            </p:spPr>
            <p:txBody>
              <a:bodyPr wrap="square" rtlCol="0">
                <a:spAutoFit/>
              </a:bodyPr>
              <a:lstStyle/>
              <a:p>
                <a:r>
                  <a:rPr lang="en-IN" b="1" dirty="0"/>
                  <a:t>7. Shape Features</a:t>
                </a:r>
              </a:p>
              <a:p>
                <a:r>
                  <a:rPr lang="en-IN" b="1" dirty="0"/>
                  <a:t>Skewness</a:t>
                </a:r>
              </a:p>
              <a:p>
                <a:r>
                  <a:rPr lang="en-IN" dirty="0"/>
                  <a:t>Measures signal asymmetry </a:t>
                </a:r>
              </a:p>
              <a:p>
                <a:r>
                  <a:rPr lang="en-IN" dirty="0"/>
                  <a:t>Negative → left-skewed </a:t>
                </a:r>
              </a:p>
              <a:p>
                <a:r>
                  <a:rPr lang="en-IN" dirty="0"/>
                  <a:t>Positive → right-skewed </a:t>
                </a:r>
              </a:p>
              <a:p>
                <a:endParaRPr lang="en-IN" dirty="0"/>
              </a:p>
              <a:p>
                <a:r>
                  <a:rPr lang="en-IN" b="1" dirty="0"/>
                  <a:t>Kurtosis</a:t>
                </a:r>
              </a:p>
              <a:p>
                <a:r>
                  <a:rPr lang="en-IN" dirty="0"/>
                  <a:t>Measures sharpness of peaks </a:t>
                </a:r>
              </a:p>
              <a:p>
                <a:r>
                  <a:rPr lang="en-IN" dirty="0"/>
                  <a:t>Higher values indicate sharper peaks.</a:t>
                </a:r>
              </a:p>
              <a:p>
                <a:endParaRPr lang="en-IN" b="1" dirty="0"/>
              </a:p>
              <a:p>
                <a:r>
                  <a:rPr lang="en-IN" b="1" dirty="0"/>
                  <a:t>8. Additional Features</a:t>
                </a:r>
              </a:p>
              <a:p>
                <a:r>
                  <a:rPr lang="en-IN" b="1" dirty="0"/>
                  <a:t>Mean Absolute Value</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𝑀𝐴𝑉</m:t>
                      </m:r>
                      <m:r>
                        <a:rPr lang="en-IN">
                          <a:latin typeface="Cambria Math" panose="02040503050406030204" pitchFamily="18" charset="0"/>
                        </a:rPr>
                        <m:t>=</m:t>
                      </m:r>
                      <m:f>
                        <m:fPr>
                          <m:ctrlPr>
                            <a:rPr lang="en-IN" i="1">
                              <a:latin typeface="Cambria Math" panose="02040503050406030204" pitchFamily="18" charset="0"/>
                            </a:rPr>
                          </m:ctrlPr>
                        </m:fPr>
                        <m:num>
                          <m:r>
                            <a:rPr lang="en-IN">
                              <a:latin typeface="Cambria Math" panose="02040503050406030204" pitchFamily="18" charset="0"/>
                            </a:rPr>
                            <m:t>1</m:t>
                          </m:r>
                        </m:num>
                        <m:den>
                          <m:r>
                            <a:rPr lang="en-IN" i="1">
                              <a:latin typeface="Cambria Math" panose="02040503050406030204" pitchFamily="18" charset="0"/>
                            </a:rPr>
                            <m:t>𝑁</m:t>
                          </m:r>
                        </m:den>
                      </m:f>
                      <m:nary>
                        <m:naryPr>
                          <m:chr m:val="∑"/>
                          <m:grow m:val="on"/>
                          <m:subHide m:val="on"/>
                          <m:supHide m:val="on"/>
                          <m:ctrlPr>
                            <a:rPr lang="en-IN" i="1">
                              <a:latin typeface="Cambria Math" panose="02040503050406030204" pitchFamily="18" charset="0"/>
                            </a:rPr>
                          </m:ctrlPr>
                        </m:naryPr>
                        <m:sub/>
                        <m:sup/>
                        <m:e>
                          <m:r>
                            <a:rPr lang="en-IN">
                              <a:latin typeface="Cambria Math" panose="02040503050406030204" pitchFamily="18" charset="0"/>
                            </a:rPr>
                            <m:t>∣</m:t>
                          </m:r>
                        </m:e>
                      </m:nary>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𝑖</m:t>
                          </m:r>
                        </m:sub>
                      </m:sSub>
                      <m:r>
                        <a:rPr lang="en-IN">
                          <a:latin typeface="Cambria Math" panose="02040503050406030204" pitchFamily="18" charset="0"/>
                        </a:rPr>
                        <m:t>∣</m:t>
                      </m:r>
                    </m:oMath>
                  </m:oMathPara>
                </a14:m>
                <a:endParaRPr lang="en-IN" dirty="0"/>
              </a:p>
              <a:p>
                <a:r>
                  <a:rPr lang="en-IN" dirty="0"/>
                  <a:t>Represents average amplitude level </a:t>
                </a:r>
              </a:p>
              <a:p>
                <a:endParaRPr lang="en-IN" dirty="0"/>
              </a:p>
              <a:p>
                <a:r>
                  <a:rPr lang="en-IN" b="1" dirty="0"/>
                  <a:t>Shape Factor</a:t>
                </a:r>
              </a:p>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𝑆𝐹</m:t>
                      </m:r>
                      <m:r>
                        <a:rPr lang="en-IN">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𝑅𝑀𝑆</m:t>
                          </m:r>
                        </m:num>
                        <m:den>
                          <m:r>
                            <a:rPr lang="en-IN" i="1">
                              <a:latin typeface="Cambria Math" panose="02040503050406030204" pitchFamily="18" charset="0"/>
                            </a:rPr>
                            <m:t>𝑀𝑒𝑎𝑛</m:t>
                          </m:r>
                          <m:r>
                            <m:rPr>
                              <m:nor/>
                            </m:rPr>
                            <a:rPr lang="en-IN" i="1"/>
                            <m:t> </m:t>
                          </m:r>
                          <m:r>
                            <a:rPr lang="en-IN" i="1">
                              <a:latin typeface="Cambria Math" panose="02040503050406030204" pitchFamily="18" charset="0"/>
                            </a:rPr>
                            <m:t>𝐴𝑏𝑠𝑜𝑙𝑢𝑡𝑒</m:t>
                          </m:r>
                          <m:r>
                            <m:rPr>
                              <m:nor/>
                            </m:rPr>
                            <a:rPr lang="en-IN" i="1"/>
                            <m:t> </m:t>
                          </m:r>
                          <m:r>
                            <a:rPr lang="en-IN" i="1">
                              <a:latin typeface="Cambria Math" panose="02040503050406030204" pitchFamily="18" charset="0"/>
                            </a:rPr>
                            <m:t>𝑉𝑎𝑙𝑢𝑒</m:t>
                          </m:r>
                        </m:den>
                      </m:f>
                    </m:oMath>
                  </m:oMathPara>
                </a14:m>
                <a:endParaRPr lang="en-IN" dirty="0"/>
              </a:p>
              <a:p>
                <a:r>
                  <a:rPr lang="en-IN" b="1" dirty="0"/>
                  <a:t>Significance</a:t>
                </a:r>
              </a:p>
              <a:p>
                <a:r>
                  <a:rPr lang="en-IN" dirty="0"/>
                  <a:t>Describes waveform shape characteristics </a:t>
                </a:r>
              </a:p>
              <a:p>
                <a:endParaRPr lang="en-IN" dirty="0"/>
              </a:p>
              <a:p>
                <a:endParaRPr lang="en-IN" dirty="0"/>
              </a:p>
            </p:txBody>
          </p:sp>
        </mc:Choice>
        <mc:Fallback xmlns="">
          <p:sp>
            <p:nvSpPr>
              <p:cNvPr id="3" name="TextBox 2">
                <a:extLst>
                  <a:ext uri="{FF2B5EF4-FFF2-40B4-BE49-F238E27FC236}">
                    <a16:creationId xmlns:a16="http://schemas.microsoft.com/office/drawing/2014/main" id="{66F9550F-ADDC-6253-DEFC-788A479C4E72}"/>
                  </a:ext>
                </a:extLst>
              </p:cNvPr>
              <p:cNvSpPr txBox="1">
                <a:spLocks noRot="1" noChangeAspect="1" noMove="1" noResize="1" noEditPoints="1" noAdjustHandles="1" noChangeArrowheads="1" noChangeShapeType="1" noTextEdit="1"/>
              </p:cNvSpPr>
              <p:nvPr/>
            </p:nvSpPr>
            <p:spPr>
              <a:xfrm>
                <a:off x="6302478" y="980573"/>
                <a:ext cx="5515897" cy="5112297"/>
              </a:xfrm>
              <a:prstGeom prst="rect">
                <a:avLst/>
              </a:prstGeom>
              <a:blipFill>
                <a:blip r:embed="rId4"/>
                <a:stretch>
                  <a:fillRect l="-331" t="-239"/>
                </a:stretch>
              </a:blipFill>
            </p:spPr>
            <p:txBody>
              <a:bodyPr/>
              <a:lstStyle/>
              <a:p>
                <a:r>
                  <a:rPr lang="en-IN">
                    <a:noFill/>
                  </a:rPr>
                  <a:t> </a:t>
                </a:r>
              </a:p>
            </p:txBody>
          </p:sp>
        </mc:Fallback>
      </mc:AlternateContent>
    </p:spTree>
    <p:extLst>
      <p:ext uri="{BB962C8B-B14F-4D97-AF65-F5344CB8AC3E}">
        <p14:creationId xmlns:p14="http://schemas.microsoft.com/office/powerpoint/2010/main" val="10250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621F0C68-B38B-CBB0-4CFE-947046ADD596}"/>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AE75EE47-FBC0-0C05-AAA1-274AE87594B2}"/>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FEATURE EXTRACTION</a:t>
            </a:r>
            <a:endParaRPr dirty="0"/>
          </a:p>
        </p:txBody>
      </p:sp>
      <p:sp>
        <p:nvSpPr>
          <p:cNvPr id="132" name="Google Shape;132;p17">
            <a:extLst>
              <a:ext uri="{FF2B5EF4-FFF2-40B4-BE49-F238E27FC236}">
                <a16:creationId xmlns:a16="http://schemas.microsoft.com/office/drawing/2014/main" id="{33C33A4E-93E2-0C84-EC4F-993473B47D52}"/>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17</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40ABCE9-B9B9-89DE-CBEE-0BA52D378C97}"/>
                  </a:ext>
                </a:extLst>
              </p:cNvPr>
              <p:cNvSpPr txBox="1"/>
              <p:nvPr/>
            </p:nvSpPr>
            <p:spPr>
              <a:xfrm>
                <a:off x="275303" y="963561"/>
                <a:ext cx="11405420" cy="5539978"/>
              </a:xfrm>
              <a:prstGeom prst="rect">
                <a:avLst/>
              </a:prstGeom>
              <a:noFill/>
            </p:spPr>
            <p:txBody>
              <a:bodyPr wrap="square" rtlCol="0">
                <a:spAutoFit/>
              </a:bodyPr>
              <a:lstStyle/>
              <a:p>
                <a:r>
                  <a:rPr lang="en-US" sz="1700" dirty="0"/>
                  <a:t>12. </a:t>
                </a:r>
                <a:r>
                  <a:rPr lang="en-IN" sz="1700" dirty="0"/>
                  <a:t>The generated samples per regime increased with larger </a:t>
                </a:r>
                <a14:m>
                  <m:oMath xmlns:m="http://schemas.openxmlformats.org/officeDocument/2006/math">
                    <m:r>
                      <a:rPr lang="en-IN" sz="1700" i="1">
                        <a:latin typeface="Cambria Math" panose="02040503050406030204" pitchFamily="18" charset="0"/>
                      </a:rPr>
                      <m:t>𝜇</m:t>
                    </m:r>
                  </m:oMath>
                </a14:m>
                <a:r>
                  <a:rPr lang="en-IN" sz="1700" dirty="0"/>
                  <a:t> values because higher nonlinearities produced denser signal variations under the variable-step solver.</a:t>
                </a:r>
              </a:p>
              <a:p>
                <a:r>
                  <a:rPr lang="en-IN" sz="1700" dirty="0"/>
                  <a:t>Total generated samples: </a:t>
                </a:r>
                <a14:m>
                  <m:oMath xmlns:m="http://schemas.openxmlformats.org/officeDocument/2006/math">
                    <m:r>
                      <a:rPr lang="en-IN" sz="1700">
                        <a:latin typeface="Cambria Math" panose="02040503050406030204" pitchFamily="18" charset="0"/>
                      </a:rPr>
                      <m:t>16514</m:t>
                    </m:r>
                  </m:oMath>
                </a14:m>
                <a:endParaRPr lang="en-IN" sz="1700" dirty="0"/>
              </a:p>
              <a:p>
                <a:r>
                  <a:rPr lang="en-IN" sz="1700" dirty="0"/>
                  <a:t>This created a sufficiently large dataset for classification tasks.</a:t>
                </a:r>
              </a:p>
              <a:p>
                <a:endParaRPr lang="en-IN" sz="1700" dirty="0"/>
              </a:p>
              <a:p>
                <a:r>
                  <a:rPr lang="en-IN" sz="1700" dirty="0"/>
                  <a:t>13. The final dataset was converted into a MATLAB table and exported as a CSV file.</a:t>
                </a:r>
              </a:p>
              <a:p>
                <a:endParaRPr lang="en-IN" sz="1700" dirty="0"/>
              </a:p>
              <a:p>
                <a:r>
                  <a:rPr lang="en-IN" sz="1700" b="1" dirty="0"/>
                  <a:t>Complete Dataset Generation Workflow:</a:t>
                </a:r>
              </a:p>
              <a:p>
                <a:r>
                  <a:rPr lang="en-IN" sz="1700" dirty="0"/>
                  <a:t>Select </a:t>
                </a:r>
                <a14:m>
                  <m:oMath xmlns:m="http://schemas.openxmlformats.org/officeDocument/2006/math">
                    <m:r>
                      <a:rPr lang="en-IN" sz="1700" i="1">
                        <a:latin typeface="Cambria Math" panose="02040503050406030204" pitchFamily="18" charset="0"/>
                      </a:rPr>
                      <m:t>𝜇</m:t>
                    </m:r>
                    <m:r>
                      <a:rPr lang="en-US" sz="1700" b="0" i="1" smtClean="0">
                        <a:latin typeface="Cambria Math" panose="02040503050406030204" pitchFamily="18" charset="0"/>
                      </a:rPr>
                      <m:t> </m:t>
                    </m:r>
                  </m:oMath>
                </a14:m>
                <a:r>
                  <a:rPr lang="en-IN" sz="1700" dirty="0"/>
                  <a:t>values </a:t>
                </a:r>
              </a:p>
              <a:p>
                <a:r>
                  <a:rPr lang="en-IN" sz="1700" dirty="0"/>
                  <a:t>Simulate Van der Pol oscillator </a:t>
                </a:r>
              </a:p>
              <a:p>
                <a:r>
                  <a:rPr lang="en-IN" sz="1700" dirty="0"/>
                  <a:t>Extract </a:t>
                </a:r>
                <a14:m>
                  <m:oMath xmlns:m="http://schemas.openxmlformats.org/officeDocument/2006/math">
                    <m:r>
                      <a:rPr lang="en-IN" sz="1700" i="1">
                        <a:latin typeface="Cambria Math" panose="02040503050406030204" pitchFamily="18" charset="0"/>
                      </a:rPr>
                      <m:t>𝑦</m:t>
                    </m:r>
                  </m:oMath>
                </a14:m>
                <a:r>
                  <a:rPr lang="en-IN" sz="1700" dirty="0"/>
                  <a:t>, </a:t>
                </a:r>
                <a14:m>
                  <m:oMath xmlns:m="http://schemas.openxmlformats.org/officeDocument/2006/math">
                    <m:acc>
                      <m:accPr>
                        <m:chr m:val="̇"/>
                        <m:ctrlPr>
                          <a:rPr lang="en-IN" sz="1700" i="1">
                            <a:latin typeface="Cambria Math" panose="02040503050406030204" pitchFamily="18" charset="0"/>
                          </a:rPr>
                        </m:ctrlPr>
                      </m:accPr>
                      <m:e>
                        <m:r>
                          <a:rPr lang="en-IN" sz="1700" i="1">
                            <a:latin typeface="Cambria Math" panose="02040503050406030204" pitchFamily="18" charset="0"/>
                          </a:rPr>
                          <m:t>𝑦</m:t>
                        </m:r>
                      </m:e>
                    </m:acc>
                  </m:oMath>
                </a14:m>
                <a:r>
                  <a:rPr lang="en-IN" sz="1700" dirty="0"/>
                  <a:t>, </a:t>
                </a:r>
                <a14:m>
                  <m:oMath xmlns:m="http://schemas.openxmlformats.org/officeDocument/2006/math">
                    <m:acc>
                      <m:accPr>
                        <m:chr m:val="̈"/>
                        <m:ctrlPr>
                          <a:rPr lang="en-IN" sz="1700" i="1">
                            <a:latin typeface="Cambria Math" panose="02040503050406030204" pitchFamily="18" charset="0"/>
                          </a:rPr>
                        </m:ctrlPr>
                      </m:accPr>
                      <m:e>
                        <m:r>
                          <a:rPr lang="en-IN" sz="1700" i="1">
                            <a:latin typeface="Cambria Math" panose="02040503050406030204" pitchFamily="18" charset="0"/>
                          </a:rPr>
                          <m:t>𝑦</m:t>
                        </m:r>
                      </m:e>
                    </m:acc>
                  </m:oMath>
                </a14:m>
                <a:endParaRPr lang="en-IN" sz="1700" dirty="0"/>
              </a:p>
              <a:p>
                <a:r>
                  <a:rPr lang="en-IN" sz="1700" dirty="0"/>
                  <a:t>Validate signals </a:t>
                </a:r>
              </a:p>
              <a:p>
                <a:r>
                  <a:rPr lang="en-IN" sz="1700" dirty="0"/>
                  <a:t>Remove transient region </a:t>
                </a:r>
              </a:p>
              <a:p>
                <a:r>
                  <a:rPr lang="en-IN" sz="1700" dirty="0"/>
                  <a:t>Assign oscillation labels </a:t>
                </a:r>
              </a:p>
              <a:p>
                <a:r>
                  <a:rPr lang="en-IN" sz="1700" dirty="0"/>
                  <a:t>Segment signals using sliding windows </a:t>
                </a:r>
              </a:p>
              <a:p>
                <a:r>
                  <a:rPr lang="en-IN" sz="1700" dirty="0"/>
                  <a:t>Normalize windows </a:t>
                </a:r>
              </a:p>
              <a:p>
                <a:r>
                  <a:rPr lang="en-IN" sz="1700" dirty="0"/>
                  <a:t>Extract statistical and nonlinear features </a:t>
                </a:r>
              </a:p>
              <a:p>
                <a:r>
                  <a:rPr lang="en-IN" sz="1700" dirty="0"/>
                  <a:t>Store features with labels </a:t>
                </a:r>
              </a:p>
              <a:p>
                <a:r>
                  <a:rPr lang="en-IN" sz="1700" dirty="0"/>
                  <a:t>Create final dataset table </a:t>
                </a:r>
              </a:p>
              <a:p>
                <a:r>
                  <a:rPr lang="en-IN" sz="1700" dirty="0"/>
                  <a:t>Export dataset to CSV format </a:t>
                </a:r>
              </a:p>
              <a:p>
                <a:endParaRPr lang="en-IN" dirty="0"/>
              </a:p>
            </p:txBody>
          </p:sp>
        </mc:Choice>
        <mc:Fallback xmlns="">
          <p:sp>
            <p:nvSpPr>
              <p:cNvPr id="2" name="TextBox 1">
                <a:extLst>
                  <a:ext uri="{FF2B5EF4-FFF2-40B4-BE49-F238E27FC236}">
                    <a16:creationId xmlns:a16="http://schemas.microsoft.com/office/drawing/2014/main" id="{140ABCE9-B9B9-89DE-CBEE-0BA52D378C97}"/>
                  </a:ext>
                </a:extLst>
              </p:cNvPr>
              <p:cNvSpPr txBox="1">
                <a:spLocks noRot="1" noChangeAspect="1" noMove="1" noResize="1" noEditPoints="1" noAdjustHandles="1" noChangeArrowheads="1" noChangeShapeType="1" noTextEdit="1"/>
              </p:cNvSpPr>
              <p:nvPr/>
            </p:nvSpPr>
            <p:spPr>
              <a:xfrm>
                <a:off x="275303" y="963561"/>
                <a:ext cx="11405420" cy="5539978"/>
              </a:xfrm>
              <a:prstGeom prst="rect">
                <a:avLst/>
              </a:prstGeom>
              <a:blipFill>
                <a:blip r:embed="rId3"/>
                <a:stretch>
                  <a:fillRect l="-321" t="-330" r="-855"/>
                </a:stretch>
              </a:blipFill>
            </p:spPr>
            <p:txBody>
              <a:bodyPr/>
              <a:lstStyle/>
              <a:p>
                <a:r>
                  <a:rPr lang="en-IN">
                    <a:noFill/>
                  </a:rPr>
                  <a:t> </a:t>
                </a:r>
              </a:p>
            </p:txBody>
          </p:sp>
        </mc:Fallback>
      </mc:AlternateContent>
    </p:spTree>
    <p:extLst>
      <p:ext uri="{BB962C8B-B14F-4D97-AF65-F5344CB8AC3E}">
        <p14:creationId xmlns:p14="http://schemas.microsoft.com/office/powerpoint/2010/main" val="3758308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3DECADD1-555B-0DFA-8667-3BF88BFD9F64}"/>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32513173-5595-CDF1-2DA9-2EBFF0A22580}"/>
              </a:ext>
            </a:extLst>
          </p:cNvPr>
          <p:cNvSpPr txBox="1">
            <a:spLocks noGrp="1"/>
          </p:cNvSpPr>
          <p:nvPr>
            <p:ph type="title"/>
          </p:nvPr>
        </p:nvSpPr>
        <p:spPr>
          <a:xfrm>
            <a:off x="688258" y="250096"/>
            <a:ext cx="9478352" cy="1000915"/>
          </a:xfrm>
          <a:prstGeom prst="rect">
            <a:avLst/>
          </a:prstGeom>
          <a:noFill/>
          <a:ln>
            <a:noFill/>
          </a:ln>
        </p:spPr>
        <p:txBody>
          <a:bodyPr spcFirstLastPara="1" wrap="square" lIns="0" tIns="15875" rIns="0" bIns="0" anchor="t" anchorCtr="0">
            <a:spAutoFit/>
          </a:bodyPr>
          <a:lstStyle/>
          <a:p>
            <a:pPr marL="12700" algn="ctr"/>
            <a:r>
              <a:rPr lang="en-IN" b="1" dirty="0"/>
              <a:t>Avoiding Data Leakage Using µ-Based Splitting</a:t>
            </a:r>
            <a:br>
              <a:rPr lang="en-IN" b="1" dirty="0"/>
            </a:br>
            <a:endParaRPr dirty="0"/>
          </a:p>
        </p:txBody>
      </p:sp>
      <p:sp>
        <p:nvSpPr>
          <p:cNvPr id="132" name="Google Shape;132;p17">
            <a:extLst>
              <a:ext uri="{FF2B5EF4-FFF2-40B4-BE49-F238E27FC236}">
                <a16:creationId xmlns:a16="http://schemas.microsoft.com/office/drawing/2014/main" id="{A8A01754-18C8-F918-2D52-B05D46CEAADD}"/>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18</a:t>
            </a:fld>
            <a:endParaRPr/>
          </a:p>
        </p:txBody>
      </p:sp>
      <p:sp>
        <p:nvSpPr>
          <p:cNvPr id="2" name="TextBox 1">
            <a:extLst>
              <a:ext uri="{FF2B5EF4-FFF2-40B4-BE49-F238E27FC236}">
                <a16:creationId xmlns:a16="http://schemas.microsoft.com/office/drawing/2014/main" id="{073BDB4B-E281-A775-CAC9-E5827B4E3BA5}"/>
              </a:ext>
            </a:extLst>
          </p:cNvPr>
          <p:cNvSpPr txBox="1"/>
          <p:nvPr/>
        </p:nvSpPr>
        <p:spPr>
          <a:xfrm>
            <a:off x="275303" y="963561"/>
            <a:ext cx="11405420" cy="5186035"/>
          </a:xfrm>
          <a:prstGeom prst="rect">
            <a:avLst/>
          </a:prstGeom>
          <a:noFill/>
        </p:spPr>
        <p:txBody>
          <a:bodyPr wrap="square" rtlCol="0">
            <a:spAutoFit/>
          </a:bodyPr>
          <a:lstStyle/>
          <a:p>
            <a:r>
              <a:rPr lang="en-IN" sz="1800" b="1" dirty="0"/>
              <a:t>Why Data Leakage Occurs</a:t>
            </a:r>
          </a:p>
          <a:p>
            <a:r>
              <a:rPr lang="en-IN" sz="1800" dirty="0"/>
              <a:t>The dataset was generated using overlapping sliding windows. </a:t>
            </a:r>
          </a:p>
          <a:p>
            <a:r>
              <a:rPr lang="en-IN" sz="1800" dirty="0"/>
              <a:t>Adjacent windows from the same oscillator trajectory are highly correlated. </a:t>
            </a:r>
          </a:p>
          <a:p>
            <a:r>
              <a:rPr lang="en-IN" sz="1800" dirty="0"/>
              <a:t>Random train-test splitting may place nearly identical windows in both datasets. </a:t>
            </a:r>
          </a:p>
          <a:p>
            <a:r>
              <a:rPr lang="en-IN" sz="1800" dirty="0"/>
              <a:t>This leads to artificially inflated classification accuracy and unreliable model evaluation</a:t>
            </a:r>
          </a:p>
          <a:p>
            <a:endParaRPr lang="en-IN" sz="1700" dirty="0"/>
          </a:p>
          <a:p>
            <a:r>
              <a:rPr lang="en-IN" b="1" dirty="0"/>
              <a:t>µ-Based Train-Test Splitting Strategy</a:t>
            </a:r>
          </a:p>
          <a:p>
            <a:r>
              <a:rPr lang="en-IN" b="1" dirty="0"/>
              <a:t>Training µ values:                                                                                         Testing µ values:                                                                                         </a:t>
            </a:r>
          </a:p>
          <a:p>
            <a:endParaRPr lang="en-IN" b="1" dirty="0"/>
          </a:p>
          <a:p>
            <a:r>
              <a:rPr lang="en-IN" b="1" dirty="0"/>
              <a:t>                                                                                                                    </a:t>
            </a:r>
          </a:p>
          <a:p>
            <a:endParaRPr lang="en-IN" b="1" dirty="0"/>
          </a:p>
          <a:p>
            <a:endParaRPr lang="en-IN" b="1" dirty="0"/>
          </a:p>
          <a:p>
            <a:endParaRPr lang="en-IN" b="1" dirty="0"/>
          </a:p>
          <a:p>
            <a:endParaRPr lang="en-IN" b="1" dirty="0"/>
          </a:p>
          <a:p>
            <a:endParaRPr lang="en-IN" b="1" dirty="0"/>
          </a:p>
          <a:p>
            <a:endParaRPr lang="en-IN" b="1" dirty="0"/>
          </a:p>
          <a:p>
            <a:endParaRPr lang="en-IN" b="1" dirty="0"/>
          </a:p>
          <a:p>
            <a:r>
              <a:rPr lang="en-IN" b="1" dirty="0"/>
              <a:t>Advantages of µ-Based Splitting</a:t>
            </a:r>
          </a:p>
          <a:p>
            <a:r>
              <a:rPr lang="en-IN" dirty="0"/>
              <a:t>Prevents overlap between train and test trajectories </a:t>
            </a:r>
          </a:p>
          <a:p>
            <a:r>
              <a:rPr lang="en-IN" dirty="0"/>
              <a:t>Ensures independent evaluation </a:t>
            </a:r>
          </a:p>
          <a:p>
            <a:r>
              <a:rPr lang="en-IN" dirty="0"/>
              <a:t>Evaluates models on unseen nonlinear conditions </a:t>
            </a:r>
          </a:p>
          <a:p>
            <a:r>
              <a:rPr lang="en-IN" dirty="0"/>
              <a:t>Provides realistic generalization capability </a:t>
            </a:r>
          </a:p>
        </p:txBody>
      </p:sp>
      <p:graphicFrame>
        <p:nvGraphicFramePr>
          <p:cNvPr id="3" name="Table 2">
            <a:extLst>
              <a:ext uri="{FF2B5EF4-FFF2-40B4-BE49-F238E27FC236}">
                <a16:creationId xmlns:a16="http://schemas.microsoft.com/office/drawing/2014/main" id="{FD12B7FE-DC5E-AC69-FF97-0F9881F89905}"/>
              </a:ext>
            </a:extLst>
          </p:cNvPr>
          <p:cNvGraphicFramePr>
            <a:graphicFrameLocks noGrp="1"/>
          </p:cNvGraphicFramePr>
          <p:nvPr>
            <p:extLst>
              <p:ext uri="{D42A27DB-BD31-4B8C-83A1-F6EECF244321}">
                <p14:modId xmlns:p14="http://schemas.microsoft.com/office/powerpoint/2010/main" val="903545021"/>
              </p:ext>
            </p:extLst>
          </p:nvPr>
        </p:nvGraphicFramePr>
        <p:xfrm>
          <a:off x="275303" y="3277248"/>
          <a:ext cx="5618162" cy="1524000"/>
        </p:xfrm>
        <a:graphic>
          <a:graphicData uri="http://schemas.openxmlformats.org/drawingml/2006/table">
            <a:tbl>
              <a:tblPr/>
              <a:tblGrid>
                <a:gridCol w="2809081">
                  <a:extLst>
                    <a:ext uri="{9D8B030D-6E8A-4147-A177-3AD203B41FA5}">
                      <a16:colId xmlns:a16="http://schemas.microsoft.com/office/drawing/2014/main" val="2169418419"/>
                    </a:ext>
                  </a:extLst>
                </a:gridCol>
                <a:gridCol w="2809081">
                  <a:extLst>
                    <a:ext uri="{9D8B030D-6E8A-4147-A177-3AD203B41FA5}">
                      <a16:colId xmlns:a16="http://schemas.microsoft.com/office/drawing/2014/main" val="3934373698"/>
                    </a:ext>
                  </a:extLst>
                </a:gridCol>
              </a:tblGrid>
              <a:tr h="0">
                <a:tc>
                  <a:txBody>
                    <a:bodyPr/>
                    <a:lstStyle/>
                    <a:p>
                      <a:pPr>
                        <a:buNone/>
                      </a:pPr>
                      <a:r>
                        <a:rPr lang="en-IN"/>
                        <a:t>Oscillation Regime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µ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892386"/>
                  </a:ext>
                </a:extLst>
              </a:tr>
              <a:tr h="0">
                <a:tc>
                  <a:txBody>
                    <a:bodyPr/>
                    <a:lstStyle/>
                    <a:p>
                      <a:pPr>
                        <a:buNone/>
                      </a:pPr>
                      <a:r>
                        <a:rPr lang="en-IN"/>
                        <a:t>Harmonic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0, 10</a:t>
                      </a:r>
                      <a:r>
                        <a:rPr lang="en-IN" baseline="30000" dirty="0"/>
                        <a:t>-10</a:t>
                      </a:r>
                      <a:r>
                        <a:rPr lang="en-IN" dirty="0"/>
                        <a:t>, 10</a:t>
                      </a:r>
                      <a:r>
                        <a:rPr lang="en-IN" baseline="30000" dirty="0"/>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0161075"/>
                  </a:ext>
                </a:extLst>
              </a:tr>
              <a:tr h="0">
                <a:tc>
                  <a:txBody>
                    <a:bodyPr/>
                    <a:lstStyle/>
                    <a:p>
                      <a:pPr>
                        <a:buNone/>
                      </a:pPr>
                      <a:r>
                        <a:rPr lang="en-IN"/>
                        <a:t>Weak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0.01, 0.05, 0.1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8038834"/>
                  </a:ext>
                </a:extLst>
              </a:tr>
              <a:tr h="0">
                <a:tc>
                  <a:txBody>
                    <a:bodyPr/>
                    <a:lstStyle/>
                    <a:p>
                      <a:pPr>
                        <a:buNone/>
                      </a:pPr>
                      <a:r>
                        <a:rPr lang="en-IN"/>
                        <a:t>Strong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2, 3, 4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8753588"/>
                  </a:ext>
                </a:extLst>
              </a:tr>
              <a:tr h="0">
                <a:tc>
                  <a:txBody>
                    <a:bodyPr/>
                    <a:lstStyle/>
                    <a:p>
                      <a:pPr>
                        <a:buNone/>
                      </a:pPr>
                      <a:r>
                        <a:rPr lang="en-IN" dirty="0"/>
                        <a:t>Relaxation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10, 12, 15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9647299"/>
                  </a:ext>
                </a:extLst>
              </a:tr>
            </a:tbl>
          </a:graphicData>
        </a:graphic>
      </p:graphicFrame>
      <p:graphicFrame>
        <p:nvGraphicFramePr>
          <p:cNvPr id="4" name="Table 3">
            <a:extLst>
              <a:ext uri="{FF2B5EF4-FFF2-40B4-BE49-F238E27FC236}">
                <a16:creationId xmlns:a16="http://schemas.microsoft.com/office/drawing/2014/main" id="{98873614-C8B7-FB43-5855-F6EAE6432C06}"/>
              </a:ext>
            </a:extLst>
          </p:cNvPr>
          <p:cNvGraphicFramePr>
            <a:graphicFrameLocks noGrp="1"/>
          </p:cNvGraphicFramePr>
          <p:nvPr>
            <p:extLst>
              <p:ext uri="{D42A27DB-BD31-4B8C-83A1-F6EECF244321}">
                <p14:modId xmlns:p14="http://schemas.microsoft.com/office/powerpoint/2010/main" val="3729864902"/>
              </p:ext>
            </p:extLst>
          </p:nvPr>
        </p:nvGraphicFramePr>
        <p:xfrm>
          <a:off x="5978013" y="3277248"/>
          <a:ext cx="5618162" cy="1524000"/>
        </p:xfrm>
        <a:graphic>
          <a:graphicData uri="http://schemas.openxmlformats.org/drawingml/2006/table">
            <a:tbl>
              <a:tblPr/>
              <a:tblGrid>
                <a:gridCol w="2809081">
                  <a:extLst>
                    <a:ext uri="{9D8B030D-6E8A-4147-A177-3AD203B41FA5}">
                      <a16:colId xmlns:a16="http://schemas.microsoft.com/office/drawing/2014/main" val="1881926922"/>
                    </a:ext>
                  </a:extLst>
                </a:gridCol>
                <a:gridCol w="2809081">
                  <a:extLst>
                    <a:ext uri="{9D8B030D-6E8A-4147-A177-3AD203B41FA5}">
                      <a16:colId xmlns:a16="http://schemas.microsoft.com/office/drawing/2014/main" val="793542551"/>
                    </a:ext>
                  </a:extLst>
                </a:gridCol>
              </a:tblGrid>
              <a:tr h="0">
                <a:tc>
                  <a:txBody>
                    <a:bodyPr/>
                    <a:lstStyle/>
                    <a:p>
                      <a:pPr>
                        <a:buNone/>
                      </a:pPr>
                      <a:r>
                        <a:rPr lang="en-IN"/>
                        <a:t>Oscillation Regime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µ Values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3033562"/>
                  </a:ext>
                </a:extLst>
              </a:tr>
              <a:tr h="0">
                <a:tc>
                  <a:txBody>
                    <a:bodyPr/>
                    <a:lstStyle/>
                    <a:p>
                      <a:pPr>
                        <a:buNone/>
                      </a:pPr>
                      <a:r>
                        <a:rPr lang="en-IN"/>
                        <a:t>Harmonic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1</a:t>
                      </a:r>
                      <a:r>
                        <a:rPr lang="en-IN" dirty="0"/>
                        <a:t>0</a:t>
                      </a:r>
                      <a:r>
                        <a:rPr lang="en-IN" baseline="30000" dirty="0"/>
                        <a:t>-8</a:t>
                      </a:r>
                      <a:r>
                        <a:rPr lang="en-IN" dirty="0"/>
                        <a:t>, 10</a:t>
                      </a:r>
                      <a:r>
                        <a:rPr lang="en-IN" baseline="300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604570"/>
                  </a:ext>
                </a:extLst>
              </a:tr>
              <a:tr h="0">
                <a:tc>
                  <a:txBody>
                    <a:bodyPr/>
                    <a:lstStyle/>
                    <a:p>
                      <a:pPr>
                        <a:buNone/>
                      </a:pPr>
                      <a:r>
                        <a:rPr lang="en-IN" dirty="0"/>
                        <a:t>Weak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0.2, 0.5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0451524"/>
                  </a:ext>
                </a:extLst>
              </a:tr>
              <a:tr h="0">
                <a:tc>
                  <a:txBody>
                    <a:bodyPr/>
                    <a:lstStyle/>
                    <a:p>
                      <a:pPr>
                        <a:buNone/>
                      </a:pPr>
                      <a:r>
                        <a:rPr lang="en-IN"/>
                        <a:t>Strong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0724094"/>
                  </a:ext>
                </a:extLst>
              </a:tr>
              <a:tr h="0">
                <a:tc>
                  <a:txBody>
                    <a:bodyPr/>
                    <a:lstStyle/>
                    <a:p>
                      <a:pPr>
                        <a:buNone/>
                      </a:pPr>
                      <a:r>
                        <a:rPr lang="en-IN"/>
                        <a:t>Relaxation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18, 20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187317"/>
                  </a:ext>
                </a:extLst>
              </a:tr>
            </a:tbl>
          </a:graphicData>
        </a:graphic>
      </p:graphicFrame>
    </p:spTree>
    <p:extLst>
      <p:ext uri="{BB962C8B-B14F-4D97-AF65-F5344CB8AC3E}">
        <p14:creationId xmlns:p14="http://schemas.microsoft.com/office/powerpoint/2010/main" val="2043947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0111AACD-D6FC-7BC7-880B-39751CCC5AB3}"/>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5288E2AD-9DDE-FA05-8F57-F738C593D7C3}"/>
              </a:ext>
            </a:extLst>
          </p:cNvPr>
          <p:cNvSpPr txBox="1">
            <a:spLocks noGrp="1"/>
          </p:cNvSpPr>
          <p:nvPr>
            <p:ph type="title"/>
          </p:nvPr>
        </p:nvSpPr>
        <p:spPr>
          <a:xfrm>
            <a:off x="688258" y="250096"/>
            <a:ext cx="9478352" cy="1000915"/>
          </a:xfrm>
          <a:prstGeom prst="rect">
            <a:avLst/>
          </a:prstGeom>
          <a:noFill/>
          <a:ln>
            <a:noFill/>
          </a:ln>
        </p:spPr>
        <p:txBody>
          <a:bodyPr spcFirstLastPara="1" wrap="square" lIns="0" tIns="15875" rIns="0" bIns="0" anchor="t" anchorCtr="0">
            <a:spAutoFit/>
          </a:bodyPr>
          <a:lstStyle/>
          <a:p>
            <a:pPr marL="12700" algn="ctr"/>
            <a:r>
              <a:rPr lang="en-IN" b="1" dirty="0"/>
              <a:t>DATASET DISTRIBUTION AND BALANCING</a:t>
            </a:r>
            <a:br>
              <a:rPr lang="en-IN" b="1" dirty="0"/>
            </a:br>
            <a:endParaRPr dirty="0"/>
          </a:p>
        </p:txBody>
      </p:sp>
      <p:sp>
        <p:nvSpPr>
          <p:cNvPr id="132" name="Google Shape;132;p17">
            <a:extLst>
              <a:ext uri="{FF2B5EF4-FFF2-40B4-BE49-F238E27FC236}">
                <a16:creationId xmlns:a16="http://schemas.microsoft.com/office/drawing/2014/main" id="{D924EF83-A364-8799-0A4D-101A3E5105C4}"/>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19</a:t>
            </a:fld>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B015358-E580-F775-F49F-CC3BE54C69CE}"/>
                  </a:ext>
                </a:extLst>
              </p:cNvPr>
              <p:cNvSpPr txBox="1"/>
              <p:nvPr/>
            </p:nvSpPr>
            <p:spPr>
              <a:xfrm>
                <a:off x="285135" y="953729"/>
                <a:ext cx="5319252" cy="5262979"/>
              </a:xfrm>
              <a:prstGeom prst="rect">
                <a:avLst/>
              </a:prstGeom>
              <a:noFill/>
            </p:spPr>
            <p:txBody>
              <a:bodyPr wrap="square" rtlCol="0">
                <a:spAutoFit/>
              </a:bodyPr>
              <a:lstStyle/>
              <a:p>
                <a:r>
                  <a:rPr lang="en-IN" b="1" dirty="0"/>
                  <a:t>Training Dataset Before Balancing</a:t>
                </a:r>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r>
                  <a:rPr lang="en-IN" b="1" dirty="0"/>
                  <a:t>Balancing Strategy</a:t>
                </a:r>
              </a:p>
              <a:p>
                <a:r>
                  <a:rPr lang="en-IN" b="1" dirty="0"/>
                  <a:t>Minimum Sample Count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𝑁</m:t>
                        </m:r>
                      </m:e>
                      <m:sub>
                        <m:r>
                          <a:rPr lang="en-IN" i="1">
                            <a:latin typeface="Cambria Math" panose="02040503050406030204" pitchFamily="18" charset="0"/>
                          </a:rPr>
                          <m:t>𝑚𝑖𝑛</m:t>
                        </m:r>
                      </m:sub>
                    </m:sSub>
                    <m:r>
                      <a:rPr lang="en-IN">
                        <a:latin typeface="Cambria Math" panose="02040503050406030204" pitchFamily="18" charset="0"/>
                      </a:rPr>
                      <m:t>=</m:t>
                    </m:r>
                    <m:r>
                      <a:rPr lang="en-IN">
                        <a:latin typeface="Cambria Math" panose="02040503050406030204" pitchFamily="18" charset="0"/>
                      </a:rPr>
                      <m:t>354</m:t>
                    </m:r>
                  </m:oMath>
                </a14:m>
                <a:endParaRPr lang="en-IN" dirty="0"/>
              </a:p>
              <a:p>
                <a:r>
                  <a:rPr lang="en-IN" dirty="0"/>
                  <a:t>Random </a:t>
                </a:r>
                <a:r>
                  <a:rPr lang="en-IN" dirty="0" err="1"/>
                  <a:t>undersampling</a:t>
                </a:r>
                <a:r>
                  <a:rPr lang="en-IN" dirty="0"/>
                  <a:t> applied </a:t>
                </a:r>
              </a:p>
              <a:p>
                <a:r>
                  <a:rPr lang="en-IN" dirty="0"/>
                  <a:t>354 samples selected from each training µ value </a:t>
                </a:r>
              </a:p>
              <a:p>
                <a:endParaRPr lang="en-IN" b="1" dirty="0"/>
              </a:p>
            </p:txBody>
          </p:sp>
        </mc:Choice>
        <mc:Fallback xmlns="">
          <p:sp>
            <p:nvSpPr>
              <p:cNvPr id="6" name="TextBox 5">
                <a:extLst>
                  <a:ext uri="{FF2B5EF4-FFF2-40B4-BE49-F238E27FC236}">
                    <a16:creationId xmlns:a16="http://schemas.microsoft.com/office/drawing/2014/main" id="{1B015358-E580-F775-F49F-CC3BE54C69CE}"/>
                  </a:ext>
                </a:extLst>
              </p:cNvPr>
              <p:cNvSpPr txBox="1">
                <a:spLocks noRot="1" noChangeAspect="1" noMove="1" noResize="1" noEditPoints="1" noAdjustHandles="1" noChangeArrowheads="1" noChangeShapeType="1" noTextEdit="1"/>
              </p:cNvSpPr>
              <p:nvPr/>
            </p:nvSpPr>
            <p:spPr>
              <a:xfrm>
                <a:off x="285135" y="953729"/>
                <a:ext cx="5319252" cy="5262979"/>
              </a:xfrm>
              <a:prstGeom prst="rect">
                <a:avLst/>
              </a:prstGeom>
              <a:blipFill>
                <a:blip r:embed="rId3"/>
                <a:stretch>
                  <a:fillRect l="-344" t="-116"/>
                </a:stretch>
              </a:blipFill>
            </p:spPr>
            <p:txBody>
              <a:bodyPr/>
              <a:lstStyle/>
              <a:p>
                <a:r>
                  <a:rPr lang="en-IN">
                    <a:noFill/>
                  </a:rPr>
                  <a:t> </a:t>
                </a:r>
              </a:p>
            </p:txBody>
          </p:sp>
        </mc:Fallback>
      </mc:AlternateContent>
      <p:graphicFrame>
        <p:nvGraphicFramePr>
          <p:cNvPr id="7" name="Table 6">
            <a:extLst>
              <a:ext uri="{FF2B5EF4-FFF2-40B4-BE49-F238E27FC236}">
                <a16:creationId xmlns:a16="http://schemas.microsoft.com/office/drawing/2014/main" id="{56007110-B07F-4A82-B161-1E5F44CE78ED}"/>
              </a:ext>
            </a:extLst>
          </p:cNvPr>
          <p:cNvGraphicFramePr>
            <a:graphicFrameLocks noGrp="1"/>
          </p:cNvGraphicFramePr>
          <p:nvPr>
            <p:extLst>
              <p:ext uri="{D42A27DB-BD31-4B8C-83A1-F6EECF244321}">
                <p14:modId xmlns:p14="http://schemas.microsoft.com/office/powerpoint/2010/main" val="1804547807"/>
              </p:ext>
            </p:extLst>
          </p:nvPr>
        </p:nvGraphicFramePr>
        <p:xfrm>
          <a:off x="384277" y="1351675"/>
          <a:ext cx="4512188" cy="3438058"/>
        </p:xfrm>
        <a:graphic>
          <a:graphicData uri="http://schemas.openxmlformats.org/drawingml/2006/table">
            <a:tbl>
              <a:tblPr/>
              <a:tblGrid>
                <a:gridCol w="2256094">
                  <a:extLst>
                    <a:ext uri="{9D8B030D-6E8A-4147-A177-3AD203B41FA5}">
                      <a16:colId xmlns:a16="http://schemas.microsoft.com/office/drawing/2014/main" val="3657569880"/>
                    </a:ext>
                  </a:extLst>
                </a:gridCol>
                <a:gridCol w="2256094">
                  <a:extLst>
                    <a:ext uri="{9D8B030D-6E8A-4147-A177-3AD203B41FA5}">
                      <a16:colId xmlns:a16="http://schemas.microsoft.com/office/drawing/2014/main" val="2838505265"/>
                    </a:ext>
                  </a:extLst>
                </a:gridCol>
              </a:tblGrid>
              <a:tr h="250743">
                <a:tc>
                  <a:txBody>
                    <a:bodyPr/>
                    <a:lstStyle/>
                    <a:p>
                      <a:pPr>
                        <a:buNone/>
                      </a:pPr>
                      <a:r>
                        <a:rPr lang="en-IN" sz="1400"/>
                        <a:t>µ Value</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Samples</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223986"/>
                  </a:ext>
                </a:extLst>
              </a:tr>
              <a:tr h="250743">
                <a:tc>
                  <a:txBody>
                    <a:bodyPr/>
                    <a:lstStyle/>
                    <a:p>
                      <a:pPr>
                        <a:buNone/>
                      </a:pPr>
                      <a:r>
                        <a:rPr lang="en-IN" sz="1400"/>
                        <a:t>0</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354</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8095645"/>
                  </a:ext>
                </a:extLst>
              </a:tr>
              <a:tr h="250743">
                <a:tc>
                  <a:txBody>
                    <a:bodyPr/>
                    <a:lstStyle/>
                    <a:p>
                      <a:pPr>
                        <a:buNone/>
                      </a:pPr>
                      <a:r>
                        <a:rPr lang="en-US" sz="1400" dirty="0"/>
                        <a:t>10</a:t>
                      </a:r>
                      <a:r>
                        <a:rPr lang="en-US" sz="1400" baseline="30000" dirty="0"/>
                        <a:t>-10</a:t>
                      </a:r>
                      <a:endParaRPr lang="en-IN" sz="1400" baseline="30000" dirty="0"/>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354</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4880672"/>
                  </a:ext>
                </a:extLst>
              </a:tr>
              <a:tr h="250743">
                <a:tc>
                  <a:txBody>
                    <a:bodyPr/>
                    <a:lstStyle/>
                    <a:p>
                      <a:pPr>
                        <a:buNone/>
                      </a:pPr>
                      <a:r>
                        <a:rPr lang="en-US" sz="1400" dirty="0"/>
                        <a:t>1</a:t>
                      </a:r>
                      <a:r>
                        <a:rPr lang="en-IN" sz="1400" dirty="0"/>
                        <a:t>0</a:t>
                      </a:r>
                      <a:r>
                        <a:rPr lang="en-IN" sz="1400" baseline="30000" dirty="0"/>
                        <a:t>-9</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354</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357413"/>
                  </a:ext>
                </a:extLst>
              </a:tr>
              <a:tr h="250743">
                <a:tc>
                  <a:txBody>
                    <a:bodyPr/>
                    <a:lstStyle/>
                    <a:p>
                      <a:pPr>
                        <a:buNone/>
                      </a:pPr>
                      <a:r>
                        <a:rPr lang="en-IN" sz="1400" dirty="0"/>
                        <a:t>0.01</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375</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5531443"/>
                  </a:ext>
                </a:extLst>
              </a:tr>
              <a:tr h="250743">
                <a:tc>
                  <a:txBody>
                    <a:bodyPr/>
                    <a:lstStyle/>
                    <a:p>
                      <a:pPr>
                        <a:buNone/>
                      </a:pPr>
                      <a:r>
                        <a:rPr lang="en-IN" sz="1400"/>
                        <a:t>0.05</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373</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4486449"/>
                  </a:ext>
                </a:extLst>
              </a:tr>
              <a:tr h="250743">
                <a:tc>
                  <a:txBody>
                    <a:bodyPr/>
                    <a:lstStyle/>
                    <a:p>
                      <a:pPr>
                        <a:buNone/>
                      </a:pPr>
                      <a:r>
                        <a:rPr lang="en-IN" sz="1400"/>
                        <a:t>0.1</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372</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1534132"/>
                  </a:ext>
                </a:extLst>
              </a:tr>
              <a:tr h="250743">
                <a:tc>
                  <a:txBody>
                    <a:bodyPr/>
                    <a:lstStyle/>
                    <a:p>
                      <a:pPr>
                        <a:buNone/>
                      </a:pPr>
                      <a:r>
                        <a:rPr lang="en-IN" sz="1400"/>
                        <a:t>2</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780</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7674586"/>
                  </a:ext>
                </a:extLst>
              </a:tr>
              <a:tr h="250743">
                <a:tc>
                  <a:txBody>
                    <a:bodyPr/>
                    <a:lstStyle/>
                    <a:p>
                      <a:pPr>
                        <a:buNone/>
                      </a:pPr>
                      <a:r>
                        <a:rPr lang="en-IN" sz="1400"/>
                        <a:t>3</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900</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7204969"/>
                  </a:ext>
                </a:extLst>
              </a:tr>
              <a:tr h="250743">
                <a:tc>
                  <a:txBody>
                    <a:bodyPr/>
                    <a:lstStyle/>
                    <a:p>
                      <a:pPr>
                        <a:buNone/>
                      </a:pPr>
                      <a:r>
                        <a:rPr lang="en-IN" sz="1400"/>
                        <a:t>4</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1006</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5650794"/>
                  </a:ext>
                </a:extLst>
              </a:tr>
              <a:tr h="250743">
                <a:tc>
                  <a:txBody>
                    <a:bodyPr/>
                    <a:lstStyle/>
                    <a:p>
                      <a:pPr>
                        <a:buNone/>
                      </a:pPr>
                      <a:r>
                        <a:rPr lang="en-IN" sz="1400"/>
                        <a:t>10</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1294</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071994"/>
                  </a:ext>
                </a:extLst>
              </a:tr>
              <a:tr h="250743">
                <a:tc>
                  <a:txBody>
                    <a:bodyPr/>
                    <a:lstStyle/>
                    <a:p>
                      <a:pPr>
                        <a:buNone/>
                      </a:pPr>
                      <a:r>
                        <a:rPr lang="en-IN" sz="1400"/>
                        <a:t>12</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1378</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8888381"/>
                  </a:ext>
                </a:extLst>
              </a:tr>
              <a:tr h="250743">
                <a:tc>
                  <a:txBody>
                    <a:bodyPr/>
                    <a:lstStyle/>
                    <a:p>
                      <a:pPr>
                        <a:buNone/>
                      </a:pPr>
                      <a:r>
                        <a:rPr lang="en-IN" sz="1400"/>
                        <a:t>15</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1588</a:t>
                      </a:r>
                    </a:p>
                  </a:txBody>
                  <a:tcPr marL="51105" marR="51105" marT="25553" marB="255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1176362"/>
                  </a:ext>
                </a:extLst>
              </a:tr>
            </a:tbl>
          </a:graphicData>
        </a:graphic>
      </p:graphicFrame>
      <p:sp>
        <p:nvSpPr>
          <p:cNvPr id="8" name="TextBox 7">
            <a:extLst>
              <a:ext uri="{FF2B5EF4-FFF2-40B4-BE49-F238E27FC236}">
                <a16:creationId xmlns:a16="http://schemas.microsoft.com/office/drawing/2014/main" id="{D9D02377-94FB-C602-B35E-6236327C38F9}"/>
              </a:ext>
            </a:extLst>
          </p:cNvPr>
          <p:cNvSpPr txBox="1"/>
          <p:nvPr/>
        </p:nvSpPr>
        <p:spPr>
          <a:xfrm>
            <a:off x="5830529" y="1022555"/>
            <a:ext cx="5977194" cy="5047536"/>
          </a:xfrm>
          <a:prstGeom prst="rect">
            <a:avLst/>
          </a:prstGeom>
          <a:noFill/>
        </p:spPr>
        <p:txBody>
          <a:bodyPr wrap="square" rtlCol="0">
            <a:spAutoFit/>
          </a:bodyPr>
          <a:lstStyle/>
          <a:p>
            <a:r>
              <a:rPr lang="en-IN" b="1" dirty="0"/>
              <a:t>Balanced Training Dataset</a:t>
            </a:r>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endParaRPr lang="en-IN" b="1" dirty="0"/>
          </a:p>
          <a:p>
            <a:r>
              <a:rPr lang="en-IN" b="1" dirty="0"/>
              <a:t>Final Dataset Size</a:t>
            </a:r>
          </a:p>
          <a:p>
            <a:endParaRPr lang="en-IN" b="1" dirty="0"/>
          </a:p>
          <a:p>
            <a:endParaRPr lang="en-IN" b="1" dirty="0"/>
          </a:p>
          <a:p>
            <a:endParaRPr lang="en-IN" b="1" dirty="0"/>
          </a:p>
          <a:p>
            <a:endParaRPr lang="en-IN" b="1" dirty="0"/>
          </a:p>
          <a:p>
            <a:endParaRPr lang="en-IN" b="1" dirty="0"/>
          </a:p>
          <a:p>
            <a:endParaRPr lang="en-IN" b="1" dirty="0"/>
          </a:p>
          <a:p>
            <a:endParaRPr lang="en-IN" b="1" dirty="0"/>
          </a:p>
          <a:p>
            <a:r>
              <a:rPr lang="en-IN" b="1" dirty="0"/>
              <a:t>Why Testing Dataset Was Left Unbalanced</a:t>
            </a:r>
          </a:p>
          <a:p>
            <a:r>
              <a:rPr lang="en-IN" dirty="0"/>
              <a:t>Preserves natural nonlinear oscillation distribution </a:t>
            </a:r>
          </a:p>
          <a:p>
            <a:r>
              <a:rPr lang="en-IN" dirty="0"/>
              <a:t>Enables realistic performance evaluation </a:t>
            </a:r>
          </a:p>
          <a:p>
            <a:r>
              <a:rPr lang="en-IN" dirty="0"/>
              <a:t>Measures true generalization on unseen oscillator dynamics </a:t>
            </a:r>
            <a:endParaRPr lang="en-IN" b="1" dirty="0"/>
          </a:p>
          <a:p>
            <a:endParaRPr lang="en-IN" b="1" dirty="0"/>
          </a:p>
        </p:txBody>
      </p:sp>
      <p:graphicFrame>
        <p:nvGraphicFramePr>
          <p:cNvPr id="9" name="Table 8">
            <a:extLst>
              <a:ext uri="{FF2B5EF4-FFF2-40B4-BE49-F238E27FC236}">
                <a16:creationId xmlns:a16="http://schemas.microsoft.com/office/drawing/2014/main" id="{FAABF5F1-DC1C-6126-D095-2BC4CA64890D}"/>
              </a:ext>
            </a:extLst>
          </p:cNvPr>
          <p:cNvGraphicFramePr>
            <a:graphicFrameLocks noGrp="1"/>
          </p:cNvGraphicFramePr>
          <p:nvPr>
            <p:extLst>
              <p:ext uri="{D42A27DB-BD31-4B8C-83A1-F6EECF244321}">
                <p14:modId xmlns:p14="http://schemas.microsoft.com/office/powerpoint/2010/main" val="1880373387"/>
              </p:ext>
            </p:extLst>
          </p:nvPr>
        </p:nvGraphicFramePr>
        <p:xfrm>
          <a:off x="5899355" y="1340791"/>
          <a:ext cx="5618162" cy="1524000"/>
        </p:xfrm>
        <a:graphic>
          <a:graphicData uri="http://schemas.openxmlformats.org/drawingml/2006/table">
            <a:tbl>
              <a:tblPr/>
              <a:tblGrid>
                <a:gridCol w="2809081">
                  <a:extLst>
                    <a:ext uri="{9D8B030D-6E8A-4147-A177-3AD203B41FA5}">
                      <a16:colId xmlns:a16="http://schemas.microsoft.com/office/drawing/2014/main" val="1849794866"/>
                    </a:ext>
                  </a:extLst>
                </a:gridCol>
                <a:gridCol w="2809081">
                  <a:extLst>
                    <a:ext uri="{9D8B030D-6E8A-4147-A177-3AD203B41FA5}">
                      <a16:colId xmlns:a16="http://schemas.microsoft.com/office/drawing/2014/main" val="3726988695"/>
                    </a:ext>
                  </a:extLst>
                </a:gridCol>
              </a:tblGrid>
              <a:tr h="0">
                <a:tc>
                  <a:txBody>
                    <a:bodyPr/>
                    <a:lstStyle/>
                    <a:p>
                      <a:pPr>
                        <a:buNone/>
                      </a:pPr>
                      <a:r>
                        <a:rPr lang="en-IN" dirty="0"/>
                        <a:t>Oscillation Regime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1998490"/>
                  </a:ext>
                </a:extLst>
              </a:tr>
              <a:tr h="0">
                <a:tc>
                  <a:txBody>
                    <a:bodyPr/>
                    <a:lstStyle/>
                    <a:p>
                      <a:pPr>
                        <a:buNone/>
                      </a:pPr>
                      <a:r>
                        <a:rPr lang="en-IN" dirty="0"/>
                        <a:t>Harmonic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7298746"/>
                  </a:ext>
                </a:extLst>
              </a:tr>
              <a:tr h="0">
                <a:tc>
                  <a:txBody>
                    <a:bodyPr/>
                    <a:lstStyle/>
                    <a:p>
                      <a:pPr>
                        <a:buNone/>
                      </a:pPr>
                      <a:r>
                        <a:rPr lang="en-IN" dirty="0"/>
                        <a:t>Weak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352528"/>
                  </a:ext>
                </a:extLst>
              </a:tr>
              <a:tr h="0">
                <a:tc>
                  <a:txBody>
                    <a:bodyPr/>
                    <a:lstStyle/>
                    <a:p>
                      <a:pPr>
                        <a:buNone/>
                      </a:pPr>
                      <a:r>
                        <a:rPr lang="en-IN"/>
                        <a:t>Strong Nonlinear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4317449"/>
                  </a:ext>
                </a:extLst>
              </a:tr>
              <a:tr h="0">
                <a:tc>
                  <a:txBody>
                    <a:bodyPr/>
                    <a:lstStyle/>
                    <a:p>
                      <a:pPr>
                        <a:buNone/>
                      </a:pPr>
                      <a:r>
                        <a:rPr lang="en-IN" dirty="0"/>
                        <a:t>Relaxation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1579857"/>
                  </a:ext>
                </a:extLst>
              </a:tr>
            </a:tbl>
          </a:graphicData>
        </a:graphic>
      </p:graphicFrame>
      <p:graphicFrame>
        <p:nvGraphicFramePr>
          <p:cNvPr id="10" name="Table 9">
            <a:extLst>
              <a:ext uri="{FF2B5EF4-FFF2-40B4-BE49-F238E27FC236}">
                <a16:creationId xmlns:a16="http://schemas.microsoft.com/office/drawing/2014/main" id="{C3AF2809-4AA4-EE53-A3E6-705A2CEC09B5}"/>
              </a:ext>
            </a:extLst>
          </p:cNvPr>
          <p:cNvGraphicFramePr>
            <a:graphicFrameLocks noGrp="1"/>
          </p:cNvGraphicFramePr>
          <p:nvPr>
            <p:extLst>
              <p:ext uri="{D42A27DB-BD31-4B8C-83A1-F6EECF244321}">
                <p14:modId xmlns:p14="http://schemas.microsoft.com/office/powerpoint/2010/main" val="2225721937"/>
              </p:ext>
            </p:extLst>
          </p:nvPr>
        </p:nvGraphicFramePr>
        <p:xfrm>
          <a:off x="5899355" y="3546323"/>
          <a:ext cx="5618162" cy="914400"/>
        </p:xfrm>
        <a:graphic>
          <a:graphicData uri="http://schemas.openxmlformats.org/drawingml/2006/table">
            <a:tbl>
              <a:tblPr/>
              <a:tblGrid>
                <a:gridCol w="2809081">
                  <a:extLst>
                    <a:ext uri="{9D8B030D-6E8A-4147-A177-3AD203B41FA5}">
                      <a16:colId xmlns:a16="http://schemas.microsoft.com/office/drawing/2014/main" val="1470324902"/>
                    </a:ext>
                  </a:extLst>
                </a:gridCol>
                <a:gridCol w="2809081">
                  <a:extLst>
                    <a:ext uri="{9D8B030D-6E8A-4147-A177-3AD203B41FA5}">
                      <a16:colId xmlns:a16="http://schemas.microsoft.com/office/drawing/2014/main" val="4200376012"/>
                    </a:ext>
                  </a:extLst>
                </a:gridCol>
              </a:tblGrid>
              <a:tr h="0">
                <a:tc>
                  <a:txBody>
                    <a:bodyPr/>
                    <a:lstStyle/>
                    <a:p>
                      <a:pPr>
                        <a:buNone/>
                      </a:pPr>
                      <a:r>
                        <a:rPr lang="en-IN" dirty="0"/>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a:t>Samples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10513"/>
                  </a:ext>
                </a:extLst>
              </a:tr>
              <a:tr h="0">
                <a:tc>
                  <a:txBody>
                    <a:bodyPr/>
                    <a:lstStyle/>
                    <a:p>
                      <a:pPr>
                        <a:buNone/>
                      </a:pPr>
                      <a:r>
                        <a:rPr lang="en-IN" dirty="0"/>
                        <a:t>Balanced Training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4248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5653"/>
                  </a:ext>
                </a:extLst>
              </a:tr>
              <a:tr h="0">
                <a:tc>
                  <a:txBody>
                    <a:bodyPr/>
                    <a:lstStyle/>
                    <a:p>
                      <a:pPr>
                        <a:buNone/>
                      </a:pPr>
                      <a:r>
                        <a:rPr lang="en-IN"/>
                        <a:t>Testing Dataset (Unbalanced)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dirty="0"/>
                        <a:t>7386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4613922"/>
                  </a:ext>
                </a:extLst>
              </a:tr>
            </a:tbl>
          </a:graphicData>
        </a:graphic>
      </p:graphicFrame>
    </p:spTree>
    <p:extLst>
      <p:ext uri="{BB962C8B-B14F-4D97-AF65-F5344CB8AC3E}">
        <p14:creationId xmlns:p14="http://schemas.microsoft.com/office/powerpoint/2010/main" val="2543539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6AFAD0D9-0227-5CC5-BAA4-4F590E00C1CB}"/>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3A1AEF75-4928-C621-BB9C-079626776CF9}"/>
              </a:ext>
            </a:extLst>
          </p:cNvPr>
          <p:cNvSpPr txBox="1">
            <a:spLocks noGrp="1"/>
          </p:cNvSpPr>
          <p:nvPr>
            <p:ph type="title"/>
          </p:nvPr>
        </p:nvSpPr>
        <p:spPr>
          <a:xfrm>
            <a:off x="698090" y="191214"/>
            <a:ext cx="10264877" cy="1000915"/>
          </a:xfrm>
          <a:prstGeom prst="rect">
            <a:avLst/>
          </a:prstGeom>
          <a:noFill/>
          <a:ln>
            <a:noFill/>
          </a:ln>
        </p:spPr>
        <p:txBody>
          <a:bodyPr spcFirstLastPara="1" wrap="square" lIns="0" tIns="15875" rIns="0" bIns="0" anchor="t" anchorCtr="0">
            <a:spAutoFit/>
          </a:bodyPr>
          <a:lstStyle/>
          <a:p>
            <a:pPr marL="12700" algn="ctr"/>
            <a:r>
              <a:rPr lang="en-IN" b="1" dirty="0"/>
              <a:t>MACHINE LEARNING MODELS AND EVALUATION METRICS</a:t>
            </a:r>
            <a:endParaRPr dirty="0"/>
          </a:p>
        </p:txBody>
      </p:sp>
      <p:sp>
        <p:nvSpPr>
          <p:cNvPr id="132" name="Google Shape;132;p17">
            <a:extLst>
              <a:ext uri="{FF2B5EF4-FFF2-40B4-BE49-F238E27FC236}">
                <a16:creationId xmlns:a16="http://schemas.microsoft.com/office/drawing/2014/main" id="{06EE68F5-7A3E-8C7C-6BBF-D268B7DE8CB9}"/>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20</a:t>
            </a:fld>
            <a:endParaRPr/>
          </a:p>
        </p:txBody>
      </p:sp>
      <p:graphicFrame>
        <p:nvGraphicFramePr>
          <p:cNvPr id="3" name="Table 2">
            <a:extLst>
              <a:ext uri="{FF2B5EF4-FFF2-40B4-BE49-F238E27FC236}">
                <a16:creationId xmlns:a16="http://schemas.microsoft.com/office/drawing/2014/main" id="{877829D0-A3CB-B15F-B6E2-A80A259194B6}"/>
              </a:ext>
            </a:extLst>
          </p:cNvPr>
          <p:cNvGraphicFramePr>
            <a:graphicFrameLocks noGrp="1"/>
          </p:cNvGraphicFramePr>
          <p:nvPr>
            <p:extLst>
              <p:ext uri="{D42A27DB-BD31-4B8C-83A1-F6EECF244321}">
                <p14:modId xmlns:p14="http://schemas.microsoft.com/office/powerpoint/2010/main" val="3816737725"/>
              </p:ext>
            </p:extLst>
          </p:nvPr>
        </p:nvGraphicFramePr>
        <p:xfrm>
          <a:off x="99143" y="1424359"/>
          <a:ext cx="5259439" cy="4779920"/>
        </p:xfrm>
        <a:graphic>
          <a:graphicData uri="http://schemas.openxmlformats.org/drawingml/2006/table">
            <a:tbl>
              <a:tblPr/>
              <a:tblGrid>
                <a:gridCol w="1696341">
                  <a:extLst>
                    <a:ext uri="{9D8B030D-6E8A-4147-A177-3AD203B41FA5}">
                      <a16:colId xmlns:a16="http://schemas.microsoft.com/office/drawing/2014/main" val="2076208426"/>
                    </a:ext>
                  </a:extLst>
                </a:gridCol>
                <a:gridCol w="3563098">
                  <a:extLst>
                    <a:ext uri="{9D8B030D-6E8A-4147-A177-3AD203B41FA5}">
                      <a16:colId xmlns:a16="http://schemas.microsoft.com/office/drawing/2014/main" val="955443832"/>
                    </a:ext>
                  </a:extLst>
                </a:gridCol>
              </a:tblGrid>
              <a:tr h="232382">
                <a:tc>
                  <a:txBody>
                    <a:bodyPr/>
                    <a:lstStyle/>
                    <a:p>
                      <a:pPr>
                        <a:buNone/>
                      </a:pPr>
                      <a:r>
                        <a:rPr lang="en-IN" sz="1600"/>
                        <a:t>Category</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Models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3152575"/>
                  </a:ext>
                </a:extLst>
              </a:tr>
              <a:tr h="720387">
                <a:tc>
                  <a:txBody>
                    <a:bodyPr/>
                    <a:lstStyle/>
                    <a:p>
                      <a:pPr>
                        <a:buNone/>
                      </a:pPr>
                      <a:r>
                        <a:rPr lang="en-IN" sz="1600"/>
                        <a:t>Linear Models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Ridge Classifier, Logistic Regression, SGD Classifier, Passive Aggressive, Linear SVM, Perceptron</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180734"/>
                  </a:ext>
                </a:extLst>
              </a:tr>
              <a:tr h="395051">
                <a:tc>
                  <a:txBody>
                    <a:bodyPr/>
                    <a:lstStyle/>
                    <a:p>
                      <a:pPr>
                        <a:buNone/>
                      </a:pPr>
                      <a:r>
                        <a:rPr lang="en-IN" sz="1600"/>
                        <a:t>Probabilistic Models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Gaussian NB, Bernoulli NB, Multinomial NB</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7038799"/>
                  </a:ext>
                </a:extLst>
              </a:tr>
              <a:tr h="232382">
                <a:tc>
                  <a:txBody>
                    <a:bodyPr/>
                    <a:lstStyle/>
                    <a:p>
                      <a:pPr>
                        <a:buNone/>
                      </a:pPr>
                      <a:r>
                        <a:rPr lang="en-IN" sz="1600"/>
                        <a:t>Discriminant Analysis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LDA, QDA</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824708"/>
                  </a:ext>
                </a:extLst>
              </a:tr>
              <a:tr h="232382">
                <a:tc>
                  <a:txBody>
                    <a:bodyPr/>
                    <a:lstStyle/>
                    <a:p>
                      <a:pPr>
                        <a:buNone/>
                      </a:pPr>
                      <a:r>
                        <a:rPr lang="en-IN" sz="1600"/>
                        <a:t>Distance-Based Models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KNN, Nearest Centroid</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489490"/>
                  </a:ext>
                </a:extLst>
              </a:tr>
              <a:tr h="232382">
                <a:tc>
                  <a:txBody>
                    <a:bodyPr/>
                    <a:lstStyle/>
                    <a:p>
                      <a:pPr>
                        <a:buNone/>
                      </a:pPr>
                      <a:r>
                        <a:rPr lang="en-IN" sz="1600"/>
                        <a:t>Kernel-Based Models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SVM (RBF), NuSVC (RBF)</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3226569"/>
                  </a:ext>
                </a:extLst>
              </a:tr>
              <a:tr h="395051">
                <a:tc>
                  <a:txBody>
                    <a:bodyPr/>
                    <a:lstStyle/>
                    <a:p>
                      <a:pPr>
                        <a:buNone/>
                      </a:pPr>
                      <a:r>
                        <a:rPr lang="en-IN" sz="1600"/>
                        <a:t>Neural Networks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MLP (Shallow), MLP (Wide), MLP (Deep)</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29671"/>
                  </a:ext>
                </a:extLst>
              </a:tr>
              <a:tr h="720387">
                <a:tc>
                  <a:txBody>
                    <a:bodyPr/>
                    <a:lstStyle/>
                    <a:p>
                      <a:pPr>
                        <a:buNone/>
                      </a:pPr>
                      <a:r>
                        <a:rPr lang="en-IN" sz="1600"/>
                        <a:t>Tree &amp; Ensemble Models</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Decision Tree, Random Forest, Extra Trees, Bagging, AdaBoost, Gradient Boosting, Histogram Gradient Boosting</a:t>
                      </a:r>
                    </a:p>
                  </a:txBody>
                  <a:tcPr marL="48851" marR="48851" marT="24425" marB="244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901852"/>
                  </a:ext>
                </a:extLst>
              </a:tr>
            </a:tbl>
          </a:graphicData>
        </a:graphic>
      </p:graphicFrame>
      <p:sp>
        <p:nvSpPr>
          <p:cNvPr id="4" name="TextBox 3">
            <a:extLst>
              <a:ext uri="{FF2B5EF4-FFF2-40B4-BE49-F238E27FC236}">
                <a16:creationId xmlns:a16="http://schemas.microsoft.com/office/drawing/2014/main" id="{B821427C-F8CB-8369-29D4-5A8B134FCC4D}"/>
              </a:ext>
            </a:extLst>
          </p:cNvPr>
          <p:cNvSpPr txBox="1"/>
          <p:nvPr/>
        </p:nvSpPr>
        <p:spPr>
          <a:xfrm>
            <a:off x="5515898" y="1424359"/>
            <a:ext cx="6410632" cy="4616648"/>
          </a:xfrm>
          <a:prstGeom prst="rect">
            <a:avLst/>
          </a:prstGeom>
          <a:noFill/>
        </p:spPr>
        <p:txBody>
          <a:bodyPr wrap="square" rtlCol="0">
            <a:spAutoFit/>
          </a:bodyPr>
          <a:lstStyle/>
          <a:p>
            <a:r>
              <a:rPr lang="en-IN" b="1" dirty="0"/>
              <a:t>Hyperparameter Optimization Using Grid Search</a:t>
            </a:r>
          </a:p>
          <a:p>
            <a:r>
              <a:rPr lang="en-IN" dirty="0"/>
              <a:t>Grid Search was used to identify optimal hyperparameters. </a:t>
            </a:r>
          </a:p>
          <a:p>
            <a:r>
              <a:rPr lang="en-IN" dirty="0"/>
              <a:t>Exhaustive search performed over predefined parameter combinations. Best configuration selected based on validation performance. </a:t>
            </a:r>
          </a:p>
          <a:p>
            <a:r>
              <a:rPr lang="en-IN" b="1" dirty="0"/>
              <a:t>Parameters Tuned</a:t>
            </a:r>
          </a:p>
          <a:p>
            <a:r>
              <a:rPr lang="en-IN" dirty="0"/>
              <a:t>Regularization strength </a:t>
            </a:r>
          </a:p>
          <a:p>
            <a:r>
              <a:rPr lang="en-IN" dirty="0"/>
              <a:t>Learning rate </a:t>
            </a:r>
          </a:p>
          <a:p>
            <a:r>
              <a:rPr lang="en-IN" dirty="0"/>
              <a:t>Kernel type </a:t>
            </a:r>
          </a:p>
          <a:p>
            <a:r>
              <a:rPr lang="en-IN" dirty="0"/>
              <a:t>Number of estimators </a:t>
            </a:r>
          </a:p>
          <a:p>
            <a:r>
              <a:rPr lang="en-IN" dirty="0"/>
              <a:t>Tree depth </a:t>
            </a:r>
          </a:p>
          <a:p>
            <a:r>
              <a:rPr lang="en-IN" dirty="0"/>
              <a:t>Number of </a:t>
            </a:r>
            <a:r>
              <a:rPr lang="en-IN" dirty="0" err="1"/>
              <a:t>neighbors</a:t>
            </a:r>
            <a:r>
              <a:rPr lang="en-IN" dirty="0"/>
              <a:t> </a:t>
            </a:r>
          </a:p>
          <a:p>
            <a:r>
              <a:rPr lang="en-IN" dirty="0"/>
              <a:t>Hidden layer architecture </a:t>
            </a:r>
          </a:p>
          <a:p>
            <a:r>
              <a:rPr lang="en-IN" dirty="0"/>
              <a:t>Activation functions </a:t>
            </a:r>
          </a:p>
          <a:p>
            <a:r>
              <a:rPr lang="en-IN" dirty="0"/>
              <a:t>Splitting criteria </a:t>
            </a:r>
          </a:p>
          <a:p>
            <a:r>
              <a:rPr lang="en-IN" dirty="0"/>
              <a:t>Distance metrics </a:t>
            </a:r>
            <a:br>
              <a:rPr lang="en-IN" dirty="0"/>
            </a:br>
            <a:endParaRPr lang="en-IN" dirty="0"/>
          </a:p>
          <a:p>
            <a:r>
              <a:rPr lang="en-IN" b="1" dirty="0"/>
              <a:t>Evaluation Metrics Used</a:t>
            </a:r>
          </a:p>
          <a:p>
            <a:r>
              <a:rPr lang="en-IN" dirty="0"/>
              <a:t>Accuracy, Weighted Precision, Weighted Recall, Weighted F1-Score, Macro Precision, Macro Recall, Macro F1-Score, Cross-Validated Weighted F1-Score, One-vs-Rest ROC-AUC (</a:t>
            </a:r>
            <a:r>
              <a:rPr lang="en-IN" dirty="0" err="1"/>
              <a:t>roc_auc_ovr</a:t>
            </a:r>
            <a:r>
              <a:rPr lang="en-IN" dirty="0"/>
              <a:t>), Model Training Time, Prediction Time </a:t>
            </a:r>
          </a:p>
          <a:p>
            <a:endParaRPr lang="en-IN" dirty="0"/>
          </a:p>
        </p:txBody>
      </p:sp>
    </p:spTree>
    <p:extLst>
      <p:ext uri="{BB962C8B-B14F-4D97-AF65-F5344CB8AC3E}">
        <p14:creationId xmlns:p14="http://schemas.microsoft.com/office/powerpoint/2010/main" val="713096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91DD3831-3382-F8B5-F8F5-B39DF55424C4}"/>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990FF4AB-F6C0-DA39-13CA-B32CE52D8EE3}"/>
              </a:ext>
            </a:extLst>
          </p:cNvPr>
          <p:cNvSpPr txBox="1">
            <a:spLocks noGrp="1"/>
          </p:cNvSpPr>
          <p:nvPr>
            <p:ph type="title"/>
          </p:nvPr>
        </p:nvSpPr>
        <p:spPr>
          <a:xfrm>
            <a:off x="700062" y="0"/>
            <a:ext cx="10264877" cy="508473"/>
          </a:xfrm>
          <a:prstGeom prst="rect">
            <a:avLst/>
          </a:prstGeom>
          <a:noFill/>
          <a:ln>
            <a:noFill/>
          </a:ln>
        </p:spPr>
        <p:txBody>
          <a:bodyPr spcFirstLastPara="1" wrap="square" lIns="0" tIns="15875" rIns="0" bIns="0" anchor="t" anchorCtr="0">
            <a:spAutoFit/>
          </a:bodyPr>
          <a:lstStyle/>
          <a:p>
            <a:pPr marL="12700" algn="ctr"/>
            <a:r>
              <a:rPr lang="en-IN" b="1" dirty="0"/>
              <a:t>MACHINE LEARNING PERFORMANCE ANALYSIS</a:t>
            </a:r>
            <a:endParaRPr dirty="0"/>
          </a:p>
        </p:txBody>
      </p:sp>
      <p:sp>
        <p:nvSpPr>
          <p:cNvPr id="132" name="Google Shape;132;p17">
            <a:extLst>
              <a:ext uri="{FF2B5EF4-FFF2-40B4-BE49-F238E27FC236}">
                <a16:creationId xmlns:a16="http://schemas.microsoft.com/office/drawing/2014/main" id="{0A4CD2CF-588B-FAD0-BC9F-9456B68C9813}"/>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21</a:t>
            </a:fld>
            <a:endParaRPr/>
          </a:p>
        </p:txBody>
      </p:sp>
      <p:graphicFrame>
        <p:nvGraphicFramePr>
          <p:cNvPr id="5" name="Table 4">
            <a:extLst>
              <a:ext uri="{FF2B5EF4-FFF2-40B4-BE49-F238E27FC236}">
                <a16:creationId xmlns:a16="http://schemas.microsoft.com/office/drawing/2014/main" id="{3C395B30-99A7-1F11-6ADB-B68F4F25EA8B}"/>
              </a:ext>
            </a:extLst>
          </p:cNvPr>
          <p:cNvGraphicFramePr>
            <a:graphicFrameLocks noGrp="1"/>
          </p:cNvGraphicFramePr>
          <p:nvPr>
            <p:extLst>
              <p:ext uri="{D42A27DB-BD31-4B8C-83A1-F6EECF244321}">
                <p14:modId xmlns:p14="http://schemas.microsoft.com/office/powerpoint/2010/main" val="1450558570"/>
              </p:ext>
            </p:extLst>
          </p:nvPr>
        </p:nvGraphicFramePr>
        <p:xfrm>
          <a:off x="108155" y="445128"/>
          <a:ext cx="11670894" cy="5967744"/>
        </p:xfrm>
        <a:graphic>
          <a:graphicData uri="http://schemas.openxmlformats.org/drawingml/2006/table">
            <a:tbl>
              <a:tblPr/>
              <a:tblGrid>
                <a:gridCol w="1296766">
                  <a:extLst>
                    <a:ext uri="{9D8B030D-6E8A-4147-A177-3AD203B41FA5}">
                      <a16:colId xmlns:a16="http://schemas.microsoft.com/office/drawing/2014/main" val="1570428759"/>
                    </a:ext>
                  </a:extLst>
                </a:gridCol>
                <a:gridCol w="1296766">
                  <a:extLst>
                    <a:ext uri="{9D8B030D-6E8A-4147-A177-3AD203B41FA5}">
                      <a16:colId xmlns:a16="http://schemas.microsoft.com/office/drawing/2014/main" val="3014320575"/>
                    </a:ext>
                  </a:extLst>
                </a:gridCol>
                <a:gridCol w="1296766">
                  <a:extLst>
                    <a:ext uri="{9D8B030D-6E8A-4147-A177-3AD203B41FA5}">
                      <a16:colId xmlns:a16="http://schemas.microsoft.com/office/drawing/2014/main" val="384695113"/>
                    </a:ext>
                  </a:extLst>
                </a:gridCol>
                <a:gridCol w="1296766">
                  <a:extLst>
                    <a:ext uri="{9D8B030D-6E8A-4147-A177-3AD203B41FA5}">
                      <a16:colId xmlns:a16="http://schemas.microsoft.com/office/drawing/2014/main" val="2513130599"/>
                    </a:ext>
                  </a:extLst>
                </a:gridCol>
                <a:gridCol w="1296766">
                  <a:extLst>
                    <a:ext uri="{9D8B030D-6E8A-4147-A177-3AD203B41FA5}">
                      <a16:colId xmlns:a16="http://schemas.microsoft.com/office/drawing/2014/main" val="2143793079"/>
                    </a:ext>
                  </a:extLst>
                </a:gridCol>
                <a:gridCol w="1296766">
                  <a:extLst>
                    <a:ext uri="{9D8B030D-6E8A-4147-A177-3AD203B41FA5}">
                      <a16:colId xmlns:a16="http://schemas.microsoft.com/office/drawing/2014/main" val="2138371324"/>
                    </a:ext>
                  </a:extLst>
                </a:gridCol>
                <a:gridCol w="1296766">
                  <a:extLst>
                    <a:ext uri="{9D8B030D-6E8A-4147-A177-3AD203B41FA5}">
                      <a16:colId xmlns:a16="http://schemas.microsoft.com/office/drawing/2014/main" val="1168342981"/>
                    </a:ext>
                  </a:extLst>
                </a:gridCol>
                <a:gridCol w="1296766">
                  <a:extLst>
                    <a:ext uri="{9D8B030D-6E8A-4147-A177-3AD203B41FA5}">
                      <a16:colId xmlns:a16="http://schemas.microsoft.com/office/drawing/2014/main" val="3829076982"/>
                    </a:ext>
                  </a:extLst>
                </a:gridCol>
                <a:gridCol w="1296766">
                  <a:extLst>
                    <a:ext uri="{9D8B030D-6E8A-4147-A177-3AD203B41FA5}">
                      <a16:colId xmlns:a16="http://schemas.microsoft.com/office/drawing/2014/main" val="2302272438"/>
                    </a:ext>
                  </a:extLst>
                </a:gridCol>
              </a:tblGrid>
              <a:tr h="357727">
                <a:tc>
                  <a:txBody>
                    <a:bodyPr/>
                    <a:lstStyle/>
                    <a:p>
                      <a:pPr>
                        <a:buNone/>
                      </a:pPr>
                      <a:r>
                        <a:rPr lang="en-IN" sz="1200"/>
                        <a:t>Model</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Accuracy</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Weighted Precision</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Weighted Recall</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Weighted F1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Macro F1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ROC-AUC</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Train Time (s)</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Predict Time (s)</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1471990"/>
                  </a:ext>
                </a:extLst>
              </a:tr>
              <a:tr h="183471">
                <a:tc>
                  <a:txBody>
                    <a:bodyPr/>
                    <a:lstStyle/>
                    <a:p>
                      <a:pPr>
                        <a:buNone/>
                      </a:pPr>
                      <a:r>
                        <a:rPr lang="en-IN" sz="1200"/>
                        <a:t>Ridge Classifier</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99.70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99.70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99.70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99.70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99.80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0.9967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2.06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0.50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3364226"/>
                  </a:ext>
                </a:extLst>
              </a:tr>
              <a:tr h="357727">
                <a:tc>
                  <a:txBody>
                    <a:bodyPr/>
                    <a:lstStyle/>
                    <a:p>
                      <a:pPr>
                        <a:buNone/>
                      </a:pPr>
                      <a:r>
                        <a:rPr lang="en-IN" sz="1200"/>
                        <a:t>Logistic Regression</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96.28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96.53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96.28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96.21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97.38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1.0000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10.05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0.20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3895372"/>
                  </a:ext>
                </a:extLst>
              </a:tr>
              <a:tr h="183471">
                <a:tc>
                  <a:txBody>
                    <a:bodyPr/>
                    <a:lstStyle/>
                    <a:p>
                      <a:pPr>
                        <a:buNone/>
                      </a:pPr>
                      <a:r>
                        <a:rPr lang="en-IN" sz="1200"/>
                        <a:t>LDA</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95.80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96.12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95.80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95.72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97.04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1.0000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0.35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9276843"/>
                  </a:ext>
                </a:extLst>
              </a:tr>
              <a:tr h="183471">
                <a:tc>
                  <a:txBody>
                    <a:bodyPr/>
                    <a:lstStyle/>
                    <a:p>
                      <a:pPr>
                        <a:buNone/>
                      </a:pPr>
                      <a:r>
                        <a:rPr lang="en-IN" sz="1200"/>
                        <a:t>SGD Classifier</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93.95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94.87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93.95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93.17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88.43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0.9900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3.08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0.21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4681552"/>
                  </a:ext>
                </a:extLst>
              </a:tr>
              <a:tr h="357727">
                <a:tc>
                  <a:txBody>
                    <a:bodyPr/>
                    <a:lstStyle/>
                    <a:p>
                      <a:pPr>
                        <a:buNone/>
                      </a:pPr>
                      <a:r>
                        <a:rPr lang="en-IN" sz="1200"/>
                        <a:t>Passive Aggressive</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92.08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93.15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92.08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91.28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88.13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0.9982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1.67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7530703"/>
                  </a:ext>
                </a:extLst>
              </a:tr>
              <a:tr h="183471">
                <a:tc>
                  <a:txBody>
                    <a:bodyPr/>
                    <a:lstStyle/>
                    <a:p>
                      <a:pPr>
                        <a:buNone/>
                      </a:pPr>
                      <a:r>
                        <a:rPr lang="en-IN" sz="1200"/>
                        <a:t>Linear SVM</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90.41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91.93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90.41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89.64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86.97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1.0000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2.32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0.39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137443"/>
                  </a:ext>
                </a:extLst>
              </a:tr>
              <a:tr h="307512">
                <a:tc>
                  <a:txBody>
                    <a:bodyPr/>
                    <a:lstStyle/>
                    <a:p>
                      <a:pPr>
                        <a:buNone/>
                      </a:pPr>
                      <a:r>
                        <a:rPr lang="en-IN" sz="1200"/>
                        <a:t>Nearest Centroid</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87.99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88.57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87.99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87.07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84.19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0.9857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0.09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6399067"/>
                  </a:ext>
                </a:extLst>
              </a:tr>
              <a:tr h="183471">
                <a:tc>
                  <a:txBody>
                    <a:bodyPr/>
                    <a:lstStyle/>
                    <a:p>
                      <a:pPr>
                        <a:buNone/>
                      </a:pPr>
                      <a:r>
                        <a:rPr lang="en-IN" sz="1200"/>
                        <a:t>MLP (Shallow)</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87.71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90.08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87.71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86.90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84.99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0.9988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46.32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6852642"/>
                  </a:ext>
                </a:extLst>
              </a:tr>
              <a:tr h="183471">
                <a:tc>
                  <a:txBody>
                    <a:bodyPr/>
                    <a:lstStyle/>
                    <a:p>
                      <a:pPr>
                        <a:buNone/>
                      </a:pPr>
                      <a:r>
                        <a:rPr lang="en-IN" sz="1200"/>
                        <a:t>MLP (Wide)</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86.45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89.30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86.45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85.58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84.04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0.9983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143.92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0.37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789966"/>
                  </a:ext>
                </a:extLst>
              </a:tr>
              <a:tr h="183471">
                <a:tc>
                  <a:txBody>
                    <a:bodyPr/>
                    <a:lstStyle/>
                    <a:p>
                      <a:pPr>
                        <a:buNone/>
                      </a:pPr>
                      <a:r>
                        <a:rPr lang="en-IN" sz="1200"/>
                        <a:t>MLP (Deep)</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86.52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87.18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86.52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85.48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83.15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0.9938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86.09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2819966"/>
                  </a:ext>
                </a:extLst>
              </a:tr>
              <a:tr h="183471">
                <a:tc>
                  <a:txBody>
                    <a:bodyPr/>
                    <a:lstStyle/>
                    <a:p>
                      <a:pPr>
                        <a:buNone/>
                      </a:pPr>
                      <a:r>
                        <a:rPr lang="en-IN" sz="1200"/>
                        <a:t>Multinomial NB</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85.31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85.93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85.31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84.19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82.12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0.9757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0.61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8201760"/>
                  </a:ext>
                </a:extLst>
              </a:tr>
              <a:tr h="183471">
                <a:tc>
                  <a:txBody>
                    <a:bodyPr/>
                    <a:lstStyle/>
                    <a:p>
                      <a:pPr>
                        <a:buNone/>
                      </a:pPr>
                      <a:r>
                        <a:rPr lang="en-IN" sz="1200"/>
                        <a:t>QDA</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84.62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84.62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83.43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81.57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0.9677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0.32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3005475"/>
                  </a:ext>
                </a:extLst>
              </a:tr>
              <a:tr h="183471">
                <a:tc>
                  <a:txBody>
                    <a:bodyPr/>
                    <a:lstStyle/>
                    <a:p>
                      <a:pPr>
                        <a:buNone/>
                      </a:pPr>
                      <a:r>
                        <a:rPr lang="en-IN" sz="1200"/>
                        <a:t>Bernoulli NB</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83.59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87.59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83.59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82.44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84.88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0.9632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0.64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0.09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8951838"/>
                  </a:ext>
                </a:extLst>
              </a:tr>
              <a:tr h="183471">
                <a:tc>
                  <a:txBody>
                    <a:bodyPr/>
                    <a:lstStyle/>
                    <a:p>
                      <a:pPr>
                        <a:buNone/>
                      </a:pPr>
                      <a:r>
                        <a:rPr lang="en-IN" sz="1200"/>
                        <a:t>NuSVC (RBF)</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83.92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83.25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81.90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80.45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0.9876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71.13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0.87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560251"/>
                  </a:ext>
                </a:extLst>
              </a:tr>
              <a:tr h="357727">
                <a:tc>
                  <a:txBody>
                    <a:bodyPr/>
                    <a:lstStyle/>
                    <a:p>
                      <a:pPr>
                        <a:buNone/>
                      </a:pPr>
                      <a:r>
                        <a:rPr lang="en-IN" sz="1200"/>
                        <a:t>Hist Gradient Boosting</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80.69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81.40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80.69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78.93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0.9493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20.67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0.35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6350871"/>
                  </a:ext>
                </a:extLst>
              </a:tr>
              <a:tr h="183471">
                <a:tc>
                  <a:txBody>
                    <a:bodyPr/>
                    <a:lstStyle/>
                    <a:p>
                      <a:pPr>
                        <a:buNone/>
                      </a:pPr>
                      <a:r>
                        <a:rPr lang="en-IN" sz="1200"/>
                        <a:t>SVM (RBF)</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80.50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81.21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80.50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0.9894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49.09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0.24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5823703"/>
                  </a:ext>
                </a:extLst>
              </a:tr>
              <a:tr h="183471">
                <a:tc>
                  <a:txBody>
                    <a:bodyPr/>
                    <a:lstStyle/>
                    <a:p>
                      <a:pPr>
                        <a:buNone/>
                      </a:pPr>
                      <a:r>
                        <a:rPr lang="en-IN" sz="1200"/>
                        <a:t>Extra Trees</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80.02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80.71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80.02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78.11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77.64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0.9928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25.76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5358646"/>
                  </a:ext>
                </a:extLst>
              </a:tr>
              <a:tr h="183471">
                <a:tc>
                  <a:txBody>
                    <a:bodyPr/>
                    <a:lstStyle/>
                    <a:p>
                      <a:pPr>
                        <a:buNone/>
                      </a:pPr>
                      <a:r>
                        <a:rPr lang="en-IN" sz="1200"/>
                        <a:t>KNN</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79.10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79.77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79.10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76.98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76.79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0.8188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1.32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0.39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4898293"/>
                  </a:ext>
                </a:extLst>
              </a:tr>
              <a:tr h="183471">
                <a:tc>
                  <a:txBody>
                    <a:bodyPr/>
                    <a:lstStyle/>
                    <a:p>
                      <a:pPr>
                        <a:buNone/>
                      </a:pPr>
                      <a:r>
                        <a:rPr lang="en-IN" sz="1200"/>
                        <a:t>Random Forest</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78.82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85.04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78.82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76.77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77.43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0.9634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64.02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318489"/>
                  </a:ext>
                </a:extLst>
              </a:tr>
              <a:tr h="183471">
                <a:tc>
                  <a:txBody>
                    <a:bodyPr/>
                    <a:lstStyle/>
                    <a:p>
                      <a:pPr>
                        <a:buNone/>
                      </a:pPr>
                      <a:r>
                        <a:rPr lang="en-IN" sz="1200"/>
                        <a:t>Gaussian NB</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79.36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78.70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76.50</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76.42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0.9606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0.48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0.09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880822"/>
                  </a:ext>
                </a:extLst>
              </a:tr>
              <a:tr h="307512">
                <a:tc>
                  <a:txBody>
                    <a:bodyPr/>
                    <a:lstStyle/>
                    <a:p>
                      <a:pPr>
                        <a:buNone/>
                      </a:pPr>
                      <a:r>
                        <a:rPr lang="en-IN" sz="1200"/>
                        <a:t>Gradient Boosting</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78.51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84.84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78.51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76.37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77.11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0.9557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132.77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0.14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6908387"/>
                  </a:ext>
                </a:extLst>
              </a:tr>
              <a:tr h="183471">
                <a:tc>
                  <a:txBody>
                    <a:bodyPr/>
                    <a:lstStyle/>
                    <a:p>
                      <a:pPr>
                        <a:buNone/>
                      </a:pPr>
                      <a:r>
                        <a:rPr lang="en-IN" sz="1200"/>
                        <a:t>Bagging (Tree)</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78.36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84.82</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78.36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76.18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76.97</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0.9651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19.21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186568"/>
                  </a:ext>
                </a:extLst>
              </a:tr>
              <a:tr h="183471">
                <a:tc>
                  <a:txBody>
                    <a:bodyPr/>
                    <a:lstStyle/>
                    <a:p>
                      <a:pPr>
                        <a:buNone/>
                      </a:pPr>
                      <a:r>
                        <a:rPr lang="en-IN" sz="1200"/>
                        <a:t>Perceptron</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77.23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84.26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77.23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74.68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75.81</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0.9783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1.85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0.26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1363476"/>
                  </a:ext>
                </a:extLst>
              </a:tr>
              <a:tr h="183471">
                <a:tc>
                  <a:txBody>
                    <a:bodyPr/>
                    <a:lstStyle/>
                    <a:p>
                      <a:pPr>
                        <a:buNone/>
                      </a:pPr>
                      <a:r>
                        <a:rPr lang="en-IN" sz="1200"/>
                        <a:t>Decision Tree</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72.03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71.04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72.03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67.35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69.35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0.7699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0.08</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4358752"/>
                  </a:ext>
                </a:extLst>
              </a:tr>
              <a:tr h="183471">
                <a:tc>
                  <a:txBody>
                    <a:bodyPr/>
                    <a:lstStyle/>
                    <a:p>
                      <a:pPr>
                        <a:buNone/>
                      </a:pPr>
                      <a:r>
                        <a:rPr lang="en-IN" sz="1200"/>
                        <a:t>AdaBoost</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33.74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14.06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33.74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19.49</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23.16</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0.9584</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46.25</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0.33</a:t>
                      </a:r>
                    </a:p>
                  </a:txBody>
                  <a:tcPr marL="9671" marR="9671" marT="4835" marB="483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7225970"/>
                  </a:ext>
                </a:extLst>
              </a:tr>
            </a:tbl>
          </a:graphicData>
        </a:graphic>
      </p:graphicFrame>
    </p:spTree>
    <p:extLst>
      <p:ext uri="{BB962C8B-B14F-4D97-AF65-F5344CB8AC3E}">
        <p14:creationId xmlns:p14="http://schemas.microsoft.com/office/powerpoint/2010/main" val="3176042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0FFB6152-C7F9-6AEB-4FBC-731B91F472E3}"/>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E094E791-05D1-8646-3E7E-50CC149A3080}"/>
              </a:ext>
            </a:extLst>
          </p:cNvPr>
          <p:cNvSpPr txBox="1">
            <a:spLocks noGrp="1"/>
          </p:cNvSpPr>
          <p:nvPr>
            <p:ph type="title"/>
          </p:nvPr>
        </p:nvSpPr>
        <p:spPr>
          <a:xfrm>
            <a:off x="700062" y="0"/>
            <a:ext cx="10264877" cy="508473"/>
          </a:xfrm>
          <a:prstGeom prst="rect">
            <a:avLst/>
          </a:prstGeom>
          <a:noFill/>
          <a:ln>
            <a:noFill/>
          </a:ln>
        </p:spPr>
        <p:txBody>
          <a:bodyPr spcFirstLastPara="1" wrap="square" lIns="0" tIns="15875" rIns="0" bIns="0" anchor="t" anchorCtr="0">
            <a:spAutoFit/>
          </a:bodyPr>
          <a:lstStyle/>
          <a:p>
            <a:pPr marL="12700" algn="ctr"/>
            <a:r>
              <a:rPr lang="en-IN" b="1" dirty="0"/>
              <a:t>MACHINE LEARNING PERFORMANCE ANALYSIS</a:t>
            </a:r>
            <a:endParaRPr dirty="0"/>
          </a:p>
        </p:txBody>
      </p:sp>
      <p:sp>
        <p:nvSpPr>
          <p:cNvPr id="132" name="Google Shape;132;p17">
            <a:extLst>
              <a:ext uri="{FF2B5EF4-FFF2-40B4-BE49-F238E27FC236}">
                <a16:creationId xmlns:a16="http://schemas.microsoft.com/office/drawing/2014/main" id="{1ED53C2A-769B-F7FD-FC98-C311EE278203}"/>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22</a:t>
            </a:fld>
            <a:endParaRPr/>
          </a:p>
        </p:txBody>
      </p:sp>
      <p:sp>
        <p:nvSpPr>
          <p:cNvPr id="6" name="Rectangle 3">
            <a:extLst>
              <a:ext uri="{FF2B5EF4-FFF2-40B4-BE49-F238E27FC236}">
                <a16:creationId xmlns:a16="http://schemas.microsoft.com/office/drawing/2014/main" id="{274AD97E-A2CE-00E1-4272-EAEDC6272603}"/>
              </a:ext>
            </a:extLst>
          </p:cNvPr>
          <p:cNvSpPr>
            <a:spLocks noChangeArrowheads="1"/>
          </p:cNvSpPr>
          <p:nvPr/>
        </p:nvSpPr>
        <p:spPr bwMode="auto">
          <a:xfrm>
            <a:off x="156192" y="1136867"/>
            <a:ext cx="11977635"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Ridge Classifier achieved the best overall performance with: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99.70% Accuracy</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99.70% Weighted F1-Score</a:t>
            </a:r>
            <a:r>
              <a:rPr kumimoji="0" lang="en-US" altLang="en-US" sz="1600" b="0" i="0" u="none" strike="noStrike" cap="none" normalizeH="0" baseline="0" dirty="0">
                <a:ln>
                  <a:noFill/>
                </a:ln>
                <a:solidFill>
                  <a:schemeClr val="tx1"/>
                </a:solidFill>
                <a:effectLst/>
                <a:latin typeface="Arial" panose="020B0604020202020204" pitchFamily="34" charset="0"/>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excellent ROC-AUC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Logistic Regression and LDA also showed strong classification capability, indicating that the extracted features were highly separable.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Linear models performed better than many complex nonlinear models, suggesting that: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statistical features captured regime information effectively,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feature scaling improved linear separability.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Neural network models (MLP variants) achieved good ROC-AUC scores but required significantly higher training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Ensemble learning methods such as Random Forest, Extra Trees, and Gradient Boosting showed moderate performance but higher computational complexity.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Distance-based methods such as KNN were affected by overlapping nonlinear feature distributions.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Decision Tree and AdaBoost produced lower classification performance, indicating limited robustness for nonlinear oscillatory regime discrimination.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ROC-AUC values close to 1 for several models confirmed strong probabilistic discrimination between oscillation regimes.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The µ-based train-test splitting strategy ensured realistic evaluation by testing models on unseen nonlinear conditions.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Overall results demonstrate that the extracted statistical and nonlinear features effectively characterize Van der Pol oscillatory dynamics across multiple nonlinear regimes. </a:t>
            </a:r>
          </a:p>
        </p:txBody>
      </p:sp>
    </p:spTree>
    <p:extLst>
      <p:ext uri="{BB962C8B-B14F-4D97-AF65-F5344CB8AC3E}">
        <p14:creationId xmlns:p14="http://schemas.microsoft.com/office/powerpoint/2010/main" val="874870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5A277024-C8C9-167C-6DC4-81F062454221}"/>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FAD3C541-0C37-1A8E-9BB7-F0FA832D85D4}"/>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SYSTEM RESPONSE</a:t>
            </a:r>
            <a:endParaRPr dirty="0"/>
          </a:p>
        </p:txBody>
      </p:sp>
      <p:sp>
        <p:nvSpPr>
          <p:cNvPr id="132" name="Google Shape;132;p17">
            <a:extLst>
              <a:ext uri="{FF2B5EF4-FFF2-40B4-BE49-F238E27FC236}">
                <a16:creationId xmlns:a16="http://schemas.microsoft.com/office/drawing/2014/main" id="{1C4D588F-5C50-36F5-42AF-E1115C9BAAC8}"/>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23</a:t>
            </a:fld>
            <a:endParaRPr/>
          </a:p>
        </p:txBody>
      </p:sp>
      <mc:AlternateContent xmlns:mc="http://schemas.openxmlformats.org/markup-compatibility/2006" xmlns:a14="http://schemas.microsoft.com/office/drawing/2010/main">
        <mc:Choice Requires="a14">
          <p:sp>
            <p:nvSpPr>
              <p:cNvPr id="133" name="Google Shape;133;p17">
                <a:extLst>
                  <a:ext uri="{FF2B5EF4-FFF2-40B4-BE49-F238E27FC236}">
                    <a16:creationId xmlns:a16="http://schemas.microsoft.com/office/drawing/2014/main" id="{47B3CFCC-1C18-5F17-C7CF-D87805583AFE}"/>
                  </a:ext>
                </a:extLst>
              </p:cNvPr>
              <p:cNvSpPr txBox="1"/>
              <p:nvPr/>
            </p:nvSpPr>
            <p:spPr>
              <a:xfrm>
                <a:off x="185522" y="767596"/>
                <a:ext cx="11475536" cy="4893607"/>
              </a:xfrm>
              <a:prstGeom prst="rect">
                <a:avLst/>
              </a:prstGeom>
              <a:noFill/>
              <a:ln>
                <a:noFill/>
              </a:ln>
            </p:spPr>
            <p:txBody>
              <a:bodyPr spcFirstLastPara="1" wrap="square" lIns="91425" tIns="45700" rIns="91425" bIns="45700" anchor="t" anchorCtr="0">
                <a:spAutoFit/>
              </a:bodyPr>
              <a:lstStyle/>
              <a:p>
                <a:pPr>
                  <a:buClr>
                    <a:schemeClr val="dk1"/>
                  </a:buClr>
                  <a:buSzPts val="3200"/>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Phase Plane: </a:t>
                </a:r>
                <a:r>
                  <a:rPr lang="en-US" sz="2400" dirty="0">
                    <a:latin typeface="Calibri" panose="020F0502020204030204" pitchFamily="34" charset="0"/>
                    <a:ea typeface="Calibri" panose="020F0502020204030204" pitchFamily="34" charset="0"/>
                    <a:cs typeface="Calibri" panose="020F0502020204030204" pitchFamily="34" charset="0"/>
                  </a:rPr>
                  <a:t>Suppose we have a system of two first-order ODEs of the form: </a:t>
                </a:r>
                <a:r>
                  <a:rPr lang="en-US" sz="2400" b="1" dirty="0">
                    <a:latin typeface="Calibri" panose="020F0502020204030204" pitchFamily="34" charset="0"/>
                    <a:ea typeface="Calibri" panose="020F0502020204030204" pitchFamily="34" charset="0"/>
                    <a:cs typeface="Calibri" panose="020F0502020204030204" pitchFamily="34" charset="0"/>
                  </a:rPr>
                  <a:t>x’=f(</a:t>
                </a:r>
                <a:r>
                  <a:rPr lang="en-US" sz="2400" b="1" dirty="0" err="1">
                    <a:latin typeface="Calibri" panose="020F0502020204030204" pitchFamily="34" charset="0"/>
                    <a:ea typeface="Calibri" panose="020F0502020204030204" pitchFamily="34" charset="0"/>
                    <a:cs typeface="Calibri" panose="020F0502020204030204" pitchFamily="34" charset="0"/>
                  </a:rPr>
                  <a:t>x,y</a:t>
                </a:r>
                <a:r>
                  <a:rPr lang="en-US" sz="2400" b="1" dirty="0">
                    <a:latin typeface="Calibri" panose="020F0502020204030204" pitchFamily="34" charset="0"/>
                    <a:ea typeface="Calibri" panose="020F0502020204030204" pitchFamily="34" charset="0"/>
                    <a:cs typeface="Calibri" panose="020F0502020204030204" pitchFamily="34" charset="0"/>
                  </a:rPr>
                  <a:t>) and y’ =g(</a:t>
                </a:r>
                <a:r>
                  <a:rPr lang="en-US" sz="2400" b="1" dirty="0" err="1">
                    <a:latin typeface="Calibri" panose="020F0502020204030204" pitchFamily="34" charset="0"/>
                    <a:ea typeface="Calibri" panose="020F0502020204030204" pitchFamily="34" charset="0"/>
                    <a:cs typeface="Calibri" panose="020F0502020204030204" pitchFamily="34" charset="0"/>
                  </a:rPr>
                  <a:t>x,y</a:t>
                </a:r>
                <a:r>
                  <a:rPr lang="en-US" sz="2400" b="1" dirty="0">
                    <a:latin typeface="Calibri" panose="020F0502020204030204" pitchFamily="34" charset="0"/>
                    <a:ea typeface="Calibri" panose="020F0502020204030204" pitchFamily="34" charset="0"/>
                    <a:cs typeface="Calibri" panose="020F0502020204030204" pitchFamily="34" charset="0"/>
                  </a:rPr>
                  <a:t>), where x and y are the state variables. </a:t>
                </a:r>
                <a:r>
                  <a:rPr lang="en-US" sz="2400" dirty="0">
                    <a:latin typeface="Calibri" panose="020F0502020204030204" pitchFamily="34" charset="0"/>
                    <a:ea typeface="Calibri" panose="020F0502020204030204" pitchFamily="34" charset="0"/>
                    <a:cs typeface="Calibri" panose="020F0502020204030204" pitchFamily="34" charset="0"/>
                  </a:rPr>
                  <a:t>The </a:t>
                </a:r>
                <a:r>
                  <a:rPr lang="en-US" sz="2400" b="1" dirty="0">
                    <a:latin typeface="Calibri" panose="020F0502020204030204" pitchFamily="34" charset="0"/>
                    <a:ea typeface="Calibri" panose="020F0502020204030204" pitchFamily="34" charset="0"/>
                    <a:cs typeface="Calibri" panose="020F0502020204030204" pitchFamily="34" charset="0"/>
                  </a:rPr>
                  <a:t>phase plane</a:t>
                </a:r>
                <a:r>
                  <a:rPr lang="en-US" sz="2400" dirty="0">
                    <a:latin typeface="Calibri" panose="020F0502020204030204" pitchFamily="34" charset="0"/>
                    <a:ea typeface="Calibri" panose="020F0502020204030204" pitchFamily="34" charset="0"/>
                    <a:cs typeface="Calibri" panose="020F0502020204030204" pitchFamily="34" charset="0"/>
                  </a:rPr>
                  <a:t> is a two-dimensional space defined by the state variables x and y. Each point (</a:t>
                </a:r>
                <a:r>
                  <a:rPr lang="en-US" sz="2400" dirty="0" err="1">
                    <a:latin typeface="Calibri" panose="020F0502020204030204" pitchFamily="34" charset="0"/>
                    <a:ea typeface="Calibri" panose="020F0502020204030204" pitchFamily="34" charset="0"/>
                    <a:cs typeface="Calibri" panose="020F0502020204030204" pitchFamily="34" charset="0"/>
                  </a:rPr>
                  <a:t>x,y</a:t>
                </a:r>
                <a:r>
                  <a:rPr lang="en-US" sz="2400" dirty="0">
                    <a:latin typeface="Calibri" panose="020F0502020204030204" pitchFamily="34" charset="0"/>
                    <a:ea typeface="Calibri" panose="020F0502020204030204" pitchFamily="34" charset="0"/>
                    <a:cs typeface="Calibri" panose="020F0502020204030204" pitchFamily="34" charset="0"/>
                  </a:rPr>
                  <a:t>) in this space represents a unique state of the system, and the system’s dynamics can be visualized by plotting the system’s trajectories, (</a:t>
                </a:r>
                <a:r>
                  <a:rPr lang="en-US" sz="2400" dirty="0" err="1">
                    <a:latin typeface="Calibri" panose="020F0502020204030204" pitchFamily="34" charset="0"/>
                    <a:ea typeface="Calibri" panose="020F0502020204030204" pitchFamily="34" charset="0"/>
                    <a:cs typeface="Calibri" panose="020F0502020204030204" pitchFamily="34" charset="0"/>
                  </a:rPr>
                  <a:t>x’,y</a:t>
                </a:r>
                <a:r>
                  <a:rPr lang="en-US" sz="2400" dirty="0">
                    <a:latin typeface="Calibri" panose="020F0502020204030204" pitchFamily="34" charset="0"/>
                    <a:ea typeface="Calibri" panose="020F0502020204030204" pitchFamily="34" charset="0"/>
                    <a:cs typeface="Calibri" panose="020F0502020204030204" pitchFamily="34" charset="0"/>
                  </a:rPr>
                  <a:t>’), in this space.</a:t>
                </a:r>
              </a:p>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Limit cycles: </a:t>
                </a:r>
                <a:r>
                  <a:rPr lang="en-US" sz="2400" dirty="0">
                    <a:solidFill>
                      <a:srgbClr val="111111"/>
                    </a:solidFill>
                    <a:latin typeface="Calibri" panose="020F0502020204030204" pitchFamily="34" charset="0"/>
                    <a:ea typeface="Calibri" panose="020F0502020204030204" pitchFamily="34" charset="0"/>
                    <a:cs typeface="Calibri" panose="020F0502020204030204" pitchFamily="34" charset="0"/>
                  </a:rPr>
                  <a:t>A closed trajectory in the phase plane that represents the periodic solutions of the system. Limit cycles are identified by finding closed curves that are neither crossed inwards nor outwards by trajectories. </a:t>
                </a:r>
              </a:p>
              <a:p>
                <a:endParaRPr lang="en-US" sz="2400" b="1" dirty="0">
                  <a:solidFill>
                    <a:srgbClr val="111111"/>
                  </a:solidFill>
                  <a:latin typeface="Calibri" panose="020F0502020204030204" pitchFamily="34" charset="0"/>
                  <a:ea typeface="Calibri" panose="020F0502020204030204" pitchFamily="34" charset="0"/>
                  <a:cs typeface="Calibri" panose="020F0502020204030204" pitchFamily="34" charset="0"/>
                  <a:sym typeface="Calibri"/>
                </a:endParaRPr>
              </a:p>
              <a:p>
                <a:pPr marL="228600" indent="-228600">
                  <a:buClr>
                    <a:schemeClr val="dk1"/>
                  </a:buClr>
                  <a:buSzPts val="3200"/>
                  <a:buFont typeface="Calibri"/>
                  <a:buChar char="•"/>
                </a:pP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Linearisation of Van der Pol oscillator: d²x/dt² − </a:t>
                </a:r>
                <a:r>
                  <a:rPr lang="el-GR"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μ(1 − </a:t>
                </a: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x²) dx/dt + x = 0</a:t>
                </a:r>
              </a:p>
              <a:p>
                <a:pPr/>
                <a14:m>
                  <m:oMathPara xmlns:m="http://schemas.openxmlformats.org/officeDocument/2006/math">
                    <m:oMathParaPr>
                      <m:jc m:val="centerGroup"/>
                    </m:oMathParaPr>
                    <m:oMath xmlns:m="http://schemas.openxmlformats.org/officeDocument/2006/math">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r>
                        <a:rPr lang="ar-AE" sz="2400">
                          <a:latin typeface="Cambria Math" panose="02040503050406030204" pitchFamily="18" charset="0"/>
                        </a:rPr>
                        <m:t>=</m:t>
                      </m:r>
                      <m:r>
                        <a:rPr lang="ar-AE" sz="2400" i="1">
                          <a:latin typeface="Cambria Math" panose="02040503050406030204" pitchFamily="18" charset="0"/>
                        </a:rPr>
                        <m:t>𝑦</m:t>
                      </m:r>
                    </m:oMath>
                  </m:oMathPara>
                </a14:m>
                <a:endParaRPr lang="ar-AE" sz="2400" dirty="0">
                  <a:latin typeface="Calibri" panose="020F0502020204030204" pitchFamily="34" charset="0"/>
                  <a:ea typeface="Calibri" panose="020F0502020204030204" pitchFamily="34" charset="0"/>
                  <a:cs typeface="Calibri" panose="020F0502020204030204" pitchFamily="34" charset="0"/>
                </a:endParaRPr>
              </a:p>
              <a:p>
                <a:pPr/>
                <a14:m>
                  <m:oMathPara xmlns:m="http://schemas.openxmlformats.org/officeDocument/2006/math">
                    <m:oMathParaPr>
                      <m:jc m:val="centerGroup"/>
                    </m:oMathParaPr>
                    <m:oMath xmlns:m="http://schemas.openxmlformats.org/officeDocument/2006/math">
                      <m:acc>
                        <m:accPr>
                          <m:chr m:val="̇"/>
                          <m:ctrlPr>
                            <a:rPr lang="ar-AE" sz="2400" i="1">
                              <a:latin typeface="Cambria Math" panose="02040503050406030204" pitchFamily="18" charset="0"/>
                            </a:rPr>
                          </m:ctrlPr>
                        </m:accPr>
                        <m:e>
                          <m:r>
                            <a:rPr lang="ar-AE" sz="2400" i="1">
                              <a:latin typeface="Cambria Math" panose="02040503050406030204" pitchFamily="18" charset="0"/>
                            </a:rPr>
                            <m:t>𝑦</m:t>
                          </m:r>
                        </m:e>
                      </m:acc>
                      <m:r>
                        <a:rPr lang="ar-AE" sz="2400">
                          <a:latin typeface="Cambria Math" panose="02040503050406030204" pitchFamily="18" charset="0"/>
                        </a:rPr>
                        <m:t>=</m:t>
                      </m:r>
                      <m:r>
                        <a:rPr lang="ar-AE" sz="2400" i="1">
                          <a:latin typeface="Cambria Math" panose="02040503050406030204" pitchFamily="18" charset="0"/>
                        </a:rPr>
                        <m:t>𝜇</m:t>
                      </m:r>
                      <m:d>
                        <m:dPr>
                          <m:ctrlPr>
                            <a:rPr lang="ar-AE" sz="2400" i="1">
                              <a:latin typeface="Cambria Math" panose="02040503050406030204" pitchFamily="18" charset="0"/>
                            </a:rPr>
                          </m:ctrlPr>
                        </m:dPr>
                        <m:e>
                          <m:r>
                            <a:rPr lang="ar-AE" sz="2400">
                              <a:latin typeface="Cambria Math" panose="02040503050406030204" pitchFamily="18" charset="0"/>
                            </a:rPr>
                            <m:t>1</m:t>
                          </m:r>
                          <m:r>
                            <a:rPr lang="ar-AE" sz="2400">
                              <a:latin typeface="Cambria Math" panose="02040503050406030204" pitchFamily="18" charset="0"/>
                            </a:rPr>
                            <m:t>−</m:t>
                          </m:r>
                          <m:sSup>
                            <m:sSupPr>
                              <m:ctrlPr>
                                <a:rPr lang="ar-AE" sz="2400" i="1">
                                  <a:latin typeface="Cambria Math" panose="02040503050406030204" pitchFamily="18" charset="0"/>
                                </a:rPr>
                              </m:ctrlPr>
                            </m:sSupPr>
                            <m:e>
                              <m:r>
                                <a:rPr lang="ar-AE" sz="2400" i="1">
                                  <a:latin typeface="Cambria Math" panose="02040503050406030204" pitchFamily="18" charset="0"/>
                                </a:rPr>
                                <m:t>𝑥</m:t>
                              </m:r>
                            </m:e>
                            <m:sup>
                              <m:r>
                                <a:rPr lang="ar-AE" sz="2400">
                                  <a:latin typeface="Cambria Math" panose="02040503050406030204" pitchFamily="18" charset="0"/>
                                </a:rPr>
                                <m:t>2</m:t>
                              </m:r>
                            </m:sup>
                          </m:sSup>
                        </m:e>
                      </m:d>
                      <m:r>
                        <a:rPr lang="ar-AE" sz="2400" i="1">
                          <a:latin typeface="Cambria Math" panose="02040503050406030204" pitchFamily="18" charset="0"/>
                        </a:rPr>
                        <m:t>𝑦</m:t>
                      </m:r>
                      <m:r>
                        <a:rPr lang="ar-AE" sz="2400">
                          <a:latin typeface="Cambria Math" panose="02040503050406030204" pitchFamily="18" charset="0"/>
                        </a:rPr>
                        <m:t>−</m:t>
                      </m:r>
                      <m:r>
                        <a:rPr lang="ar-AE" sz="2400" i="1">
                          <a:latin typeface="Cambria Math" panose="02040503050406030204" pitchFamily="18" charset="0"/>
                        </a:rPr>
                        <m:t>𝑥</m:t>
                      </m:r>
                    </m:oMath>
                  </m:oMathPara>
                </a14:m>
                <a:endPar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p:txBody>
          </p:sp>
        </mc:Choice>
        <mc:Fallback xmlns="">
          <p:sp>
            <p:nvSpPr>
              <p:cNvPr id="133" name="Google Shape;133;p17">
                <a:extLst>
                  <a:ext uri="{FF2B5EF4-FFF2-40B4-BE49-F238E27FC236}">
                    <a16:creationId xmlns:a16="http://schemas.microsoft.com/office/drawing/2014/main" id="{47B3CFCC-1C18-5F17-C7CF-D87805583AFE}"/>
                  </a:ext>
                </a:extLst>
              </p:cNvPr>
              <p:cNvSpPr txBox="1">
                <a:spLocks noRot="1" noChangeAspect="1" noMove="1" noResize="1" noEditPoints="1" noAdjustHandles="1" noChangeArrowheads="1" noChangeShapeType="1" noTextEdit="1"/>
              </p:cNvSpPr>
              <p:nvPr/>
            </p:nvSpPr>
            <p:spPr>
              <a:xfrm>
                <a:off x="185522" y="767596"/>
                <a:ext cx="11475536" cy="4893607"/>
              </a:xfrm>
              <a:prstGeom prst="rect">
                <a:avLst/>
              </a:prstGeom>
              <a:blipFill>
                <a:blip r:embed="rId3"/>
                <a:stretch>
                  <a:fillRect l="-1381" t="-996" r="-1275"/>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3504809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7B9099AD-4E1E-3456-6524-AEE799D26AD2}"/>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D3701463-3766-2BF3-681C-D0D813BCA662}"/>
              </a:ext>
            </a:extLst>
          </p:cNvPr>
          <p:cNvSpPr txBox="1">
            <a:spLocks noGrp="1"/>
          </p:cNvSpPr>
          <p:nvPr>
            <p:ph type="title"/>
          </p:nvPr>
        </p:nvSpPr>
        <p:spPr>
          <a:xfrm>
            <a:off x="2022810" y="250096"/>
            <a:ext cx="8143800" cy="517500"/>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SYSTEM RESPONSE</a:t>
            </a:r>
            <a:endParaRPr dirty="0"/>
          </a:p>
        </p:txBody>
      </p:sp>
      <p:sp>
        <p:nvSpPr>
          <p:cNvPr id="132" name="Google Shape;132;p17">
            <a:extLst>
              <a:ext uri="{FF2B5EF4-FFF2-40B4-BE49-F238E27FC236}">
                <a16:creationId xmlns:a16="http://schemas.microsoft.com/office/drawing/2014/main" id="{0C32B63E-21E5-595A-E2B6-1390E07649C7}"/>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24</a:t>
            </a:fld>
            <a:endParaRPr/>
          </a:p>
        </p:txBody>
      </p:sp>
      <p:sp>
        <p:nvSpPr>
          <p:cNvPr id="133" name="Google Shape;133;p17">
            <a:extLst>
              <a:ext uri="{FF2B5EF4-FFF2-40B4-BE49-F238E27FC236}">
                <a16:creationId xmlns:a16="http://schemas.microsoft.com/office/drawing/2014/main" id="{B7141E85-3000-B820-5687-399BE9514CC4}"/>
              </a:ext>
            </a:extLst>
          </p:cNvPr>
          <p:cNvSpPr txBox="1"/>
          <p:nvPr/>
        </p:nvSpPr>
        <p:spPr>
          <a:xfrm>
            <a:off x="185522" y="1277813"/>
            <a:ext cx="6096000" cy="4524275"/>
          </a:xfrm>
          <a:prstGeom prst="rect">
            <a:avLst/>
          </a:prstGeom>
          <a:noFill/>
          <a:ln>
            <a:noFill/>
          </a:ln>
        </p:spPr>
        <p:txBody>
          <a:bodyPr spcFirstLastPara="1" wrap="square" lIns="91425" tIns="45700" rIns="91425" bIns="45700" anchor="t" anchorCtr="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Change the initial conditions and μ to see how the system’s behavior changes.</a:t>
            </a:r>
          </a:p>
          <a:p>
            <a:r>
              <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Blue arrows (Vector Field):</a:t>
            </a: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Indicate direction of motion at each point. </a:t>
            </a:r>
          </a:p>
          <a:p>
            <a:r>
              <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Red curve (Trajectory):</a:t>
            </a: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Actual path followed by system.</a:t>
            </a:r>
          </a:p>
          <a:p>
            <a:r>
              <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Start point (Blue dot):</a:t>
            </a: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Initial condition.</a:t>
            </a:r>
          </a:p>
          <a:p>
            <a:r>
              <a:rPr lang="en-US" sz="2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End point (Yellow dot):</a:t>
            </a:r>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Final state (approaches limit cycle).</a:t>
            </a:r>
          </a:p>
          <a:p>
            <a:r>
              <a:rPr lang="en-US" sz="24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All trajectories converge to a closed loop. This loop is called a LIMIT CYCLE. It is independent of initial condition.</a:t>
            </a:r>
          </a:p>
        </p:txBody>
      </p:sp>
      <p:pic>
        <p:nvPicPr>
          <p:cNvPr id="4" name="Picture 3">
            <a:extLst>
              <a:ext uri="{FF2B5EF4-FFF2-40B4-BE49-F238E27FC236}">
                <a16:creationId xmlns:a16="http://schemas.microsoft.com/office/drawing/2014/main" id="{B23B66B7-9CD2-B110-D2B2-983F8595C995}"/>
              </a:ext>
            </a:extLst>
          </p:cNvPr>
          <p:cNvPicPr>
            <a:picLocks noChangeAspect="1"/>
          </p:cNvPicPr>
          <p:nvPr/>
        </p:nvPicPr>
        <p:blipFill>
          <a:blip r:embed="rId3"/>
          <a:srcRect l="3125" t="7277" r="2021" b="9302"/>
          <a:stretch>
            <a:fillRect/>
          </a:stretch>
        </p:blipFill>
        <p:spPr>
          <a:xfrm>
            <a:off x="6281522" y="669272"/>
            <a:ext cx="5910478" cy="5741359"/>
          </a:xfrm>
          <a:prstGeom prst="rect">
            <a:avLst/>
          </a:prstGeom>
        </p:spPr>
      </p:pic>
    </p:spTree>
    <p:extLst>
      <p:ext uri="{BB962C8B-B14F-4D97-AF65-F5344CB8AC3E}">
        <p14:creationId xmlns:p14="http://schemas.microsoft.com/office/powerpoint/2010/main" val="2798730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EF20D027-7A99-AEE1-514A-AA28A7860658}"/>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E3AC4CF0-9D3B-7543-9949-E9A39C778509}"/>
              </a:ext>
            </a:extLst>
          </p:cNvPr>
          <p:cNvSpPr txBox="1">
            <a:spLocks noGrp="1"/>
          </p:cNvSpPr>
          <p:nvPr>
            <p:ph type="title"/>
          </p:nvPr>
        </p:nvSpPr>
        <p:spPr>
          <a:xfrm>
            <a:off x="412954" y="93938"/>
            <a:ext cx="5201265" cy="508473"/>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 SYSTEM RESPONSE</a:t>
            </a:r>
            <a:endParaRPr dirty="0"/>
          </a:p>
        </p:txBody>
      </p:sp>
      <p:sp>
        <p:nvSpPr>
          <p:cNvPr id="132" name="Google Shape;132;p17">
            <a:extLst>
              <a:ext uri="{FF2B5EF4-FFF2-40B4-BE49-F238E27FC236}">
                <a16:creationId xmlns:a16="http://schemas.microsoft.com/office/drawing/2014/main" id="{05E3DA6E-501A-B378-BC14-CDB58AC237D2}"/>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25</a:t>
            </a:fld>
            <a:endParaRPr/>
          </a:p>
        </p:txBody>
      </p:sp>
      <p:sp>
        <p:nvSpPr>
          <p:cNvPr id="133" name="Google Shape;133;p17">
            <a:extLst>
              <a:ext uri="{FF2B5EF4-FFF2-40B4-BE49-F238E27FC236}">
                <a16:creationId xmlns:a16="http://schemas.microsoft.com/office/drawing/2014/main" id="{FE3A98B2-FFCD-7689-123B-5D08FA281A69}"/>
              </a:ext>
            </a:extLst>
          </p:cNvPr>
          <p:cNvSpPr txBox="1"/>
          <p:nvPr/>
        </p:nvSpPr>
        <p:spPr>
          <a:xfrm>
            <a:off x="0" y="983822"/>
            <a:ext cx="6656439" cy="5170606"/>
          </a:xfrm>
          <a:prstGeom prst="rect">
            <a:avLst/>
          </a:prstGeom>
          <a:noFill/>
          <a:ln>
            <a:noFill/>
          </a:ln>
        </p:spPr>
        <p:txBody>
          <a:bodyPr spcFirstLastPara="1" wrap="square" lIns="91425" tIns="45700" rIns="91425" bIns="45700" anchor="t" anchorCtr="0">
            <a:spAutoFit/>
          </a:bodyPr>
          <a:lstStyle/>
          <a:p>
            <a:r>
              <a:rPr lang="en-US" sz="2200" b="1" dirty="0">
                <a:latin typeface="Calibri" panose="020F0502020204030204" pitchFamily="34" charset="0"/>
                <a:ea typeface="Calibri" panose="020F0502020204030204" pitchFamily="34" charset="0"/>
                <a:cs typeface="Calibri" panose="020F0502020204030204" pitchFamily="34" charset="0"/>
              </a:rPr>
              <a:t>Case 1: μ=0: (Linear Oscillator)</a:t>
            </a:r>
          </a:p>
          <a:p>
            <a:r>
              <a:rPr lang="en-IN" sz="2200" dirty="0">
                <a:latin typeface="Calibri" panose="020F0502020204030204" pitchFamily="34" charset="0"/>
                <a:ea typeface="Calibri" panose="020F0502020204030204" pitchFamily="34" charset="0"/>
                <a:cs typeface="Calibri" panose="020F0502020204030204" pitchFamily="34" charset="0"/>
              </a:rPr>
              <a:t>Perfect circular trajectories. No convergence/divergence </a:t>
            </a:r>
          </a:p>
          <a:p>
            <a:r>
              <a:rPr lang="en-IN" sz="2200" dirty="0">
                <a:latin typeface="Calibri" panose="020F0502020204030204" pitchFamily="34" charset="0"/>
                <a:ea typeface="Calibri" panose="020F0502020204030204" pitchFamily="34" charset="0"/>
                <a:cs typeface="Calibri" panose="020F0502020204030204" pitchFamily="34" charset="0"/>
              </a:rPr>
              <a:t>System behaves like simple harmonic oscillator. </a:t>
            </a:r>
          </a:p>
          <a:p>
            <a:r>
              <a:rPr lang="en-IN" sz="2200" dirty="0">
                <a:latin typeface="Calibri" panose="020F0502020204030204" pitchFamily="34" charset="0"/>
                <a:ea typeface="Calibri" panose="020F0502020204030204" pitchFamily="34" charset="0"/>
                <a:cs typeface="Calibri" panose="020F0502020204030204" pitchFamily="34" charset="0"/>
              </a:rPr>
              <a:t>Energy is conserved. No limit cycle exists.</a:t>
            </a:r>
          </a:p>
          <a:p>
            <a:endParaRPr lang="en-IN" sz="2200" dirty="0">
              <a:latin typeface="Calibri" panose="020F0502020204030204" pitchFamily="34" charset="0"/>
              <a:ea typeface="Calibri" panose="020F0502020204030204" pitchFamily="34" charset="0"/>
              <a:cs typeface="Calibri" panose="020F0502020204030204" pitchFamily="34" charset="0"/>
            </a:endParaRPr>
          </a:p>
          <a:p>
            <a:r>
              <a:rPr lang="en-IN" sz="2200" b="1" dirty="0">
                <a:latin typeface="Calibri" panose="020F0502020204030204" pitchFamily="34" charset="0"/>
                <a:ea typeface="Calibri" panose="020F0502020204030204" pitchFamily="34" charset="0"/>
                <a:cs typeface="Calibri" panose="020F0502020204030204" pitchFamily="34" charset="0"/>
              </a:rPr>
              <a:t>Case 2: </a:t>
            </a:r>
            <a:r>
              <a:rPr lang="en-US" sz="2200" b="1" dirty="0">
                <a:latin typeface="Calibri" panose="020F0502020204030204" pitchFamily="34" charset="0"/>
                <a:ea typeface="Calibri" panose="020F0502020204030204" pitchFamily="34" charset="0"/>
                <a:cs typeface="Calibri" panose="020F0502020204030204" pitchFamily="34" charset="0"/>
              </a:rPr>
              <a:t>μ=1: </a:t>
            </a:r>
            <a:r>
              <a:rPr lang="en-IN" sz="2200" b="1" dirty="0">
                <a:latin typeface="Calibri" panose="020F0502020204030204" pitchFamily="34" charset="0"/>
                <a:ea typeface="Calibri" panose="020F0502020204030204" pitchFamily="34" charset="0"/>
                <a:cs typeface="Calibri" panose="020F0502020204030204" pitchFamily="34" charset="0"/>
              </a:rPr>
              <a:t>(Moderate Nonlinearity)</a:t>
            </a:r>
          </a:p>
          <a:p>
            <a:r>
              <a:rPr lang="en-US"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Trajectory starts near the origin. Moves outward in a </a:t>
            </a:r>
          </a:p>
          <a:p>
            <a:r>
              <a:rPr lang="en-US"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spiral path. Eventually settles into a closed loop (limit cycle). </a:t>
            </a:r>
          </a:p>
          <a:p>
            <a:r>
              <a:rPr lang="en-US"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Interpretation: The origin is an unstable equilibrium point. Small disturbances cause the system to move away. As the trajectory grows, nonlinear damping regulates the motion. The system does not return to </a:t>
            </a:r>
          </a:p>
          <a:p>
            <a:r>
              <a:rPr lang="en-US" sz="22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rPr>
              <a:t>rest or diverge infinitely. It converges to a stable limit cycle, producing sustained periodic oscillations.</a:t>
            </a:r>
          </a:p>
        </p:txBody>
      </p:sp>
      <p:pic>
        <p:nvPicPr>
          <p:cNvPr id="6" name="Picture 5">
            <a:extLst>
              <a:ext uri="{FF2B5EF4-FFF2-40B4-BE49-F238E27FC236}">
                <a16:creationId xmlns:a16="http://schemas.microsoft.com/office/drawing/2014/main" id="{38E82F74-3469-A15A-2ADD-DDBFD07F1383}"/>
              </a:ext>
            </a:extLst>
          </p:cNvPr>
          <p:cNvPicPr>
            <a:picLocks noChangeAspect="1"/>
          </p:cNvPicPr>
          <p:nvPr/>
        </p:nvPicPr>
        <p:blipFill>
          <a:blip r:embed="rId3"/>
          <a:stretch>
            <a:fillRect/>
          </a:stretch>
        </p:blipFill>
        <p:spPr>
          <a:xfrm>
            <a:off x="6980904" y="983822"/>
            <a:ext cx="4798142" cy="1910198"/>
          </a:xfrm>
          <a:prstGeom prst="rect">
            <a:avLst/>
          </a:prstGeom>
        </p:spPr>
      </p:pic>
      <p:pic>
        <p:nvPicPr>
          <p:cNvPr id="14" name="Picture 13">
            <a:extLst>
              <a:ext uri="{FF2B5EF4-FFF2-40B4-BE49-F238E27FC236}">
                <a16:creationId xmlns:a16="http://schemas.microsoft.com/office/drawing/2014/main" id="{0D8ECFA3-EAF2-D5C2-8483-194BEF2C08DE}"/>
              </a:ext>
            </a:extLst>
          </p:cNvPr>
          <p:cNvPicPr>
            <a:picLocks noChangeAspect="1"/>
          </p:cNvPicPr>
          <p:nvPr/>
        </p:nvPicPr>
        <p:blipFill>
          <a:blip r:embed="rId4"/>
          <a:stretch>
            <a:fillRect/>
          </a:stretch>
        </p:blipFill>
        <p:spPr>
          <a:xfrm>
            <a:off x="6774427" y="3517360"/>
            <a:ext cx="5211096" cy="2356818"/>
          </a:xfrm>
          <a:prstGeom prst="rect">
            <a:avLst/>
          </a:prstGeom>
        </p:spPr>
      </p:pic>
    </p:spTree>
    <p:extLst>
      <p:ext uri="{BB962C8B-B14F-4D97-AF65-F5344CB8AC3E}">
        <p14:creationId xmlns:p14="http://schemas.microsoft.com/office/powerpoint/2010/main" val="1628046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FA0DC56-2F8F-E576-7319-66262B0BAB48}"/>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84901BD3-569C-B7B4-43E4-B8573EEEABCD}"/>
              </a:ext>
            </a:extLst>
          </p:cNvPr>
          <p:cNvSpPr txBox="1">
            <a:spLocks noGrp="1"/>
          </p:cNvSpPr>
          <p:nvPr>
            <p:ph type="title"/>
          </p:nvPr>
        </p:nvSpPr>
        <p:spPr>
          <a:xfrm>
            <a:off x="412954" y="93938"/>
            <a:ext cx="5201265" cy="508473"/>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SYSTEM RESPONSE</a:t>
            </a:r>
            <a:endParaRPr dirty="0"/>
          </a:p>
        </p:txBody>
      </p:sp>
      <p:sp>
        <p:nvSpPr>
          <p:cNvPr id="132" name="Google Shape;132;p17">
            <a:extLst>
              <a:ext uri="{FF2B5EF4-FFF2-40B4-BE49-F238E27FC236}">
                <a16:creationId xmlns:a16="http://schemas.microsoft.com/office/drawing/2014/main" id="{2B7BAE97-65F2-BF7A-55CE-9AC39AF2FF23}"/>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26</a:t>
            </a:fld>
            <a:endParaRPr/>
          </a:p>
        </p:txBody>
      </p:sp>
      <p:sp>
        <p:nvSpPr>
          <p:cNvPr id="133" name="Google Shape;133;p17">
            <a:extLst>
              <a:ext uri="{FF2B5EF4-FFF2-40B4-BE49-F238E27FC236}">
                <a16:creationId xmlns:a16="http://schemas.microsoft.com/office/drawing/2014/main" id="{9C0854C0-69D1-780C-6A6C-F692D3EA0753}"/>
              </a:ext>
            </a:extLst>
          </p:cNvPr>
          <p:cNvSpPr txBox="1"/>
          <p:nvPr/>
        </p:nvSpPr>
        <p:spPr>
          <a:xfrm>
            <a:off x="0" y="903528"/>
            <a:ext cx="6803922" cy="5632271"/>
          </a:xfrm>
          <a:prstGeom prst="rect">
            <a:avLst/>
          </a:prstGeom>
          <a:noFill/>
          <a:ln>
            <a:noFill/>
          </a:ln>
        </p:spPr>
        <p:txBody>
          <a:bodyPr spcFirstLastPara="1" wrap="square" lIns="91425" tIns="45700" rIns="91425" bIns="45700" anchor="t" anchorCtr="0">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Case 3: μ=2: (Stronger Nonlinearity)</a:t>
            </a:r>
          </a:p>
          <a:p>
            <a:r>
              <a:rPr lang="en-US" sz="2000" dirty="0">
                <a:latin typeface="Calibri" panose="020F0502020204030204" pitchFamily="34" charset="0"/>
                <a:ea typeface="Calibri" panose="020F0502020204030204" pitchFamily="34" charset="0"/>
                <a:cs typeface="Calibri" panose="020F0502020204030204" pitchFamily="34" charset="0"/>
              </a:rPr>
              <a:t>Limit cycle becomes sharper and more elongated. Trajectories converge faster to the closed loop. Motion is uneven across regions (not uniform like a circle). </a:t>
            </a:r>
          </a:p>
          <a:p>
            <a:r>
              <a:rPr lang="en-IN" sz="2000" dirty="0">
                <a:latin typeface="Calibri" panose="020F0502020204030204" pitchFamily="34" charset="0"/>
                <a:ea typeface="Calibri" panose="020F0502020204030204" pitchFamily="34" charset="0"/>
                <a:cs typeface="Calibri" panose="020F0502020204030204" pitchFamily="34" charset="0"/>
              </a:rPr>
              <a:t>Increased </a:t>
            </a:r>
            <a:r>
              <a:rPr lang="el-GR" sz="2000" dirty="0">
                <a:latin typeface="Calibri" panose="020F0502020204030204" pitchFamily="34" charset="0"/>
                <a:ea typeface="Calibri" panose="020F0502020204030204" pitchFamily="34" charset="0"/>
                <a:cs typeface="Calibri" panose="020F0502020204030204" pitchFamily="34" charset="0"/>
              </a:rPr>
              <a:t>μ </a:t>
            </a:r>
            <a:r>
              <a:rPr lang="en-IN" sz="2000" dirty="0">
                <a:latin typeface="Calibri" panose="020F0502020204030204" pitchFamily="34" charset="0"/>
                <a:ea typeface="Calibri" panose="020F0502020204030204" pitchFamily="34" charset="0"/>
                <a:cs typeface="Calibri" panose="020F0502020204030204" pitchFamily="34" charset="0"/>
              </a:rPr>
              <a:t>introduces stronger nonlinear damping. System quickly corrects deviations from the limit cycle. Energy is added rapidly at small amplitudes, dissipated strongly at large amplitudes. </a:t>
            </a:r>
            <a:r>
              <a:rPr lang="en-US" sz="2000" dirty="0">
                <a:latin typeface="Calibri" panose="020F0502020204030204" pitchFamily="34" charset="0"/>
                <a:ea typeface="Calibri" panose="020F0502020204030204" pitchFamily="34" charset="0"/>
                <a:cs typeface="Calibri" panose="020F0502020204030204" pitchFamily="34" charset="0"/>
              </a:rPr>
              <a:t>The oscillation is no longer smooth or sinusoidal. Nonlinearity dominates -&gt; distorted periodic motion.</a:t>
            </a: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Case 4: μ=12: (High Nonlinearity)</a:t>
            </a:r>
          </a:p>
          <a:p>
            <a:r>
              <a:rPr lang="en-US" sz="2000" dirty="0">
                <a:latin typeface="Calibri" panose="020F0502020204030204" pitchFamily="34" charset="0"/>
                <a:ea typeface="Calibri" panose="020F0502020204030204" pitchFamily="34" charset="0"/>
                <a:cs typeface="Calibri" panose="020F0502020204030204" pitchFamily="34" charset="0"/>
              </a:rPr>
              <a:t>Limit cycle becomes very sharp and rectangular-like. Trajectories show abrupt transitions between regions. Motion is highly non-uniform across cycle. Strong nonlinear damping leads to relaxation oscillations. System alternates between slow evolution (gradual change in state) and rapid jumps (sudden transitions between states). Oscillations are highly distorted and non-sinusoidal.</a:t>
            </a:r>
          </a:p>
        </p:txBody>
      </p:sp>
      <p:pic>
        <p:nvPicPr>
          <p:cNvPr id="6" name="Picture 5">
            <a:extLst>
              <a:ext uri="{FF2B5EF4-FFF2-40B4-BE49-F238E27FC236}">
                <a16:creationId xmlns:a16="http://schemas.microsoft.com/office/drawing/2014/main" id="{B77E8555-01CE-9EEC-0993-33706BDD9193}"/>
              </a:ext>
            </a:extLst>
          </p:cNvPr>
          <p:cNvPicPr>
            <a:picLocks noChangeAspect="1"/>
          </p:cNvPicPr>
          <p:nvPr/>
        </p:nvPicPr>
        <p:blipFill>
          <a:blip r:embed="rId3"/>
          <a:stretch>
            <a:fillRect/>
          </a:stretch>
        </p:blipFill>
        <p:spPr>
          <a:xfrm>
            <a:off x="7012083" y="1392301"/>
            <a:ext cx="5066845" cy="2117815"/>
          </a:xfrm>
          <a:prstGeom prst="rect">
            <a:avLst/>
          </a:prstGeom>
        </p:spPr>
      </p:pic>
      <p:pic>
        <p:nvPicPr>
          <p:cNvPr id="8" name="Picture 7">
            <a:extLst>
              <a:ext uri="{FF2B5EF4-FFF2-40B4-BE49-F238E27FC236}">
                <a16:creationId xmlns:a16="http://schemas.microsoft.com/office/drawing/2014/main" id="{9CB9FEE9-7BF5-0262-F27B-E065ED55DE63}"/>
              </a:ext>
            </a:extLst>
          </p:cNvPr>
          <p:cNvPicPr>
            <a:picLocks noChangeAspect="1"/>
          </p:cNvPicPr>
          <p:nvPr/>
        </p:nvPicPr>
        <p:blipFill>
          <a:blip r:embed="rId4"/>
          <a:stretch>
            <a:fillRect/>
          </a:stretch>
        </p:blipFill>
        <p:spPr>
          <a:xfrm>
            <a:off x="6921909" y="3794591"/>
            <a:ext cx="5388078" cy="2183882"/>
          </a:xfrm>
          <a:prstGeom prst="rect">
            <a:avLst/>
          </a:prstGeom>
        </p:spPr>
      </p:pic>
    </p:spTree>
    <p:extLst>
      <p:ext uri="{BB962C8B-B14F-4D97-AF65-F5344CB8AC3E}">
        <p14:creationId xmlns:p14="http://schemas.microsoft.com/office/powerpoint/2010/main" val="26487590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A0A5F49C-4996-3F5E-FF44-9C494F93D2A4}"/>
            </a:ext>
          </a:extLst>
        </p:cNvPr>
        <p:cNvGrpSpPr/>
        <p:nvPr/>
      </p:nvGrpSpPr>
      <p:grpSpPr>
        <a:xfrm>
          <a:off x="0" y="0"/>
          <a:ext cx="0" cy="0"/>
          <a:chOff x="0" y="0"/>
          <a:chExt cx="0" cy="0"/>
        </a:xfrm>
      </p:grpSpPr>
      <p:sp>
        <p:nvSpPr>
          <p:cNvPr id="131" name="Google Shape;131;p17">
            <a:extLst>
              <a:ext uri="{FF2B5EF4-FFF2-40B4-BE49-F238E27FC236}">
                <a16:creationId xmlns:a16="http://schemas.microsoft.com/office/drawing/2014/main" id="{E697362A-F0C2-CC3E-BE81-41C30E0E518C}"/>
              </a:ext>
            </a:extLst>
          </p:cNvPr>
          <p:cNvSpPr txBox="1">
            <a:spLocks noGrp="1"/>
          </p:cNvSpPr>
          <p:nvPr>
            <p:ph type="title"/>
          </p:nvPr>
        </p:nvSpPr>
        <p:spPr>
          <a:xfrm>
            <a:off x="462115" y="322200"/>
            <a:ext cx="10373033" cy="508473"/>
          </a:xfrm>
          <a:prstGeom prst="rect">
            <a:avLst/>
          </a:prstGeom>
          <a:noFill/>
          <a:ln>
            <a:noFill/>
          </a:ln>
        </p:spPr>
        <p:txBody>
          <a:bodyPr spcFirstLastPara="1" wrap="square" lIns="0" tIns="15875" rIns="0" bIns="0" anchor="t" anchorCtr="0">
            <a:spAutoFit/>
          </a:bodyPr>
          <a:lstStyle/>
          <a:p>
            <a:pPr marL="12700" lvl="0" indent="0" algn="ctr" rtl="0">
              <a:spcBef>
                <a:spcPts val="0"/>
              </a:spcBef>
              <a:spcAft>
                <a:spcPts val="0"/>
              </a:spcAft>
              <a:buNone/>
            </a:pPr>
            <a:r>
              <a:rPr lang="en-US" dirty="0"/>
              <a:t>OVERALL ANALYSIS OF SYSTEM RESPONSE</a:t>
            </a:r>
            <a:endParaRPr dirty="0"/>
          </a:p>
        </p:txBody>
      </p:sp>
      <p:sp>
        <p:nvSpPr>
          <p:cNvPr id="132" name="Google Shape;132;p17">
            <a:extLst>
              <a:ext uri="{FF2B5EF4-FFF2-40B4-BE49-F238E27FC236}">
                <a16:creationId xmlns:a16="http://schemas.microsoft.com/office/drawing/2014/main" id="{25C454C2-C190-A8B6-3A8C-A7AD1EF201CE}"/>
              </a:ext>
            </a:extLst>
          </p:cNvPr>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27</a:t>
            </a:fld>
            <a:endParaRPr/>
          </a:p>
        </p:txBody>
      </p:sp>
      <p:graphicFrame>
        <p:nvGraphicFramePr>
          <p:cNvPr id="2" name="Table 1">
            <a:extLst>
              <a:ext uri="{FF2B5EF4-FFF2-40B4-BE49-F238E27FC236}">
                <a16:creationId xmlns:a16="http://schemas.microsoft.com/office/drawing/2014/main" id="{1A943259-9AFE-A9E3-A5B7-6A147FD4E685}"/>
              </a:ext>
            </a:extLst>
          </p:cNvPr>
          <p:cNvGraphicFramePr>
            <a:graphicFrameLocks noGrp="1"/>
          </p:cNvGraphicFramePr>
          <p:nvPr>
            <p:extLst>
              <p:ext uri="{D42A27DB-BD31-4B8C-83A1-F6EECF244321}">
                <p14:modId xmlns:p14="http://schemas.microsoft.com/office/powerpoint/2010/main" val="3653369420"/>
              </p:ext>
            </p:extLst>
          </p:nvPr>
        </p:nvGraphicFramePr>
        <p:xfrm>
          <a:off x="167146" y="1177321"/>
          <a:ext cx="11582403" cy="5011830"/>
        </p:xfrm>
        <a:graphic>
          <a:graphicData uri="http://schemas.openxmlformats.org/drawingml/2006/table">
            <a:tbl>
              <a:tblPr/>
              <a:tblGrid>
                <a:gridCol w="678428">
                  <a:extLst>
                    <a:ext uri="{9D8B030D-6E8A-4147-A177-3AD203B41FA5}">
                      <a16:colId xmlns:a16="http://schemas.microsoft.com/office/drawing/2014/main" val="712108507"/>
                    </a:ext>
                  </a:extLst>
                </a:gridCol>
                <a:gridCol w="2064772">
                  <a:extLst>
                    <a:ext uri="{9D8B030D-6E8A-4147-A177-3AD203B41FA5}">
                      <a16:colId xmlns:a16="http://schemas.microsoft.com/office/drawing/2014/main" val="2962551495"/>
                    </a:ext>
                  </a:extLst>
                </a:gridCol>
                <a:gridCol w="2064774">
                  <a:extLst>
                    <a:ext uri="{9D8B030D-6E8A-4147-A177-3AD203B41FA5}">
                      <a16:colId xmlns:a16="http://schemas.microsoft.com/office/drawing/2014/main" val="2568087334"/>
                    </a:ext>
                  </a:extLst>
                </a:gridCol>
                <a:gridCol w="1641987">
                  <a:extLst>
                    <a:ext uri="{9D8B030D-6E8A-4147-A177-3AD203B41FA5}">
                      <a16:colId xmlns:a16="http://schemas.microsoft.com/office/drawing/2014/main" val="1912049807"/>
                    </a:ext>
                  </a:extLst>
                </a:gridCol>
                <a:gridCol w="1514168">
                  <a:extLst>
                    <a:ext uri="{9D8B030D-6E8A-4147-A177-3AD203B41FA5}">
                      <a16:colId xmlns:a16="http://schemas.microsoft.com/office/drawing/2014/main" val="3781042044"/>
                    </a:ext>
                  </a:extLst>
                </a:gridCol>
                <a:gridCol w="1484671">
                  <a:extLst>
                    <a:ext uri="{9D8B030D-6E8A-4147-A177-3AD203B41FA5}">
                      <a16:colId xmlns:a16="http://schemas.microsoft.com/office/drawing/2014/main" val="1698311737"/>
                    </a:ext>
                  </a:extLst>
                </a:gridCol>
                <a:gridCol w="2133603">
                  <a:extLst>
                    <a:ext uri="{9D8B030D-6E8A-4147-A177-3AD203B41FA5}">
                      <a16:colId xmlns:a16="http://schemas.microsoft.com/office/drawing/2014/main" val="1555840904"/>
                    </a:ext>
                  </a:extLst>
                </a:gridCol>
              </a:tblGrid>
              <a:tr h="285666">
                <a:tc>
                  <a:txBody>
                    <a:bodyPr/>
                    <a:lstStyle/>
                    <a:p>
                      <a:pPr>
                        <a:buNone/>
                      </a:pPr>
                      <a:r>
                        <a:rPr lang="el-GR" sz="2000" dirty="0">
                          <a:latin typeface="Calibri" panose="020F0502020204030204" pitchFamily="34" charset="0"/>
                          <a:ea typeface="Calibri" panose="020F0502020204030204" pitchFamily="34" charset="0"/>
                          <a:cs typeface="Calibri" panose="020F0502020204030204" pitchFamily="34" charset="0"/>
                        </a:rPr>
                        <a:t>μ</a:t>
                      </a:r>
                      <a:endParaRPr lang="en-IN" sz="2000" dirty="0">
                        <a:latin typeface="Calibri" panose="020F0502020204030204" pitchFamily="34" charset="0"/>
                        <a:ea typeface="Calibri" panose="020F0502020204030204" pitchFamily="34" charset="0"/>
                        <a:cs typeface="Calibri" panose="020F0502020204030204" pitchFamily="34" charset="0"/>
                      </a:endParaRP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Behavior Type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Phase Plot Shape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Energy Mechanism</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Convergence Speed</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Oscillation Type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Key Characteristics</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936339"/>
                  </a:ext>
                </a:extLst>
              </a:tr>
              <a:tr h="535622">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0</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Linear</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Circular</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No energy change (conservative)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No convergence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Sinusoidal</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Simple harmonic motion, no limit cycle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5683291"/>
                  </a:ext>
                </a:extLst>
              </a:tr>
              <a:tr h="618941">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1</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Weak Nonlinear</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Smooth closed loop</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a:latin typeface="Calibri" panose="020F0502020204030204" pitchFamily="34" charset="0"/>
                          <a:ea typeface="Calibri" panose="020F0502020204030204" pitchFamily="34" charset="0"/>
                          <a:cs typeface="Calibri" panose="020F0502020204030204" pitchFamily="34" charset="0"/>
                        </a:rPr>
                        <a:t>Energy added (small x), removed (large x)</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Moderate</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Periodic</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Stable limit cycle forms, smooth oscillations</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9505279"/>
                  </a:ext>
                </a:extLst>
              </a:tr>
              <a:tr h="702260">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2</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Strong Nonlinear</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Elongated loop</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Stronger energy correction</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Faster</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latin typeface="Calibri" panose="020F0502020204030204" pitchFamily="34" charset="0"/>
                          <a:ea typeface="Calibri" panose="020F0502020204030204" pitchFamily="34" charset="0"/>
                          <a:cs typeface="Calibri" panose="020F0502020204030204" pitchFamily="34" charset="0"/>
                        </a:rPr>
                        <a:t>Distorted</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Non-sinusoidal oscillation, sharper transitions</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1900758"/>
                  </a:ext>
                </a:extLst>
              </a:tr>
              <a:tr h="785579">
                <a:tc>
                  <a:txBody>
                    <a:bodyPr/>
                    <a:lstStyle/>
                    <a:p>
                      <a:pPr>
                        <a:buNone/>
                      </a:pPr>
                      <a:r>
                        <a:rPr lang="en-US" sz="2000" dirty="0">
                          <a:latin typeface="Calibri" panose="020F0502020204030204" pitchFamily="34" charset="0"/>
                          <a:ea typeface="Calibri" panose="020F0502020204030204" pitchFamily="34" charset="0"/>
                          <a:cs typeface="Calibri" panose="020F0502020204030204" pitchFamily="34" charset="0"/>
                        </a:rPr>
                        <a:t>1</a:t>
                      </a:r>
                      <a:r>
                        <a:rPr lang="en-IN" sz="2000" dirty="0">
                          <a:latin typeface="Calibri" panose="020F0502020204030204" pitchFamily="34" charset="0"/>
                          <a:ea typeface="Calibri" panose="020F0502020204030204" pitchFamily="34" charset="0"/>
                          <a:cs typeface="Calibri" panose="020F0502020204030204" pitchFamily="34" charset="0"/>
                        </a:rPr>
                        <a:t>2</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Highly Nonlinear</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Rectangular-like loop</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Rapid energy addition &amp; dissipation</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Very fast</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latin typeface="Calibri" panose="020F0502020204030204" pitchFamily="34" charset="0"/>
                          <a:ea typeface="Calibri" panose="020F0502020204030204" pitchFamily="34" charset="0"/>
                          <a:cs typeface="Calibri" panose="020F0502020204030204" pitchFamily="34" charset="0"/>
                        </a:rPr>
                        <a:t>Relaxation oscillation</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2000" dirty="0">
                          <a:latin typeface="Calibri" panose="020F0502020204030204" pitchFamily="34" charset="0"/>
                          <a:ea typeface="Calibri" panose="020F0502020204030204" pitchFamily="34" charset="0"/>
                          <a:cs typeface="Calibri" panose="020F0502020204030204" pitchFamily="34" charset="0"/>
                        </a:rPr>
                        <a:t>Slow evolution + sudden jumps, strong nonlinear effects</a:t>
                      </a:r>
                    </a:p>
                  </a:txBody>
                  <a:tcPr marL="27007" marR="27007" marT="13503" marB="135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2031573"/>
                  </a:ext>
                </a:extLst>
              </a:tr>
            </a:tbl>
          </a:graphicData>
        </a:graphic>
      </p:graphicFrame>
    </p:spTree>
    <p:extLst>
      <p:ext uri="{BB962C8B-B14F-4D97-AF65-F5344CB8AC3E}">
        <p14:creationId xmlns:p14="http://schemas.microsoft.com/office/powerpoint/2010/main" val="3286087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7"/>
          <p:cNvSpPr txBox="1">
            <a:spLocks noGrp="1"/>
          </p:cNvSpPr>
          <p:nvPr>
            <p:ph type="sldNum" idx="12"/>
          </p:nvPr>
        </p:nvSpPr>
        <p:spPr>
          <a:xfrm>
            <a:off x="563562" y="6535799"/>
            <a:ext cx="273000" cy="270600"/>
          </a:xfrm>
          <a:prstGeom prst="rect">
            <a:avLst/>
          </a:prstGeom>
          <a:noFill/>
          <a:ln>
            <a:noFill/>
          </a:ln>
        </p:spPr>
        <p:txBody>
          <a:bodyPr spcFirstLastPara="1" wrap="square" lIns="0" tIns="6350" rIns="0" bIns="0" anchor="t" anchorCtr="0">
            <a:spAutoFit/>
          </a:bodyPr>
          <a:lstStyle/>
          <a:p>
            <a:pPr marL="12700" lvl="0" indent="0" algn="l" rtl="0">
              <a:lnSpc>
                <a:spcPct val="100000"/>
              </a:lnSpc>
              <a:spcBef>
                <a:spcPts val="0"/>
              </a:spcBef>
              <a:spcAft>
                <a:spcPts val="0"/>
              </a:spcAft>
              <a:buNone/>
            </a:pPr>
            <a:fld id="{00000000-1234-1234-1234-123412341234}" type="slidenum">
              <a:rPr lang="en-US"/>
              <a:t>28</a:t>
            </a:fld>
            <a:endParaRPr/>
          </a:p>
        </p:txBody>
      </p:sp>
      <p:sp>
        <p:nvSpPr>
          <p:cNvPr id="275" name="Google Shape;275;p37"/>
          <p:cNvSpPr txBox="1"/>
          <p:nvPr/>
        </p:nvSpPr>
        <p:spPr>
          <a:xfrm>
            <a:off x="2427341" y="2383270"/>
            <a:ext cx="8265300" cy="156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600">
                <a:solidFill>
                  <a:srgbClr val="A3123E"/>
                </a:solidFill>
                <a:latin typeface="Times New Roman"/>
                <a:ea typeface="Times New Roman"/>
                <a:cs typeface="Times New Roman"/>
                <a:sym typeface="Times New Roman"/>
              </a:rPr>
              <a:t>THANK YOU  </a:t>
            </a:r>
            <a:endParaRPr sz="9600">
              <a:solidFill>
                <a:srgbClr val="A3123E"/>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4140</TotalTime>
  <Words>3438</Words>
  <Application>Microsoft Office PowerPoint</Application>
  <PresentationFormat>Widescreen</PresentationFormat>
  <Paragraphs>820</Paragraphs>
  <Slides>28</Slides>
  <Notes>28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Cambria Math</vt:lpstr>
      <vt:lpstr>Play</vt:lpstr>
      <vt:lpstr>Times New Roman</vt:lpstr>
      <vt:lpstr>Office Theme</vt:lpstr>
      <vt:lpstr>Office Theme</vt:lpstr>
      <vt:lpstr>23AID311- Analog Computing</vt:lpstr>
      <vt:lpstr>INTRODUCTION</vt:lpstr>
      <vt:lpstr>BACKGROUND</vt:lpstr>
      <vt:lpstr>MODIFIED CIRCUIT</vt:lpstr>
      <vt:lpstr>MODIFIED CIRCUIT</vt:lpstr>
      <vt:lpstr>VAN DER POL EQUATION</vt:lpstr>
      <vt:lpstr>VAN DER POL EQUATION</vt:lpstr>
      <vt:lpstr>SCALING VAN DER POL EQUATION</vt:lpstr>
      <vt:lpstr>ANALOG SETUP</vt:lpstr>
      <vt:lpstr>SYSTEM RESPONSE</vt:lpstr>
      <vt:lpstr>DATASET GENERATION</vt:lpstr>
      <vt:lpstr>DATASET GENERATION</vt:lpstr>
      <vt:lpstr>DATASET GENERATION</vt:lpstr>
      <vt:lpstr>DATASET GENERATION</vt:lpstr>
      <vt:lpstr>FEATURE EXTRACTION</vt:lpstr>
      <vt:lpstr>FEATURE EXTRACTION</vt:lpstr>
      <vt:lpstr>FEATURE EXTRACTION</vt:lpstr>
      <vt:lpstr>Avoiding Data Leakage Using µ-Based Splitting </vt:lpstr>
      <vt:lpstr>DATASET DISTRIBUTION AND BALANCING </vt:lpstr>
      <vt:lpstr>MACHINE LEARNING MODELS AND EVALUATION METRICS</vt:lpstr>
      <vt:lpstr>MACHINE LEARNING PERFORMANCE ANALYSIS</vt:lpstr>
      <vt:lpstr>MACHINE LEARNING PERFORMANCE ANALYSIS</vt:lpstr>
      <vt:lpstr>SYSTEM RESPONSE</vt:lpstr>
      <vt:lpstr>SYSTEM RESPONSE</vt:lpstr>
      <vt:lpstr> SYSTEM RESPONSE</vt:lpstr>
      <vt:lpstr>SYSTEM RESPONSE</vt:lpstr>
      <vt:lpstr>OVERALL ANALYSIS OF SYSTEM RESPONSE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V SIDHARRTH-[BL.EN.U4AID23054]</cp:lastModifiedBy>
  <cp:revision>32</cp:revision>
  <dcterms:modified xsi:type="dcterms:W3CDTF">2026-05-13T03:05:24Z</dcterms:modified>
</cp:coreProperties>
</file>